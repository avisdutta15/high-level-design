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3" r:id="rId9"/>
    <p:sldId id="269" r:id="rId10"/>
    <p:sldId id="271" r:id="rId11"/>
    <p:sldId id="265" r:id="rId12"/>
    <p:sldId id="264" r:id="rId13"/>
    <p:sldId id="266" r:id="rId14"/>
    <p:sldId id="276" r:id="rId15"/>
    <p:sldId id="278" r:id="rId16"/>
    <p:sldId id="270" r:id="rId17"/>
    <p:sldId id="272" r:id="rId18"/>
    <p:sldId id="274" r:id="rId19"/>
    <p:sldId id="273"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Design Instagram</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Contents</a:t>
            </a:r>
            <a:endParaRPr lang="en-IN" altLang="en-US" b="1"/>
          </a:p>
        </p:txBody>
      </p:sp>
      <p:sp>
        <p:nvSpPr>
          <p:cNvPr id="3" name="Content Placeholder 2"/>
          <p:cNvSpPr>
            <a:spLocks noGrp="1"/>
          </p:cNvSpPr>
          <p:nvPr>
            <p:ph idx="1"/>
          </p:nvPr>
        </p:nvSpPr>
        <p:spPr/>
        <p:txBody>
          <a:bodyPr>
            <a:normAutofit/>
          </a:bodyPr>
          <a:p>
            <a:pPr marL="0" indent="0">
              <a:buNone/>
            </a:pPr>
            <a:r>
              <a:rPr lang="en-US"/>
              <a:t>1. Requirement Gathering</a:t>
            </a:r>
            <a:endParaRPr lang="en-US"/>
          </a:p>
          <a:p>
            <a:pPr marL="0" indent="0">
              <a:buNone/>
            </a:pPr>
            <a:r>
              <a:rPr lang="en-US"/>
              <a:t>2. Capacity Estimation</a:t>
            </a:r>
            <a:endParaRPr lang="en-US"/>
          </a:p>
          <a:p>
            <a:pPr marL="0" indent="0">
              <a:buNone/>
            </a:pPr>
            <a:r>
              <a:rPr lang="en-US"/>
              <a:t>3. High-Level Design</a:t>
            </a:r>
            <a:endParaRPr lang="en-US"/>
          </a:p>
          <a:p>
            <a:pPr marL="0" indent="0">
              <a:buNone/>
            </a:pPr>
            <a:r>
              <a:rPr lang="en-US"/>
              <a:t>4. Database Design</a:t>
            </a:r>
            <a:endParaRPr lang="en-US"/>
          </a:p>
          <a:p>
            <a:pPr marL="0" indent="0">
              <a:buNone/>
            </a:pPr>
            <a:r>
              <a:rPr lang="en-US"/>
              <a:t>5. Deep Dive into Key Components</a:t>
            </a:r>
            <a:endParaRPr lang="en-US"/>
          </a:p>
          <a:p>
            <a:pPr marL="0" indent="0">
              <a:buNone/>
            </a:pPr>
            <a:r>
              <a:rPr lang="en-US"/>
              <a:t>6. Address Key Issues and Bottlenecks</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b="1">
                <a:sym typeface="+mn-ea"/>
              </a:rPr>
              <a:t>1. Requirement Gathering</a:t>
            </a:r>
            <a:endParaRPr lang="en-US" b="1"/>
          </a:p>
        </p:txBody>
      </p:sp>
      <p:sp>
        <p:nvSpPr>
          <p:cNvPr id="3" name="Content Placeholder 2"/>
          <p:cNvSpPr>
            <a:spLocks noGrp="1"/>
          </p:cNvSpPr>
          <p:nvPr>
            <p:ph idx="1"/>
          </p:nvPr>
        </p:nvSpPr>
        <p:spPr/>
        <p:txBody>
          <a:bodyPr/>
          <a:p>
            <a:r>
              <a:rPr lang="en-IN" altLang="en-US"/>
              <a:t>Functional Requirements</a:t>
            </a:r>
            <a:endParaRPr lang="en-IN" altLang="en-US"/>
          </a:p>
          <a:p>
            <a:pPr lvl="1"/>
            <a:r>
              <a:rPr lang="en-IN" altLang="en-US"/>
              <a:t>Publish Posts</a:t>
            </a:r>
            <a:endParaRPr lang="en-IN" altLang="en-US"/>
          </a:p>
          <a:p>
            <a:pPr lvl="1"/>
            <a:r>
              <a:rPr lang="en-IN" altLang="en-US"/>
              <a:t>A user can have followers as well as follow others</a:t>
            </a:r>
            <a:endParaRPr lang="en-IN" altLang="en-US"/>
          </a:p>
          <a:p>
            <a:pPr lvl="1"/>
            <a:r>
              <a:rPr lang="en-IN" altLang="en-US"/>
              <a:t>Have a news feed - posts are sorted in reverse chronological order.</a:t>
            </a:r>
            <a:endParaRPr lang="en-IN" altLang="en-US"/>
          </a:p>
          <a:p>
            <a:pPr lvl="1"/>
            <a:r>
              <a:rPr lang="en-IN" altLang="en-US"/>
              <a:t>Comments, Likes on posts</a:t>
            </a:r>
            <a:endParaRPr lang="en-IN" altLang="en-US"/>
          </a:p>
          <a:p>
            <a:pPr lvl="1"/>
            <a:r>
              <a:rPr lang="en-IN" altLang="en-US" u="sng">
                <a:solidFill>
                  <a:srgbClr val="FF0000"/>
                </a:solidFill>
              </a:rPr>
              <a:t>Users can perform searches based on photo/video titles.</a:t>
            </a:r>
            <a:endParaRPr lang="en-IN" altLang="en-US"/>
          </a:p>
          <a:p>
            <a:pPr lvl="1"/>
            <a:r>
              <a:rPr lang="en-IN" altLang="en-US"/>
              <a:t>Number of followers - max 5000</a:t>
            </a:r>
            <a:endParaRPr lang="en-IN" altLang="en-US"/>
          </a:p>
          <a:p>
            <a:pPr lvl="1"/>
            <a:r>
              <a:rPr lang="en-IN" altLang="en-US"/>
              <a:t>Traffic - 10 million users DAU</a:t>
            </a:r>
            <a:endParaRPr lang="en-IN" altLang="en-US"/>
          </a:p>
          <a:p>
            <a:pPr lvl="1"/>
            <a:r>
              <a:rPr lang="en-IN" altLang="en-US"/>
              <a:t>Feed contains images, texts and videos.</a:t>
            </a:r>
            <a:endParaRPr lang="en-IN" altLang="en-US"/>
          </a:p>
          <a:p>
            <a:pPr lvl="1"/>
            <a:endParaRPr lang="en-I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IN" altLang="en-US"/>
              <a:t>Non functional requirements</a:t>
            </a:r>
            <a:endParaRPr lang="en-IN" altLang="en-US"/>
          </a:p>
          <a:p>
            <a:pPr lvl="1"/>
            <a:r>
              <a:rPr lang="en-IN" altLang="en-US"/>
              <a:t>Our service needs to be highly available.</a:t>
            </a:r>
            <a:endParaRPr lang="en-IN" altLang="en-US"/>
          </a:p>
          <a:p>
            <a:pPr lvl="1"/>
            <a:r>
              <a:rPr lang="en-IN" altLang="en-US"/>
              <a:t>The acceptable latency of the system is 200ms for News Feed generation.</a:t>
            </a:r>
            <a:endParaRPr lang="en-IN" altLang="en-US"/>
          </a:p>
          <a:p>
            <a:pPr lvl="1"/>
            <a:r>
              <a:rPr lang="en-IN" altLang="en-US"/>
              <a:t>Consistency can take a hit (in the interest of availability), if a user doesn’t see a photo for a while; it should be fine.</a:t>
            </a:r>
            <a:endParaRPr lang="en-IN" altLang="en-US"/>
          </a:p>
          <a:p>
            <a:pPr lvl="1"/>
            <a:r>
              <a:rPr lang="en-IN" altLang="en-US"/>
              <a:t>The system should be highly reliable; any uploaded photo or video should never be lost.</a:t>
            </a:r>
            <a:endParaRPr lang="en-I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ym typeface="+mn-ea"/>
              </a:rPr>
              <a:t>2. </a:t>
            </a:r>
            <a:r>
              <a:rPr lang="en-US" b="1">
                <a:sym typeface="+mn-ea"/>
              </a:rPr>
              <a:t>Capacity Estimation</a:t>
            </a:r>
            <a:endParaRPr lang="en-US" b="1"/>
          </a:p>
        </p:txBody>
      </p:sp>
      <p:sp>
        <p:nvSpPr>
          <p:cNvPr id="3" name="Content Placeholder 2"/>
          <p:cNvSpPr>
            <a:spLocks noGrp="1"/>
          </p:cNvSpPr>
          <p:nvPr>
            <p:ph idx="1"/>
          </p:nvPr>
        </p:nvSpPr>
        <p:spPr/>
        <p:txBody>
          <a:bodyPr/>
          <a:p>
            <a:r>
              <a:rPr lang="en-US" sz="2000"/>
              <a:t>Let’s assume we have 500 </a:t>
            </a:r>
            <a:r>
              <a:rPr lang="en-US" sz="2000">
                <a:sym typeface="+mn-ea"/>
              </a:rPr>
              <a:t>M</a:t>
            </a:r>
            <a:r>
              <a:rPr lang="en-IN" altLang="en-US" sz="2000">
                <a:sym typeface="+mn-ea"/>
              </a:rPr>
              <a:t>illion</a:t>
            </a:r>
            <a:r>
              <a:rPr lang="en-US" sz="2000"/>
              <a:t> total users, with 1</a:t>
            </a:r>
            <a:r>
              <a:rPr lang="en-IN" altLang="en-US" sz="2000"/>
              <a:t>0 </a:t>
            </a:r>
            <a:r>
              <a:rPr lang="en-US" sz="2000">
                <a:sym typeface="+mn-ea"/>
              </a:rPr>
              <a:t>M</a:t>
            </a:r>
            <a:r>
              <a:rPr lang="en-IN" altLang="en-US" sz="2000">
                <a:sym typeface="+mn-ea"/>
              </a:rPr>
              <a:t>illion</a:t>
            </a:r>
            <a:r>
              <a:rPr lang="en-US" sz="2000"/>
              <a:t> </a:t>
            </a:r>
            <a:r>
              <a:rPr lang="en-IN" altLang="en-US" sz="2000"/>
              <a:t>DAU</a:t>
            </a:r>
            <a:r>
              <a:rPr lang="en-US" sz="2000"/>
              <a:t>.</a:t>
            </a:r>
            <a:endParaRPr lang="en-US" sz="2000"/>
          </a:p>
          <a:p>
            <a:r>
              <a:rPr lang="en-IN" altLang="en-US" sz="2000"/>
              <a:t>Each user uploads atleast 2 photos daily. </a:t>
            </a:r>
            <a:endParaRPr lang="en-IN" altLang="en-US" sz="2000"/>
          </a:p>
          <a:p>
            <a:pPr lvl="1"/>
            <a:r>
              <a:rPr lang="en-IN" altLang="en-US" sz="2000"/>
              <a:t>Total photos in a day = 20 Million</a:t>
            </a:r>
            <a:endParaRPr lang="en-IN" altLang="en-US" sz="2000"/>
          </a:p>
          <a:p>
            <a:pPr lvl="0"/>
            <a:r>
              <a:rPr lang="en-IN" altLang="en-US" sz="2000"/>
              <a:t>Average photo/video file size =&gt; 1Mb</a:t>
            </a:r>
            <a:endParaRPr lang="en-IN" altLang="en-US" sz="2000"/>
          </a:p>
          <a:p>
            <a:pPr lvl="0"/>
            <a:r>
              <a:rPr lang="en-IN" altLang="en-US" sz="2000"/>
              <a:t>Total size required in one day  = 20M * 1Mb </a:t>
            </a:r>
            <a:endParaRPr lang="en-IN" altLang="en-US" sz="2000"/>
          </a:p>
          <a:p>
            <a:pPr marL="0" lvl="0" indent="0">
              <a:buNone/>
            </a:pPr>
            <a:r>
              <a:rPr lang="en-IN" altLang="en-US" sz="2000"/>
              <a:t>			          = 20 * 10^6 * 1Mb </a:t>
            </a:r>
            <a:endParaRPr lang="en-IN" altLang="en-US" sz="2000"/>
          </a:p>
          <a:p>
            <a:pPr marL="0" lvl="0" indent="0">
              <a:buNone/>
            </a:pPr>
            <a:r>
              <a:rPr lang="en-IN" altLang="en-US" sz="2000"/>
              <a:t>			          = 20 * 1000 * 1000 * 1Mb</a:t>
            </a:r>
            <a:endParaRPr lang="en-IN" altLang="en-US" sz="2000"/>
          </a:p>
          <a:p>
            <a:pPr marL="0" lvl="0" indent="0">
              <a:buNone/>
            </a:pPr>
            <a:r>
              <a:rPr lang="en-IN" altLang="en-US" sz="2000"/>
              <a:t>			          =  20 Tb</a:t>
            </a:r>
            <a:endParaRPr lang="en-IN" altLang="en-US" sz="2000"/>
          </a:p>
          <a:p>
            <a:pPr lvl="0"/>
            <a:r>
              <a:rPr lang="en-IN" altLang="en-US" sz="2000"/>
              <a:t>Total Space required for 10 years = 20Tb * 365days * 10 = 8000Tb = 1Pb(approx) </a:t>
            </a:r>
            <a:endParaRPr lang="en-I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ym typeface="+mn-ea"/>
              </a:rPr>
              <a:t>3. </a:t>
            </a:r>
            <a:r>
              <a:rPr lang="en-US" b="1">
                <a:sym typeface="+mn-ea"/>
              </a:rPr>
              <a:t>High-Level Design</a:t>
            </a:r>
            <a:endParaRPr lang="en-US" b="1"/>
          </a:p>
        </p:txBody>
      </p:sp>
      <p:sp>
        <p:nvSpPr>
          <p:cNvPr id="3" name="Content Placeholder 2"/>
          <p:cNvSpPr>
            <a:spLocks noGrp="1"/>
          </p:cNvSpPr>
          <p:nvPr>
            <p:ph idx="1"/>
          </p:nvPr>
        </p:nvSpPr>
        <p:spPr>
          <a:xfrm>
            <a:off x="838200" y="1825625"/>
            <a:ext cx="10515600" cy="4801235"/>
          </a:xfrm>
        </p:spPr>
        <p:txBody>
          <a:bodyPr>
            <a:normAutofit fontScale="80000"/>
          </a:bodyPr>
          <a:p>
            <a:pPr marL="0" indent="0">
              <a:buNone/>
            </a:pPr>
            <a:r>
              <a:rPr lang="en-IN" altLang="en-US" sz="2000"/>
              <a:t>On high level we need 2 major service :-</a:t>
            </a:r>
            <a:endParaRPr lang="en-IN" altLang="en-US" sz="2000"/>
          </a:p>
          <a:p>
            <a:pPr lvl="1"/>
            <a:r>
              <a:rPr lang="en-IN" altLang="en-US" sz="2000"/>
              <a:t>Uploading photo as post</a:t>
            </a:r>
            <a:endParaRPr lang="en-IN" altLang="en-US" sz="2000"/>
          </a:p>
          <a:p>
            <a:pPr lvl="1"/>
            <a:r>
              <a:rPr lang="en-IN" altLang="en-US" sz="2000"/>
              <a:t>Searching posts aka news feed generation.</a:t>
            </a:r>
            <a:endParaRPr lang="en-IN" altLang="en-US" sz="2000"/>
          </a:p>
          <a:p>
            <a:pPr lvl="1"/>
            <a:endParaRPr lang="en-IN" altLang="en-US" sz="2000"/>
          </a:p>
          <a:p>
            <a:pPr marL="0" lvl="0" indent="0">
              <a:buNone/>
            </a:pPr>
            <a:r>
              <a:rPr lang="en-IN" altLang="en-US" sz="2000" b="1"/>
              <a:t>Newsfeed APIs </a:t>
            </a:r>
            <a:endParaRPr lang="en-IN" altLang="en-US" sz="2000"/>
          </a:p>
          <a:p>
            <a:pPr lvl="0"/>
            <a:r>
              <a:rPr lang="en-IN" altLang="en-US" sz="2000"/>
              <a:t>The news feed APIs are the primary ways for clients to communicate with servers.</a:t>
            </a:r>
            <a:endParaRPr lang="en-IN" altLang="en-US" sz="2000"/>
          </a:p>
          <a:p>
            <a:pPr lvl="0"/>
            <a:r>
              <a:rPr lang="en-IN" altLang="en-US" sz="2000" u="sng"/>
              <a:t>Feed publishing API </a:t>
            </a:r>
            <a:endParaRPr lang="en-IN" altLang="en-US" sz="2000" u="sng"/>
          </a:p>
          <a:p>
            <a:pPr marL="0" lvl="0" indent="0">
              <a:buNone/>
            </a:pPr>
            <a:r>
              <a:rPr lang="en-IN" altLang="en-US" sz="2000"/>
              <a:t>	POST /v1/me/feed </a:t>
            </a:r>
            <a:endParaRPr lang="en-IN" altLang="en-US" sz="2000"/>
          </a:p>
          <a:p>
            <a:pPr marL="0" lvl="0" indent="0">
              <a:buNone/>
            </a:pPr>
            <a:r>
              <a:rPr lang="en-IN" altLang="en-US" sz="2000"/>
              <a:t>	Params: </a:t>
            </a:r>
            <a:endParaRPr lang="en-IN" altLang="en-US" sz="2000"/>
          </a:p>
          <a:p>
            <a:pPr marL="0" lvl="0" indent="0">
              <a:buNone/>
            </a:pPr>
            <a:r>
              <a:rPr lang="en-IN" altLang="en-US" sz="2000"/>
              <a:t>		• content: content is the text of the post. </a:t>
            </a:r>
            <a:endParaRPr lang="en-IN" altLang="en-US" sz="2000"/>
          </a:p>
          <a:p>
            <a:pPr marL="0" lvl="0" indent="0">
              <a:buNone/>
            </a:pPr>
            <a:r>
              <a:rPr lang="en-IN" altLang="en-US" sz="2000"/>
              <a:t>		• auth_token: it is used to authenticate API requests. </a:t>
            </a:r>
            <a:endParaRPr lang="en-IN" altLang="en-US" sz="2000"/>
          </a:p>
          <a:p>
            <a:pPr lvl="0"/>
            <a:r>
              <a:rPr lang="en-IN" altLang="en-US" sz="2000" u="sng"/>
              <a:t>Newsfeed retrieval API</a:t>
            </a:r>
            <a:endParaRPr lang="en-IN" altLang="en-US" sz="2000"/>
          </a:p>
          <a:p>
            <a:pPr marL="914400" lvl="2" indent="0">
              <a:buNone/>
            </a:pPr>
            <a:r>
              <a:rPr lang="en-IN" altLang="en-US" sz="2000"/>
              <a:t>GET /v1/me/feed </a:t>
            </a:r>
            <a:endParaRPr lang="en-IN" altLang="en-US" sz="2000"/>
          </a:p>
          <a:p>
            <a:pPr marL="914400" lvl="2" indent="0">
              <a:buNone/>
            </a:pPr>
            <a:r>
              <a:rPr lang="en-IN" altLang="en-US" sz="2000"/>
              <a:t>Params: </a:t>
            </a:r>
            <a:endParaRPr lang="en-IN" altLang="en-US" sz="2000"/>
          </a:p>
          <a:p>
            <a:pPr marL="914400" lvl="2" indent="0">
              <a:buNone/>
            </a:pPr>
            <a:r>
              <a:rPr lang="en-IN" altLang="en-US" sz="2000"/>
              <a:t>	• auth_token: it is used to authenticate API requests.</a:t>
            </a:r>
            <a:endParaRPr lang="en-IN" altLang="en-US" sz="2000"/>
          </a:p>
          <a:p>
            <a:pPr lvl="0"/>
            <a:endParaRPr lang="en-IN" altLang="en-US" sz="2000"/>
          </a:p>
          <a:p>
            <a:pPr marL="0" lvl="0" indent="0">
              <a:buNone/>
            </a:pPr>
            <a:endParaRPr lang="en-IN"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7726680" y="226695"/>
            <a:ext cx="4349115" cy="6403975"/>
          </a:xfrm>
          <a:prstGeom prst="rect">
            <a:avLst/>
          </a:prstGeom>
        </p:spPr>
      </p:pic>
      <p:sp>
        <p:nvSpPr>
          <p:cNvPr id="6" name="Text Box 5"/>
          <p:cNvSpPr txBox="1"/>
          <p:nvPr/>
        </p:nvSpPr>
        <p:spPr>
          <a:xfrm>
            <a:off x="631825" y="432435"/>
            <a:ext cx="7212965" cy="5908040"/>
          </a:xfrm>
          <a:prstGeom prst="rect">
            <a:avLst/>
          </a:prstGeom>
          <a:noFill/>
        </p:spPr>
        <p:txBody>
          <a:bodyPr wrap="square" rtlCol="0">
            <a:spAutoFit/>
          </a:bodyPr>
          <a:p>
            <a:r>
              <a:rPr lang="en-IN" altLang="en-US" sz="2000" b="1"/>
              <a:t>Feed Publishing:</a:t>
            </a:r>
            <a:endParaRPr lang="en-IN" altLang="en-US" sz="2000" b="1"/>
          </a:p>
          <a:p>
            <a:endParaRPr lang="en-IN" altLang="en-US" sz="2000" b="1"/>
          </a:p>
          <a:p>
            <a:pPr marL="342900" indent="-342900">
              <a:buFont typeface="Arial" panose="020B0604020202020204" pitchFamily="34" charset="0"/>
              <a:buChar char="•"/>
            </a:pPr>
            <a:r>
              <a:rPr lang="en-IN" altLang="en-US" sz="2000"/>
              <a:t>User: a user can view news feeds on a browser or mobile app. </a:t>
            </a:r>
            <a:endParaRPr lang="en-IN" altLang="en-US" sz="2000"/>
          </a:p>
          <a:p>
            <a:pPr indent="0">
              <a:buFont typeface="Arial" panose="020B0604020202020204" pitchFamily="34" charset="0"/>
              <a:buNone/>
            </a:pPr>
            <a:endParaRPr lang="en-IN" altLang="en-US" sz="2000"/>
          </a:p>
          <a:p>
            <a:pPr marL="342900" indent="-342900">
              <a:buFont typeface="Arial" panose="020B0604020202020204" pitchFamily="34" charset="0"/>
              <a:buChar char="•"/>
            </a:pPr>
            <a:r>
              <a:rPr lang="en-IN" altLang="en-US" sz="2000"/>
              <a:t>A user makes a post with content “Hello” through API: </a:t>
            </a:r>
            <a:r>
              <a:rPr lang="en-IN" altLang="en-US">
                <a:latin typeface="Consolas" panose="020B0609020204030204" charset="0"/>
                <a:cs typeface="Consolas" panose="020B0609020204030204" charset="0"/>
              </a:rPr>
              <a:t>/v1/me/feed?content=Hello&amp;auth_token={auth_token}</a:t>
            </a:r>
            <a:endParaRPr lang="en-IN" altLang="en-US">
              <a:latin typeface="Consolas" panose="020B0609020204030204" charset="0"/>
              <a:cs typeface="Consolas" panose="020B0609020204030204" charset="0"/>
            </a:endParaRPr>
          </a:p>
          <a:p>
            <a:pPr indent="0">
              <a:buFont typeface="Arial" panose="020B0604020202020204" pitchFamily="34" charset="0"/>
              <a:buNone/>
            </a:pPr>
            <a:endParaRPr lang="en-IN" altLang="en-US" sz="2000"/>
          </a:p>
          <a:p>
            <a:pPr marL="342900" indent="-342900">
              <a:buFont typeface="Arial" panose="020B0604020202020204" pitchFamily="34" charset="0"/>
              <a:buChar char="•"/>
            </a:pPr>
            <a:r>
              <a:rPr lang="en-IN" altLang="en-US" sz="2000"/>
              <a:t>Load balancer: distribute traffic to web servers.</a:t>
            </a:r>
            <a:endParaRPr lang="en-IN" altLang="en-US" sz="2000"/>
          </a:p>
          <a:p>
            <a:pPr indent="0">
              <a:buFont typeface="Arial" panose="020B0604020202020204" pitchFamily="34" charset="0"/>
              <a:buNone/>
            </a:pPr>
            <a:endParaRPr lang="en-IN" altLang="en-US" sz="2000"/>
          </a:p>
          <a:p>
            <a:pPr marL="342900" indent="-342900">
              <a:buFont typeface="Arial" panose="020B0604020202020204" pitchFamily="34" charset="0"/>
              <a:buChar char="•"/>
            </a:pPr>
            <a:r>
              <a:rPr lang="en-IN" altLang="en-US" sz="2000"/>
              <a:t>Web servers: web servers redirect traffic to different internal services.</a:t>
            </a:r>
            <a:endParaRPr lang="en-IN" altLang="en-US" sz="2000"/>
          </a:p>
          <a:p>
            <a:pPr indent="0">
              <a:buFont typeface="Arial" panose="020B0604020202020204" pitchFamily="34" charset="0"/>
              <a:buNone/>
            </a:pPr>
            <a:endParaRPr lang="en-IN" altLang="en-US" sz="2000"/>
          </a:p>
          <a:p>
            <a:pPr marL="342900" indent="-342900">
              <a:buFont typeface="Arial" panose="020B0604020202020204" pitchFamily="34" charset="0"/>
              <a:buChar char="•"/>
            </a:pPr>
            <a:r>
              <a:rPr lang="en-IN" altLang="en-US" sz="2000"/>
              <a:t>Post service: persist post in the database and cache.</a:t>
            </a:r>
            <a:endParaRPr lang="en-IN" altLang="en-US" sz="2000"/>
          </a:p>
          <a:p>
            <a:pPr marL="342900" indent="-342900">
              <a:buFont typeface="Arial" panose="020B0604020202020204" pitchFamily="34" charset="0"/>
              <a:buChar char="•"/>
            </a:pPr>
            <a:endParaRPr lang="en-IN" altLang="en-US" sz="2000"/>
          </a:p>
          <a:p>
            <a:pPr marL="342900" indent="-342900">
              <a:buFont typeface="Arial" panose="020B0604020202020204" pitchFamily="34" charset="0"/>
              <a:buChar char="•"/>
            </a:pPr>
            <a:r>
              <a:rPr lang="en-IN" altLang="en-US" sz="2000"/>
              <a:t>Fanout service: push new content to friends’ news feed. Newsfeed data is stored in the cache for fast retrieval.</a:t>
            </a:r>
            <a:endParaRPr lang="en-IN" altLang="en-US" sz="2000"/>
          </a:p>
          <a:p>
            <a:pPr marL="342900" indent="-342900">
              <a:buFont typeface="Arial" panose="020B0604020202020204" pitchFamily="34" charset="0"/>
              <a:buChar char="•"/>
            </a:pPr>
            <a:endParaRPr lang="en-IN" altLang="en-US" sz="2000"/>
          </a:p>
          <a:p>
            <a:pPr marL="342900" indent="-342900">
              <a:buFont typeface="Arial" panose="020B0604020202020204" pitchFamily="34" charset="0"/>
              <a:buChar char="•"/>
            </a:pPr>
            <a:r>
              <a:rPr lang="en-IN" altLang="en-US" sz="2000"/>
              <a:t>Notification service: inform friends that new content is available and send out push notifications.</a:t>
            </a:r>
            <a:endParaRPr lang="en-IN"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631825" y="432435"/>
            <a:ext cx="6650990" cy="5015865"/>
          </a:xfrm>
          <a:prstGeom prst="rect">
            <a:avLst/>
          </a:prstGeom>
          <a:noFill/>
        </p:spPr>
        <p:txBody>
          <a:bodyPr wrap="square" rtlCol="0">
            <a:spAutoFit/>
          </a:bodyPr>
          <a:p>
            <a:r>
              <a:rPr lang="en-IN" altLang="en-US" sz="2000" b="1"/>
              <a:t>News Feed Building:</a:t>
            </a:r>
            <a:endParaRPr lang="en-IN" altLang="en-US" sz="2000" b="1"/>
          </a:p>
          <a:p>
            <a:endParaRPr lang="en-IN" altLang="en-US" sz="2000" b="1"/>
          </a:p>
          <a:p>
            <a:pPr marL="342900" indent="-342900">
              <a:buFont typeface="Arial" panose="020B0604020202020204" pitchFamily="34" charset="0"/>
              <a:buChar char="•"/>
            </a:pPr>
            <a:r>
              <a:rPr lang="en-IN" altLang="en-US" sz="2000"/>
              <a:t>User: a user sends a request to retrieve her news feed. </a:t>
            </a:r>
            <a:endParaRPr lang="en-IN" altLang="en-US" sz="2000"/>
          </a:p>
          <a:p>
            <a:pPr indent="0">
              <a:buFont typeface="Arial" panose="020B0604020202020204" pitchFamily="34" charset="0"/>
              <a:buNone/>
            </a:pPr>
            <a:r>
              <a:rPr lang="en-IN" altLang="en-US" sz="2000"/>
              <a:t>      GET: / v1/me/feed. </a:t>
            </a:r>
            <a:endParaRPr lang="en-IN" altLang="en-US" sz="2000"/>
          </a:p>
          <a:p>
            <a:pPr indent="0">
              <a:buFont typeface="Arial" panose="020B0604020202020204" pitchFamily="34" charset="0"/>
              <a:buNone/>
            </a:pPr>
            <a:endParaRPr lang="en-IN" altLang="en-US" sz="2000"/>
          </a:p>
          <a:p>
            <a:pPr marL="342900" indent="-342900">
              <a:buFont typeface="Arial" panose="020B0604020202020204" pitchFamily="34" charset="0"/>
              <a:buChar char="•"/>
            </a:pPr>
            <a:r>
              <a:rPr lang="en-IN" altLang="en-US" sz="2000"/>
              <a:t>Load balancer: load balancer redirects traffic to web servers.</a:t>
            </a:r>
            <a:endParaRPr lang="en-IN" altLang="en-US" sz="2000"/>
          </a:p>
          <a:p>
            <a:pPr marL="342900" indent="-342900">
              <a:buFont typeface="Arial" panose="020B0604020202020204" pitchFamily="34" charset="0"/>
              <a:buChar char="•"/>
            </a:pPr>
            <a:endParaRPr lang="en-IN" altLang="en-US" sz="2000"/>
          </a:p>
          <a:p>
            <a:pPr marL="342900" indent="-342900">
              <a:buFont typeface="Arial" panose="020B0604020202020204" pitchFamily="34" charset="0"/>
              <a:buChar char="•"/>
            </a:pPr>
            <a:r>
              <a:rPr lang="en-IN" altLang="en-US" sz="2000"/>
              <a:t>Web servers: web servers route requests to newsfeed service.</a:t>
            </a:r>
            <a:endParaRPr lang="en-IN" altLang="en-US" sz="2000"/>
          </a:p>
          <a:p>
            <a:pPr marL="342900" indent="-342900">
              <a:buFont typeface="Arial" panose="020B0604020202020204" pitchFamily="34" charset="0"/>
              <a:buChar char="•"/>
            </a:pPr>
            <a:endParaRPr lang="en-IN" altLang="en-US" sz="2000"/>
          </a:p>
          <a:p>
            <a:pPr marL="342900" indent="-342900">
              <a:buFont typeface="Arial" panose="020B0604020202020204" pitchFamily="34" charset="0"/>
              <a:buChar char="•"/>
            </a:pPr>
            <a:r>
              <a:rPr lang="en-IN" altLang="en-US" sz="2000"/>
              <a:t>Newsfeed service: news feed service fetches news feed from the cache.</a:t>
            </a:r>
            <a:endParaRPr lang="en-IN" altLang="en-US" sz="2000"/>
          </a:p>
          <a:p>
            <a:pPr marL="342900" indent="-342900">
              <a:buFont typeface="Arial" panose="020B0604020202020204" pitchFamily="34" charset="0"/>
              <a:buChar char="•"/>
            </a:pPr>
            <a:endParaRPr lang="en-IN" altLang="en-US" sz="2000"/>
          </a:p>
          <a:p>
            <a:pPr marL="342900" indent="-342900">
              <a:buFont typeface="Arial" panose="020B0604020202020204" pitchFamily="34" charset="0"/>
              <a:buChar char="•"/>
            </a:pPr>
            <a:r>
              <a:rPr lang="en-IN" altLang="en-US" sz="2000"/>
              <a:t>Newsfeed cache: store news feed IDs needed to render the news feed.</a:t>
            </a:r>
            <a:endParaRPr lang="en-IN" altLang="en-US" sz="2000"/>
          </a:p>
        </p:txBody>
      </p:sp>
      <p:pic>
        <p:nvPicPr>
          <p:cNvPr id="3" name="Content Placeholder 2"/>
          <p:cNvPicPr>
            <a:picLocks noChangeAspect="1"/>
          </p:cNvPicPr>
          <p:nvPr>
            <p:ph idx="1"/>
          </p:nvPr>
        </p:nvPicPr>
        <p:blipFill>
          <a:blip r:embed="rId1"/>
          <a:stretch>
            <a:fillRect/>
          </a:stretch>
        </p:blipFill>
        <p:spPr>
          <a:xfrm>
            <a:off x="7355840" y="361950"/>
            <a:ext cx="3756660" cy="570547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40055"/>
            <a:ext cx="10515600" cy="5737225"/>
          </a:xfrm>
        </p:spPr>
        <p:txBody>
          <a:bodyPr/>
          <a:p>
            <a:pPr marL="0" indent="0">
              <a:buNone/>
            </a:pPr>
            <a:r>
              <a:rPr lang="en-IN" altLang="en-US"/>
              <a:t>				Overall initial design</a:t>
            </a:r>
            <a:endParaRPr lang="en-IN" altLang="en-US"/>
          </a:p>
        </p:txBody>
      </p:sp>
      <p:pic>
        <p:nvPicPr>
          <p:cNvPr id="4" name="Content Placeholder 3"/>
          <p:cNvPicPr>
            <a:picLocks noChangeAspect="1"/>
          </p:cNvPicPr>
          <p:nvPr/>
        </p:nvPicPr>
        <p:blipFill>
          <a:blip r:embed="rId1"/>
          <a:stretch>
            <a:fillRect/>
          </a:stretch>
        </p:blipFill>
        <p:spPr>
          <a:xfrm>
            <a:off x="1301115" y="1029970"/>
            <a:ext cx="3803650" cy="5601335"/>
          </a:xfrm>
          <a:prstGeom prst="rect">
            <a:avLst/>
          </a:prstGeom>
        </p:spPr>
      </p:pic>
      <p:pic>
        <p:nvPicPr>
          <p:cNvPr id="6" name="Content Placeholder 2"/>
          <p:cNvPicPr>
            <a:picLocks noChangeAspect="1"/>
          </p:cNvPicPr>
          <p:nvPr/>
        </p:nvPicPr>
        <p:blipFill>
          <a:blip r:embed="rId2"/>
          <a:stretch>
            <a:fillRect/>
          </a:stretch>
        </p:blipFill>
        <p:spPr>
          <a:xfrm>
            <a:off x="6942455" y="1181735"/>
            <a:ext cx="2958465" cy="44938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4. Database Design</a:t>
            </a:r>
            <a:endParaRPr lang="en-IN" altLang="en-US" b="1"/>
          </a:p>
        </p:txBody>
      </p:sp>
      <p:sp>
        <p:nvSpPr>
          <p:cNvPr id="3" name="Content Placeholder 2"/>
          <p:cNvSpPr>
            <a:spLocks noGrp="1"/>
          </p:cNvSpPr>
          <p:nvPr>
            <p:ph idx="1"/>
          </p:nvPr>
        </p:nvSpPr>
        <p:spPr/>
        <p:txBody>
          <a:bodyPr>
            <a:normAutofit fontScale="60000"/>
          </a:bodyPr>
          <a:p>
            <a:pPr lvl="0"/>
            <a:r>
              <a:rPr lang="en-IN" altLang="en-US">
                <a:sym typeface="+mn-ea"/>
              </a:rPr>
              <a:t>To store images we can either go for a distributed file storage like (HDFS, S3) or as blob type in Db.</a:t>
            </a:r>
            <a:endParaRPr lang="en-IN" altLang="en-US"/>
          </a:p>
          <a:p>
            <a:pPr marL="0" lvl="0" indent="0">
              <a:buNone/>
            </a:pPr>
            <a:endParaRPr lang="en-IN" altLang="en-US"/>
          </a:p>
          <a:p>
            <a:endParaRPr lang="en-IN" altLang="en-US"/>
          </a:p>
          <a:p>
            <a:endParaRPr lang="en-IN" altLang="en-US"/>
          </a:p>
          <a:p>
            <a:endParaRPr lang="en-IN" altLang="en-US"/>
          </a:p>
          <a:p>
            <a:endParaRPr lang="en-IN" altLang="en-US"/>
          </a:p>
          <a:p>
            <a:endParaRPr lang="en-IN" altLang="en-US"/>
          </a:p>
          <a:p>
            <a:endParaRPr lang="en-IN" altLang="en-US"/>
          </a:p>
          <a:p>
            <a:r>
              <a:rPr lang="en-IN" altLang="en-US">
                <a:sym typeface="+mn-ea"/>
              </a:rPr>
              <a:t>We would not need the perks of a database while storing the image.</a:t>
            </a:r>
            <a:endParaRPr lang="en-IN" altLang="en-US"/>
          </a:p>
          <a:p>
            <a:r>
              <a:rPr lang="en-IN" altLang="en-US">
                <a:sym typeface="+mn-ea"/>
              </a:rPr>
              <a:t>So we can go with a DFS (Distributed File System) to store the images.</a:t>
            </a:r>
            <a:endParaRPr lang="en-IN" altLang="en-US">
              <a:sym typeface="+mn-ea"/>
            </a:endParaRPr>
          </a:p>
          <a:p>
            <a:r>
              <a:rPr lang="en-IN" altLang="en-US"/>
              <a:t>We can keep a CDN in front of the DFS to cache the images.</a:t>
            </a:r>
            <a:endParaRPr lang="en-IN" altLang="en-US"/>
          </a:p>
        </p:txBody>
      </p:sp>
      <p:graphicFrame>
        <p:nvGraphicFramePr>
          <p:cNvPr id="7" name="Table 6"/>
          <p:cNvGraphicFramePr/>
          <p:nvPr/>
        </p:nvGraphicFramePr>
        <p:xfrm>
          <a:off x="997585" y="2376805"/>
          <a:ext cx="9961880" cy="2105025"/>
        </p:xfrm>
        <a:graphic>
          <a:graphicData uri="http://schemas.openxmlformats.org/drawingml/2006/table">
            <a:tbl>
              <a:tblPr firstRow="1" bandRow="1">
                <a:tableStyleId>{5C22544A-7EE6-4342-B048-85BDC9FD1C3A}</a:tableStyleId>
              </a:tblPr>
              <a:tblGrid>
                <a:gridCol w="4980940"/>
                <a:gridCol w="4980940"/>
              </a:tblGrid>
              <a:tr h="421005">
                <a:tc>
                  <a:txBody>
                    <a:bodyPr/>
                    <a:p>
                      <a:pPr algn="ctr">
                        <a:buNone/>
                      </a:pPr>
                      <a:r>
                        <a:rPr lang="en-IN" altLang="en-US"/>
                        <a:t>File System</a:t>
                      </a:r>
                      <a:endParaRPr lang="en-IN" altLang="en-US"/>
                    </a:p>
                  </a:txBody>
                  <a:tcPr/>
                </a:tc>
                <a:tc>
                  <a:txBody>
                    <a:bodyPr/>
                    <a:p>
                      <a:pPr algn="ctr">
                        <a:buNone/>
                      </a:pPr>
                      <a:r>
                        <a:rPr lang="en-IN" altLang="en-US"/>
                        <a:t>Blob Storage</a:t>
                      </a:r>
                      <a:endParaRPr lang="en-IN" altLang="en-US"/>
                    </a:p>
                  </a:txBody>
                  <a:tcPr/>
                </a:tc>
              </a:tr>
              <a:tr h="421005">
                <a:tc>
                  <a:txBody>
                    <a:bodyPr/>
                    <a:p>
                      <a:pPr>
                        <a:buNone/>
                      </a:pPr>
                      <a:r>
                        <a:rPr lang="en-IN" altLang="en-US"/>
                        <a:t>Cheaper</a:t>
                      </a:r>
                      <a:endParaRPr lang="en-IN" altLang="en-US"/>
                    </a:p>
                  </a:txBody>
                  <a:tcPr/>
                </a:tc>
                <a:tc>
                  <a:txBody>
                    <a:bodyPr/>
                    <a:p>
                      <a:pPr>
                        <a:buNone/>
                      </a:pPr>
                      <a:r>
                        <a:rPr lang="en-IN" altLang="en-US"/>
                        <a:t>Access Control</a:t>
                      </a:r>
                      <a:endParaRPr lang="en-IN" altLang="en-US"/>
                    </a:p>
                  </a:txBody>
                  <a:tcPr/>
                </a:tc>
              </a:tr>
              <a:tr h="421005">
                <a:tc>
                  <a:txBody>
                    <a:bodyPr/>
                    <a:p>
                      <a:pPr>
                        <a:buNone/>
                      </a:pPr>
                      <a:r>
                        <a:rPr lang="en-IN" altLang="en-US"/>
                        <a:t>Faster</a:t>
                      </a:r>
                      <a:endParaRPr lang="en-IN" altLang="en-US"/>
                    </a:p>
                  </a:txBody>
                  <a:tcPr/>
                </a:tc>
                <a:tc>
                  <a:txBody>
                    <a:bodyPr/>
                    <a:p>
                      <a:pPr>
                        <a:buNone/>
                      </a:pPr>
                      <a:r>
                        <a:rPr lang="en-IN" altLang="en-US"/>
                        <a:t>Mutability (I can change the row in a database)</a:t>
                      </a:r>
                      <a:endParaRPr lang="en-IN" altLang="en-US"/>
                    </a:p>
                  </a:txBody>
                  <a:tcPr/>
                </a:tc>
              </a:tr>
              <a:tr h="421005">
                <a:tc>
                  <a:txBody>
                    <a:bodyPr/>
                    <a:p>
                      <a:pPr>
                        <a:buNone/>
                      </a:pPr>
                      <a:endParaRPr lang="en-US"/>
                    </a:p>
                  </a:txBody>
                  <a:tcPr/>
                </a:tc>
                <a:tc>
                  <a:txBody>
                    <a:bodyPr/>
                    <a:p>
                      <a:pPr>
                        <a:buNone/>
                      </a:pPr>
                      <a:r>
                        <a:rPr lang="en-IN" altLang="en-US"/>
                        <a:t>Transaction guarantee</a:t>
                      </a:r>
                      <a:endParaRPr lang="en-IN" altLang="en-US"/>
                    </a:p>
                  </a:txBody>
                  <a:tcPr/>
                </a:tc>
              </a:tr>
              <a:tr h="421005">
                <a:tc>
                  <a:txBody>
                    <a:bodyPr/>
                    <a:p>
                      <a:pPr>
                        <a:buNone/>
                      </a:pPr>
                      <a:endParaRPr lang="en-US"/>
                    </a:p>
                  </a:txBody>
                  <a:tcPr/>
                </a:tc>
                <a:tc>
                  <a:txBody>
                    <a:bodyPr/>
                    <a:p>
                      <a:pPr>
                        <a:buNone/>
                      </a:pPr>
                      <a:r>
                        <a:rPr lang="en-IN" altLang="en-US"/>
                        <a:t>Indexes</a:t>
                      </a:r>
                      <a:endParaRPr lang="en-IN" altLang="en-US"/>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829310" y="2319020"/>
            <a:ext cx="7242175" cy="4523105"/>
          </a:xfrm>
          <a:prstGeom prst="rect">
            <a:avLst/>
          </a:prstGeom>
          <a:noFill/>
        </p:spPr>
        <p:txBody>
          <a:bodyPr wrap="square" rtlCol="0" anchor="t">
            <a:spAutoFit/>
          </a:bodyPr>
          <a:p>
            <a:pPr marL="285750" indent="-285750">
              <a:buFont typeface="Arial" panose="020B0604020202020204" pitchFamily="34" charset="0"/>
              <a:buChar char="•"/>
            </a:pPr>
            <a:r>
              <a:rPr lang="en-US"/>
              <a:t>We need to store data about users, their uploaded photos, and people they follow. </a:t>
            </a:r>
            <a:endParaRPr lang="en-US"/>
          </a:p>
          <a:p>
            <a:pPr marL="285750" indent="-285750">
              <a:buFont typeface="Arial" panose="020B0604020202020204" pitchFamily="34" charset="0"/>
              <a:buChar char="•"/>
            </a:pPr>
            <a:r>
              <a:rPr lang="en-US"/>
              <a:t>Photo table will store all data related to a photo; we need to have an index on (PhotoID, CreationDate) since we need to fetch recent photos first.</a:t>
            </a:r>
            <a:endParaRPr lang="en-US"/>
          </a:p>
          <a:p>
            <a:pPr marL="285750" indent="-285750">
              <a:buFont typeface="Arial" panose="020B0604020202020204" pitchFamily="34" charset="0"/>
              <a:buChar char="•"/>
            </a:pPr>
            <a:r>
              <a:rPr lang="en-US">
                <a:sym typeface="+mn-ea"/>
              </a:rPr>
              <a:t>A straightforward approach for storing the above schema would be to use an RDBMS like MySQL since we require joins. </a:t>
            </a:r>
            <a:endParaRPr lang="en-US"/>
          </a:p>
          <a:p>
            <a:pPr marL="285750" indent="-285750">
              <a:buFont typeface="Arial" panose="020B0604020202020204" pitchFamily="34" charset="0"/>
              <a:buChar char="•"/>
            </a:pPr>
            <a:r>
              <a:rPr lang="en-US">
                <a:sym typeface="+mn-ea"/>
              </a:rPr>
              <a:t>But relational databases come with their challenges, especially when we need to scale them.</a:t>
            </a:r>
            <a:endParaRPr lang="en-US"/>
          </a:p>
          <a:p>
            <a:pPr marL="285750" indent="-285750">
              <a:buFont typeface="Arial" panose="020B0604020202020204" pitchFamily="34" charset="0"/>
              <a:buChar char="•"/>
            </a:pPr>
            <a:r>
              <a:rPr lang="en-US">
                <a:sym typeface="+mn-ea"/>
              </a:rPr>
              <a:t>We can store the above schema in a </a:t>
            </a:r>
            <a:r>
              <a:rPr lang="en-US" b="1">
                <a:sym typeface="+mn-ea"/>
              </a:rPr>
              <a:t>distributed key-value store</a:t>
            </a:r>
            <a:r>
              <a:rPr lang="en-US">
                <a:sym typeface="+mn-ea"/>
              </a:rPr>
              <a:t> to enjoy the benefits offered by NoSQL. All the </a:t>
            </a:r>
            <a:r>
              <a:rPr lang="en-US" b="1">
                <a:sym typeface="+mn-ea"/>
              </a:rPr>
              <a:t>metadata </a:t>
            </a:r>
            <a:r>
              <a:rPr lang="en-US">
                <a:sym typeface="+mn-ea"/>
              </a:rPr>
              <a:t>related to </a:t>
            </a:r>
            <a:r>
              <a:rPr lang="en-IN" altLang="en-US" b="1">
                <a:sym typeface="+mn-ea"/>
              </a:rPr>
              <a:t>posts </a:t>
            </a:r>
            <a:r>
              <a:rPr lang="en-US">
                <a:sym typeface="+mn-ea"/>
              </a:rPr>
              <a:t>can go to a table where the </a:t>
            </a:r>
            <a:endParaRPr lang="en-US">
              <a:sym typeface="+mn-ea"/>
            </a:endParaRPr>
          </a:p>
          <a:p>
            <a:pPr lvl="1" indent="0">
              <a:buFont typeface="Arial" panose="020B0604020202020204" pitchFamily="34" charset="0"/>
              <a:buNone/>
            </a:pPr>
            <a:r>
              <a:rPr lang="en-US">
                <a:sym typeface="+mn-ea"/>
              </a:rPr>
              <a:t>‘key’ </a:t>
            </a:r>
            <a:r>
              <a:rPr lang="en-IN" altLang="en-US">
                <a:sym typeface="+mn-ea"/>
              </a:rPr>
              <a:t>=</a:t>
            </a:r>
            <a:r>
              <a:rPr lang="en-US">
                <a:sym typeface="+mn-ea"/>
              </a:rPr>
              <a:t> ‘PhotoID’ </a:t>
            </a:r>
            <a:endParaRPr lang="en-US">
              <a:sym typeface="+mn-ea"/>
            </a:endParaRPr>
          </a:p>
          <a:p>
            <a:pPr lvl="1" indent="0">
              <a:buFont typeface="Arial" panose="020B0604020202020204" pitchFamily="34" charset="0"/>
              <a:buNone/>
            </a:pPr>
            <a:r>
              <a:rPr lang="en-US">
                <a:sym typeface="+mn-ea"/>
              </a:rPr>
              <a:t>‘value’ </a:t>
            </a:r>
            <a:r>
              <a:rPr lang="en-IN" altLang="en-US">
                <a:sym typeface="+mn-ea"/>
              </a:rPr>
              <a:t>=</a:t>
            </a:r>
            <a:r>
              <a:rPr lang="en-US">
                <a:sym typeface="+mn-ea"/>
              </a:rPr>
              <a:t> an object containing PhotoLocation, UserLocation, CreationTimestamp, etc.</a:t>
            </a:r>
            <a:endParaRPr lang="en-US"/>
          </a:p>
          <a:p>
            <a:pPr marL="285750" indent="-285750">
              <a:buFont typeface="Arial" panose="020B0604020202020204" pitchFamily="34" charset="0"/>
              <a:buChar char="•"/>
            </a:pPr>
            <a:endParaRPr lang="en-US"/>
          </a:p>
        </p:txBody>
      </p:sp>
      <p:graphicFrame>
        <p:nvGraphicFramePr>
          <p:cNvPr id="9" name="Table 8"/>
          <p:cNvGraphicFramePr/>
          <p:nvPr/>
        </p:nvGraphicFramePr>
        <p:xfrm>
          <a:off x="1232535" y="222250"/>
          <a:ext cx="4504055" cy="2096770"/>
        </p:xfrm>
        <a:graphic>
          <a:graphicData uri="http://schemas.openxmlformats.org/drawingml/2006/table">
            <a:tbl>
              <a:tblPr firstRow="1" bandRow="1">
                <a:tableStyleId>{5C22544A-7EE6-4342-B048-85BDC9FD1C3A}</a:tableStyleId>
              </a:tblPr>
              <a:tblGrid>
                <a:gridCol w="1979930"/>
                <a:gridCol w="2524125"/>
              </a:tblGrid>
              <a:tr h="372745">
                <a:tc gridSpan="2">
                  <a:txBody>
                    <a:bodyPr/>
                    <a:p>
                      <a:pPr algn="ctr">
                        <a:buNone/>
                      </a:pPr>
                      <a:r>
                        <a:rPr lang="en-IN" altLang="en-US"/>
                        <a:t>Post</a:t>
                      </a:r>
                      <a:endParaRPr lang="en-IN" altLang="en-US"/>
                    </a:p>
                  </a:txBody>
                  <a:tcPr/>
                </a:tc>
                <a:tc hMerge="1">
                  <a:tcPr/>
                </a:tc>
              </a:tr>
              <a:tr h="370840">
                <a:tc>
                  <a:txBody>
                    <a:bodyPr/>
                    <a:p>
                      <a:pPr>
                        <a:buNone/>
                      </a:pPr>
                      <a:r>
                        <a:rPr lang="en-IN" altLang="en-US"/>
                        <a:t>PK</a:t>
                      </a:r>
                      <a:endParaRPr lang="en-IN" altLang="en-US"/>
                    </a:p>
                  </a:txBody>
                  <a:tcPr/>
                </a:tc>
                <a:tc>
                  <a:txBody>
                    <a:bodyPr/>
                    <a:p>
                      <a:pPr>
                        <a:buNone/>
                      </a:pPr>
                      <a:r>
                        <a:rPr lang="en-IN" altLang="en-US" b="1" u="sng"/>
                        <a:t>PostId: uuid</a:t>
                      </a:r>
                      <a:endParaRPr lang="en-IN" altLang="en-US" b="1" u="sng"/>
                    </a:p>
                  </a:txBody>
                  <a:tcPr/>
                </a:tc>
              </a:tr>
              <a:tr h="372110">
                <a:tc>
                  <a:txBody>
                    <a:bodyPr/>
                    <a:p>
                      <a:pPr>
                        <a:buNone/>
                      </a:pPr>
                      <a:endParaRPr lang="en-US"/>
                    </a:p>
                  </a:txBody>
                  <a:tcPr/>
                </a:tc>
                <a:tc>
                  <a:txBody>
                    <a:bodyPr/>
                    <a:p>
                      <a:pPr>
                        <a:buNone/>
                      </a:pPr>
                      <a:r>
                        <a:rPr lang="en-IN" altLang="en-US"/>
                        <a:t>UserId: uuid</a:t>
                      </a:r>
                      <a:endParaRPr lang="en-IN" altLang="en-US"/>
                    </a:p>
                  </a:txBody>
                  <a:tcPr/>
                </a:tc>
              </a:tr>
              <a:tr h="370205">
                <a:tc>
                  <a:txBody>
                    <a:bodyPr/>
                    <a:p>
                      <a:pPr>
                        <a:buNone/>
                      </a:pPr>
                      <a:endParaRPr lang="en-US"/>
                    </a:p>
                  </a:txBody>
                  <a:tcPr/>
                </a:tc>
                <a:tc>
                  <a:txBody>
                    <a:bodyPr/>
                    <a:p>
                      <a:pPr>
                        <a:buNone/>
                      </a:pPr>
                      <a:r>
                        <a:rPr lang="en-IN" altLang="en-US" sz="1800">
                          <a:sym typeface="+mn-ea"/>
                        </a:rPr>
                        <a:t>MediaPath</a:t>
                      </a:r>
                      <a:r>
                        <a:rPr lang="en-IN" altLang="en-US"/>
                        <a:t>: varchar</a:t>
                      </a:r>
                      <a:endParaRPr lang="en-IN" altLang="en-US"/>
                    </a:p>
                  </a:txBody>
                  <a:tcPr/>
                </a:tc>
              </a:tr>
              <a:tr h="610870">
                <a:tc>
                  <a:txBody>
                    <a:bodyPr/>
                    <a:p>
                      <a:pPr>
                        <a:buNone/>
                      </a:pPr>
                      <a:r>
                        <a:rPr lang="en-IN" altLang="en-US"/>
                        <a:t>Nonclustered index</a:t>
                      </a:r>
                      <a:endParaRPr lang="en-IN" altLang="en-US"/>
                    </a:p>
                  </a:txBody>
                  <a:tcPr/>
                </a:tc>
                <a:tc>
                  <a:txBody>
                    <a:bodyPr/>
                    <a:p>
                      <a:pPr>
                        <a:buNone/>
                      </a:pPr>
                      <a:r>
                        <a:rPr lang="en-IN" altLang="en-US"/>
                        <a:t>CreationDate: datetime</a:t>
                      </a:r>
                      <a:endParaRPr lang="en-IN" altLang="en-US"/>
                    </a:p>
                  </a:txBody>
                  <a:tcPr/>
                </a:tc>
              </a:tr>
            </a:tbl>
          </a:graphicData>
        </a:graphic>
      </p:graphicFrame>
      <p:graphicFrame>
        <p:nvGraphicFramePr>
          <p:cNvPr id="10" name="Content Placeholder 9"/>
          <p:cNvGraphicFramePr/>
          <p:nvPr>
            <p:ph sz="half" idx="2"/>
          </p:nvPr>
        </p:nvGraphicFramePr>
        <p:xfrm>
          <a:off x="8071485" y="2042160"/>
          <a:ext cx="3378835" cy="2773680"/>
        </p:xfrm>
        <a:graphic>
          <a:graphicData uri="http://schemas.openxmlformats.org/drawingml/2006/table">
            <a:tbl>
              <a:tblPr firstRow="1" bandRow="1">
                <a:tableStyleId>{5C22544A-7EE6-4342-B048-85BDC9FD1C3A}</a:tableStyleId>
              </a:tblPr>
              <a:tblGrid>
                <a:gridCol w="958850"/>
                <a:gridCol w="2419985"/>
              </a:tblGrid>
              <a:tr h="365760">
                <a:tc gridSpan="2">
                  <a:txBody>
                    <a:bodyPr/>
                    <a:p>
                      <a:pPr algn="ctr">
                        <a:buNone/>
                      </a:pPr>
                      <a:r>
                        <a:rPr lang="en-IN" altLang="en-US" sz="1200"/>
                        <a:t>User</a:t>
                      </a:r>
                      <a:endParaRPr lang="en-IN" altLang="en-US" sz="1200"/>
                    </a:p>
                  </a:txBody>
                  <a:tcPr/>
                </a:tc>
                <a:tc hMerge="1">
                  <a:tcPr/>
                </a:tc>
              </a:tr>
              <a:tr h="365760">
                <a:tc>
                  <a:txBody>
                    <a:bodyPr/>
                    <a:p>
                      <a:pPr>
                        <a:buNone/>
                      </a:pPr>
                      <a:r>
                        <a:rPr lang="en-IN" altLang="en-US" sz="1200"/>
                        <a:t>PK</a:t>
                      </a:r>
                      <a:endParaRPr lang="en-IN" altLang="en-US" sz="1200"/>
                    </a:p>
                  </a:txBody>
                  <a:tcPr/>
                </a:tc>
                <a:tc>
                  <a:txBody>
                    <a:bodyPr/>
                    <a:p>
                      <a:pPr>
                        <a:buNone/>
                      </a:pPr>
                      <a:r>
                        <a:rPr lang="en-IN" altLang="en-US" sz="1200" b="1" u="sng"/>
                        <a:t>UserId: uuid</a:t>
                      </a:r>
                      <a:endParaRPr lang="en-IN" altLang="en-US" sz="1200" b="1" u="sng"/>
                    </a:p>
                  </a:txBody>
                  <a:tcPr/>
                </a:tc>
              </a:tr>
              <a:tr h="365760">
                <a:tc>
                  <a:txBody>
                    <a:bodyPr/>
                    <a:p>
                      <a:pPr>
                        <a:buNone/>
                      </a:pPr>
                      <a:endParaRPr lang="en-US" sz="1200"/>
                    </a:p>
                  </a:txBody>
                  <a:tcPr/>
                </a:tc>
                <a:tc>
                  <a:txBody>
                    <a:bodyPr/>
                    <a:p>
                      <a:pPr>
                        <a:buNone/>
                      </a:pPr>
                      <a:r>
                        <a:rPr lang="en-IN" altLang="en-US" sz="1200"/>
                        <a:t>Name: uuid</a:t>
                      </a:r>
                      <a:endParaRPr lang="en-IN" altLang="en-US" sz="1200"/>
                    </a:p>
                  </a:txBody>
                  <a:tcPr/>
                </a:tc>
              </a:tr>
              <a:tr h="419100">
                <a:tc>
                  <a:txBody>
                    <a:bodyPr/>
                    <a:p>
                      <a:pPr>
                        <a:buNone/>
                      </a:pPr>
                      <a:endParaRPr lang="en-US" sz="1200"/>
                    </a:p>
                  </a:txBody>
                  <a:tcPr/>
                </a:tc>
                <a:tc>
                  <a:txBody>
                    <a:bodyPr/>
                    <a:p>
                      <a:pPr>
                        <a:buNone/>
                      </a:pPr>
                      <a:r>
                        <a:rPr lang="en-IN" altLang="en-US" sz="1200"/>
                        <a:t>Email: varchar</a:t>
                      </a:r>
                      <a:endParaRPr lang="en-IN" altLang="en-US" sz="1200"/>
                    </a:p>
                  </a:txBody>
                  <a:tcPr/>
                </a:tc>
              </a:tr>
              <a:tr h="419100">
                <a:tc>
                  <a:txBody>
                    <a:bodyPr/>
                    <a:p>
                      <a:pPr>
                        <a:buNone/>
                      </a:pPr>
                      <a:endParaRPr lang="en-US" sz="1200"/>
                    </a:p>
                  </a:txBody>
                  <a:tcPr/>
                </a:tc>
                <a:tc>
                  <a:txBody>
                    <a:bodyPr/>
                    <a:p>
                      <a:pPr>
                        <a:buNone/>
                      </a:pPr>
                      <a:r>
                        <a:rPr lang="en-IN" altLang="en-US" sz="1200"/>
                        <a:t>DateOfBirth: datetime</a:t>
                      </a:r>
                      <a:endParaRPr lang="en-IN" altLang="en-US" sz="1200"/>
                    </a:p>
                  </a:txBody>
                  <a:tcPr/>
                </a:tc>
              </a:tr>
              <a:tr h="419100">
                <a:tc>
                  <a:txBody>
                    <a:bodyPr/>
                    <a:p>
                      <a:pPr>
                        <a:buNone/>
                      </a:pPr>
                      <a:endParaRPr lang="en-US" sz="1200"/>
                    </a:p>
                  </a:txBody>
                  <a:tcPr/>
                </a:tc>
                <a:tc>
                  <a:txBody>
                    <a:bodyPr/>
                    <a:p>
                      <a:pPr>
                        <a:buNone/>
                      </a:pPr>
                      <a:r>
                        <a:rPr lang="en-IN" altLang="en-US" sz="1200"/>
                        <a:t>CreationDate: datetime</a:t>
                      </a:r>
                      <a:endParaRPr lang="en-IN" altLang="en-US" sz="1200"/>
                    </a:p>
                  </a:txBody>
                  <a:tcPr/>
                </a:tc>
              </a:tr>
              <a:tr h="419100">
                <a:tc>
                  <a:txBody>
                    <a:bodyPr/>
                    <a:p>
                      <a:pPr>
                        <a:buNone/>
                      </a:pPr>
                      <a:endParaRPr lang="en-US" sz="1200"/>
                    </a:p>
                  </a:txBody>
                  <a:tcPr/>
                </a:tc>
                <a:tc>
                  <a:txBody>
                    <a:bodyPr/>
                    <a:p>
                      <a:pPr>
                        <a:buNone/>
                      </a:pPr>
                      <a:r>
                        <a:rPr lang="en-IN" altLang="en-US" sz="1200"/>
                        <a:t>LastLogin: datetime</a:t>
                      </a:r>
                      <a:endParaRPr lang="en-IN" altLang="en-US" sz="1200"/>
                    </a:p>
                  </a:txBody>
                  <a:tcPr/>
                </a:tc>
              </a:tr>
            </a:tbl>
          </a:graphicData>
        </a:graphic>
      </p:graphicFrame>
      <p:graphicFrame>
        <p:nvGraphicFramePr>
          <p:cNvPr id="11" name="Table 10"/>
          <p:cNvGraphicFramePr/>
          <p:nvPr/>
        </p:nvGraphicFramePr>
        <p:xfrm>
          <a:off x="8071485" y="285750"/>
          <a:ext cx="3569970" cy="2773680"/>
        </p:xfrm>
        <a:graphic>
          <a:graphicData uri="http://schemas.openxmlformats.org/drawingml/2006/table">
            <a:tbl>
              <a:tblPr firstRow="1" bandRow="1">
                <a:tableStyleId>{5C22544A-7EE6-4342-B048-85BDC9FD1C3A}</a:tableStyleId>
              </a:tblPr>
              <a:tblGrid>
                <a:gridCol w="1012825"/>
                <a:gridCol w="2557145"/>
              </a:tblGrid>
              <a:tr h="365760">
                <a:tc gridSpan="2">
                  <a:txBody>
                    <a:bodyPr/>
                    <a:p>
                      <a:pPr algn="ctr">
                        <a:buNone/>
                      </a:pPr>
                      <a:r>
                        <a:rPr lang="en-IN" altLang="en-US"/>
                        <a:t>UserFollower</a:t>
                      </a:r>
                      <a:endParaRPr lang="en-IN" altLang="en-US"/>
                    </a:p>
                  </a:txBody>
                  <a:tcPr/>
                </a:tc>
                <a:tc hMerge="1">
                  <a:tcPr/>
                </a:tc>
              </a:tr>
              <a:tr h="365760">
                <a:tc>
                  <a:txBody>
                    <a:bodyPr/>
                    <a:p>
                      <a:pPr>
                        <a:buNone/>
                      </a:pPr>
                      <a:r>
                        <a:rPr lang="en-IN" altLang="en-US"/>
                        <a:t>PK</a:t>
                      </a:r>
                      <a:endParaRPr lang="en-IN" altLang="en-US"/>
                    </a:p>
                  </a:txBody>
                  <a:tcPr/>
                </a:tc>
                <a:tc>
                  <a:txBody>
                    <a:bodyPr/>
                    <a:p>
                      <a:pPr>
                        <a:buNone/>
                      </a:pPr>
                      <a:r>
                        <a:rPr lang="en-IN" altLang="en-US" b="1" u="sng"/>
                        <a:t>UserFolloweId: uuid</a:t>
                      </a:r>
                      <a:endParaRPr lang="en-IN" altLang="en-US" b="1" u="sng"/>
                    </a:p>
                  </a:txBody>
                  <a:tcPr/>
                </a:tc>
              </a:tr>
              <a:tr h="365760">
                <a:tc>
                  <a:txBody>
                    <a:bodyPr/>
                    <a:p>
                      <a:pPr>
                        <a:buNone/>
                      </a:pPr>
                      <a:r>
                        <a:rPr lang="en-IN" altLang="en-US"/>
                        <a:t>FK</a:t>
                      </a:r>
                      <a:endParaRPr lang="en-IN" altLang="en-US"/>
                    </a:p>
                  </a:txBody>
                  <a:tcPr/>
                </a:tc>
                <a:tc>
                  <a:txBody>
                    <a:bodyPr/>
                    <a:p>
                      <a:pPr>
                        <a:buNone/>
                      </a:pPr>
                      <a:r>
                        <a:rPr lang="en-IN" altLang="en-US"/>
                        <a:t>FollowerId: uuid </a:t>
                      </a:r>
                      <a:endParaRPr lang="en-IN" altLang="en-US"/>
                    </a:p>
                  </a:txBody>
                  <a:tcPr/>
                </a:tc>
              </a:tr>
              <a:tr h="419100">
                <a:tc>
                  <a:txBody>
                    <a:bodyPr/>
                    <a:p>
                      <a:pPr>
                        <a:buNone/>
                      </a:pPr>
                      <a:r>
                        <a:rPr lang="en-IN" altLang="en-US"/>
                        <a:t>FK</a:t>
                      </a:r>
                      <a:endParaRPr lang="en-IN" altLang="en-US"/>
                    </a:p>
                  </a:txBody>
                  <a:tcPr/>
                </a:tc>
                <a:tc>
                  <a:txBody>
                    <a:bodyPr/>
                    <a:p>
                      <a:pPr>
                        <a:buNone/>
                      </a:pPr>
                      <a:r>
                        <a:rPr lang="en-IN" altLang="en-US"/>
                        <a:t>FolloweeId: uuid</a:t>
                      </a:r>
                      <a:endParaRPr lang="en-IN" altLang="en-US"/>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99770"/>
            <a:ext cx="10515600" cy="5477510"/>
          </a:xfrm>
        </p:spPr>
        <p:txBody>
          <a:bodyPr>
            <a:normAutofit/>
          </a:bodyPr>
          <a:p>
            <a:r>
              <a:rPr lang="en-US" sz="2000"/>
              <a:t>Cassandra or key-value stores in general, always maintain a certain number of replicas to offer reliability. Also, in such data stores, deletes don’t get applied instantly, data is retained for certain days (to support undeleting) before getting removed from the system permanently.</a:t>
            </a:r>
            <a:endParaRPr lang="en-US" sz="2000"/>
          </a:p>
          <a:p>
            <a:endParaRPr lang="en-US" sz="2000"/>
          </a:p>
          <a:p>
            <a:r>
              <a:rPr lang="en-IN" altLang="en-US" sz="2000"/>
              <a:t>UserFollower - GraphDb</a:t>
            </a:r>
            <a:endParaRPr lang="en-IN" altLang="en-US" sz="2000"/>
          </a:p>
          <a:p>
            <a:r>
              <a:rPr lang="en-IN" altLang="en-US" sz="2000"/>
              <a:t>UserDb - RDBMS(MySQL)</a:t>
            </a:r>
            <a:endParaRPr lang="en-IN" altLang="en-US" sz="2000"/>
          </a:p>
          <a:p>
            <a:r>
              <a:rPr lang="en-IN" altLang="en-US" sz="2000"/>
              <a:t>PostDb - NoSQL (Key Value) </a:t>
            </a:r>
            <a:endParaRPr lang="en-IN" altLang="en-US" sz="2000"/>
          </a:p>
          <a:p>
            <a:pPr lvl="1" indent="0">
              <a:buFont typeface="Arial" panose="020B0604020202020204" pitchFamily="34" charset="0"/>
              <a:buNone/>
            </a:pPr>
            <a:r>
              <a:rPr lang="en-US" sz="1710">
                <a:sym typeface="+mn-ea"/>
              </a:rPr>
              <a:t>‘key’ </a:t>
            </a:r>
            <a:r>
              <a:rPr lang="en-IN" altLang="en-US" sz="1710">
                <a:sym typeface="+mn-ea"/>
              </a:rPr>
              <a:t>=</a:t>
            </a:r>
            <a:r>
              <a:rPr lang="en-US" sz="1710">
                <a:sym typeface="+mn-ea"/>
              </a:rPr>
              <a:t> ‘</a:t>
            </a:r>
            <a:r>
              <a:rPr lang="en-IN" altLang="en-US" sz="1710">
                <a:sym typeface="+mn-ea"/>
              </a:rPr>
              <a:t>PostId</a:t>
            </a:r>
            <a:endParaRPr lang="en-US" sz="1710">
              <a:sym typeface="+mn-ea"/>
            </a:endParaRPr>
          </a:p>
          <a:p>
            <a:pPr lvl="1" indent="0">
              <a:buFont typeface="Arial" panose="020B0604020202020204" pitchFamily="34" charset="0"/>
              <a:buNone/>
            </a:pPr>
            <a:r>
              <a:rPr lang="en-US" sz="1710">
                <a:sym typeface="+mn-ea"/>
              </a:rPr>
              <a:t>‘value’ </a:t>
            </a:r>
            <a:r>
              <a:rPr lang="en-IN" altLang="en-US" sz="1710">
                <a:sym typeface="+mn-ea"/>
              </a:rPr>
              <a:t>=</a:t>
            </a:r>
            <a:r>
              <a:rPr lang="en-US" sz="1710">
                <a:sym typeface="+mn-ea"/>
              </a:rPr>
              <a:t> an object containing </a:t>
            </a:r>
            <a:r>
              <a:rPr lang="en-IN" altLang="en-US" sz="1710">
                <a:sym typeface="+mn-ea"/>
              </a:rPr>
              <a:t>MediaPath</a:t>
            </a:r>
            <a:r>
              <a:rPr lang="en-US" sz="1710">
                <a:sym typeface="+mn-ea"/>
              </a:rPr>
              <a:t>, CreationTimestamp, etc.</a:t>
            </a:r>
            <a:endParaRPr lang="en-US" sz="1710">
              <a:sym typeface="+mn-ea"/>
            </a:endParaRPr>
          </a:p>
          <a:p>
            <a:pPr lvl="1" indent="0">
              <a:buFont typeface="Arial" panose="020B0604020202020204" pitchFamily="34" charset="0"/>
              <a:buNone/>
            </a:pPr>
            <a:endParaRPr lang="en-US" sz="1710">
              <a:sym typeface="+mn-ea"/>
            </a:endParaRPr>
          </a:p>
          <a:p>
            <a:pPr lvl="1"/>
            <a:endParaRPr lang="en-IN" altLang="en-US" sz="1710"/>
          </a:p>
          <a:p>
            <a:endParaRPr lang="en-IN" alt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sz="half" idx="2"/>
          </p:nvPr>
        </p:nvGraphicFramePr>
        <p:xfrm>
          <a:off x="1283335" y="1161415"/>
          <a:ext cx="4329430" cy="2744470"/>
        </p:xfrm>
        <a:graphic>
          <a:graphicData uri="http://schemas.openxmlformats.org/drawingml/2006/table">
            <a:tbl>
              <a:tblPr firstRow="1" bandRow="1">
                <a:tableStyleId>{5C22544A-7EE6-4342-B048-85BDC9FD1C3A}</a:tableStyleId>
              </a:tblPr>
              <a:tblGrid>
                <a:gridCol w="1228725"/>
                <a:gridCol w="3100705"/>
              </a:tblGrid>
              <a:tr h="365760">
                <a:tc gridSpan="2">
                  <a:txBody>
                    <a:bodyPr/>
                    <a:p>
                      <a:pPr algn="ctr">
                        <a:buNone/>
                      </a:pPr>
                      <a:r>
                        <a:rPr lang="en-IN" altLang="en-US"/>
                        <a:t>Likes</a:t>
                      </a:r>
                      <a:endParaRPr lang="en-IN" altLang="en-US"/>
                    </a:p>
                  </a:txBody>
                  <a:tcPr/>
                </a:tc>
                <a:tc hMerge="1">
                  <a:tcPr/>
                </a:tc>
              </a:tr>
              <a:tr h="365760">
                <a:tc>
                  <a:txBody>
                    <a:bodyPr/>
                    <a:p>
                      <a:pPr>
                        <a:buNone/>
                      </a:pPr>
                      <a:r>
                        <a:rPr lang="en-IN" altLang="en-US"/>
                        <a:t>PK</a:t>
                      </a:r>
                      <a:endParaRPr lang="en-IN" altLang="en-US"/>
                    </a:p>
                  </a:txBody>
                  <a:tcPr/>
                </a:tc>
                <a:tc>
                  <a:txBody>
                    <a:bodyPr/>
                    <a:p>
                      <a:pPr>
                        <a:buNone/>
                      </a:pPr>
                      <a:r>
                        <a:rPr lang="en-IN" altLang="en-US" b="1" u="sng"/>
                        <a:t>LikeId: uuid</a:t>
                      </a:r>
                      <a:endParaRPr lang="en-IN" altLang="en-US" b="1" u="sng"/>
                    </a:p>
                  </a:txBody>
                  <a:tcPr/>
                </a:tc>
              </a:tr>
              <a:tr h="365760">
                <a:tc>
                  <a:txBody>
                    <a:bodyPr/>
                    <a:p>
                      <a:pPr>
                        <a:buNone/>
                      </a:pPr>
                      <a:endParaRPr lang="en-US"/>
                    </a:p>
                  </a:txBody>
                  <a:tcPr/>
                </a:tc>
                <a:tc>
                  <a:txBody>
                    <a:bodyPr/>
                    <a:p>
                      <a:pPr>
                        <a:buNone/>
                      </a:pPr>
                      <a:r>
                        <a:rPr lang="en-IN" altLang="en-US"/>
                        <a:t>ActivityId: {Post, Comment}</a:t>
                      </a:r>
                      <a:endParaRPr lang="en-IN" altLang="en-US"/>
                    </a:p>
                  </a:txBody>
                  <a:tcPr/>
                </a:tc>
              </a:tr>
              <a:tr h="365760">
                <a:tc>
                  <a:txBody>
                    <a:bodyPr/>
                    <a:p>
                      <a:pPr>
                        <a:buNone/>
                      </a:pPr>
                      <a:endParaRPr lang="en-US"/>
                    </a:p>
                  </a:txBody>
                  <a:tcPr/>
                </a:tc>
                <a:tc>
                  <a:txBody>
                    <a:bodyPr/>
                    <a:p>
                      <a:pPr>
                        <a:buNone/>
                      </a:pPr>
                      <a:r>
                        <a:rPr lang="en-IN" altLang="en-US"/>
                        <a:t>UserId: uuid (LikedBy userid)</a:t>
                      </a:r>
                      <a:endParaRPr lang="en-IN" altLang="en-US"/>
                    </a:p>
                  </a:txBody>
                  <a:tcPr/>
                </a:tc>
              </a:tr>
              <a:tr h="365760">
                <a:tc>
                  <a:txBody>
                    <a:bodyPr/>
                    <a:p>
                      <a:pPr>
                        <a:buNone/>
                      </a:pPr>
                      <a:endParaRPr lang="en-US"/>
                    </a:p>
                  </a:txBody>
                  <a:tcPr/>
                </a:tc>
                <a:tc>
                  <a:txBody>
                    <a:bodyPr/>
                    <a:p>
                      <a:pPr>
                        <a:buNone/>
                      </a:pPr>
                      <a:r>
                        <a:rPr lang="en-IN" altLang="en-US"/>
                        <a:t>ParentId: uuid (Post/Comment)</a:t>
                      </a:r>
                      <a:endParaRPr lang="en-IN" altLang="en-US"/>
                    </a:p>
                  </a:txBody>
                  <a:tcPr/>
                </a:tc>
              </a:tr>
              <a:tr h="365760">
                <a:tc>
                  <a:txBody>
                    <a:bodyPr/>
                    <a:p>
                      <a:pPr>
                        <a:buNone/>
                      </a:pPr>
                      <a:endParaRPr lang="en-US"/>
                    </a:p>
                  </a:txBody>
                  <a:tcPr/>
                </a:tc>
                <a:tc>
                  <a:txBody>
                    <a:bodyPr/>
                    <a:p>
                      <a:pPr>
                        <a:buNone/>
                      </a:pPr>
                      <a:r>
                        <a:rPr lang="en-IN" altLang="en-US" sz="1800">
                          <a:sym typeface="+mn-ea"/>
                        </a:rPr>
                        <a:t>CreationDate: datetime</a:t>
                      </a:r>
                      <a:endParaRPr lang="en-IN" altLang="en-US"/>
                    </a:p>
                  </a:txBody>
                  <a:tcPr/>
                </a:tc>
              </a:tr>
              <a:tr h="549910">
                <a:tc>
                  <a:txBody>
                    <a:bodyPr/>
                    <a:p>
                      <a:pPr>
                        <a:buNone/>
                      </a:pPr>
                      <a:endParaRPr lang="en-US"/>
                    </a:p>
                  </a:txBody>
                  <a:tcPr/>
                </a:tc>
                <a:tc>
                  <a:txBody>
                    <a:bodyPr/>
                    <a:p>
                      <a:pPr>
                        <a:buNone/>
                      </a:pPr>
                      <a:r>
                        <a:rPr lang="en-IN" altLang="en-US"/>
                        <a:t>Active (in case like is deleted)</a:t>
                      </a:r>
                      <a:endParaRPr lang="en-IN" altLang="en-US"/>
                    </a:p>
                  </a:txBody>
                  <a:tcPr/>
                </a:tc>
              </a:tr>
            </a:tbl>
          </a:graphicData>
        </a:graphic>
      </p:graphicFrame>
      <p:graphicFrame>
        <p:nvGraphicFramePr>
          <p:cNvPr id="13" name="Table 12"/>
          <p:cNvGraphicFramePr/>
          <p:nvPr/>
        </p:nvGraphicFramePr>
        <p:xfrm>
          <a:off x="6400165" y="1161415"/>
          <a:ext cx="4504055" cy="2096770"/>
        </p:xfrm>
        <a:graphic>
          <a:graphicData uri="http://schemas.openxmlformats.org/drawingml/2006/table">
            <a:tbl>
              <a:tblPr firstRow="1" bandRow="1">
                <a:tableStyleId>{5C22544A-7EE6-4342-B048-85BDC9FD1C3A}</a:tableStyleId>
              </a:tblPr>
              <a:tblGrid>
                <a:gridCol w="1979930"/>
                <a:gridCol w="2524125"/>
              </a:tblGrid>
              <a:tr h="372745">
                <a:tc gridSpan="2">
                  <a:txBody>
                    <a:bodyPr/>
                    <a:p>
                      <a:pPr algn="ctr">
                        <a:buNone/>
                      </a:pPr>
                      <a:r>
                        <a:rPr lang="en-IN" altLang="en-US"/>
                        <a:t>Post</a:t>
                      </a:r>
                      <a:endParaRPr lang="en-IN" altLang="en-US"/>
                    </a:p>
                  </a:txBody>
                  <a:tcPr/>
                </a:tc>
                <a:tc hMerge="1">
                  <a:tcPr/>
                </a:tc>
              </a:tr>
              <a:tr h="370840">
                <a:tc>
                  <a:txBody>
                    <a:bodyPr/>
                    <a:p>
                      <a:pPr>
                        <a:buNone/>
                      </a:pPr>
                      <a:r>
                        <a:rPr lang="en-IN" altLang="en-US"/>
                        <a:t>PK</a:t>
                      </a:r>
                      <a:endParaRPr lang="en-IN" altLang="en-US"/>
                    </a:p>
                  </a:txBody>
                  <a:tcPr/>
                </a:tc>
                <a:tc>
                  <a:txBody>
                    <a:bodyPr/>
                    <a:p>
                      <a:pPr>
                        <a:buNone/>
                      </a:pPr>
                      <a:r>
                        <a:rPr lang="en-IN" altLang="en-US" b="1" u="sng"/>
                        <a:t>PostId: uuid</a:t>
                      </a:r>
                      <a:endParaRPr lang="en-IN" altLang="en-US" b="1" u="sng"/>
                    </a:p>
                  </a:txBody>
                  <a:tcPr/>
                </a:tc>
              </a:tr>
              <a:tr h="372110">
                <a:tc>
                  <a:txBody>
                    <a:bodyPr/>
                    <a:p>
                      <a:pPr>
                        <a:buNone/>
                      </a:pPr>
                      <a:endParaRPr lang="en-US"/>
                    </a:p>
                  </a:txBody>
                  <a:tcPr/>
                </a:tc>
                <a:tc>
                  <a:txBody>
                    <a:bodyPr/>
                    <a:p>
                      <a:pPr>
                        <a:buNone/>
                      </a:pPr>
                      <a:r>
                        <a:rPr lang="en-IN" altLang="en-US"/>
                        <a:t>UserId: uuid</a:t>
                      </a:r>
                      <a:endParaRPr lang="en-IN" altLang="en-US"/>
                    </a:p>
                  </a:txBody>
                  <a:tcPr/>
                </a:tc>
              </a:tr>
              <a:tr h="370205">
                <a:tc>
                  <a:txBody>
                    <a:bodyPr/>
                    <a:p>
                      <a:pPr>
                        <a:buNone/>
                      </a:pPr>
                      <a:endParaRPr lang="en-US"/>
                    </a:p>
                  </a:txBody>
                  <a:tcPr/>
                </a:tc>
                <a:tc>
                  <a:txBody>
                    <a:bodyPr/>
                    <a:p>
                      <a:pPr>
                        <a:buNone/>
                      </a:pPr>
                      <a:r>
                        <a:rPr lang="en-IN" altLang="en-US"/>
                        <a:t>MediaPath: varchar</a:t>
                      </a:r>
                      <a:endParaRPr lang="en-IN" altLang="en-US"/>
                    </a:p>
                  </a:txBody>
                  <a:tcPr/>
                </a:tc>
              </a:tr>
              <a:tr h="610870">
                <a:tc>
                  <a:txBody>
                    <a:bodyPr/>
                    <a:p>
                      <a:pPr>
                        <a:buNone/>
                      </a:pPr>
                      <a:r>
                        <a:rPr lang="en-IN" altLang="en-US"/>
                        <a:t>Nonclustered index</a:t>
                      </a:r>
                      <a:endParaRPr lang="en-IN" altLang="en-US"/>
                    </a:p>
                  </a:txBody>
                  <a:tcPr/>
                </a:tc>
                <a:tc>
                  <a:txBody>
                    <a:bodyPr/>
                    <a:p>
                      <a:pPr>
                        <a:buNone/>
                      </a:pPr>
                      <a:r>
                        <a:rPr lang="en-IN" altLang="en-US"/>
                        <a:t>CreationDate: datetime</a:t>
                      </a:r>
                      <a:endParaRPr lang="en-IN" altLang="en-US"/>
                    </a:p>
                  </a:txBody>
                  <a:tcPr/>
                </a:tc>
              </a:tr>
            </a:tbl>
          </a:graphicData>
        </a:graphic>
      </p:graphicFrame>
      <p:graphicFrame>
        <p:nvGraphicFramePr>
          <p:cNvPr id="15" name="Table 14"/>
          <p:cNvGraphicFramePr/>
          <p:nvPr/>
        </p:nvGraphicFramePr>
        <p:xfrm>
          <a:off x="6574790" y="3909695"/>
          <a:ext cx="4329430" cy="2868295"/>
        </p:xfrm>
        <a:graphic>
          <a:graphicData uri="http://schemas.openxmlformats.org/drawingml/2006/table">
            <a:tbl>
              <a:tblPr firstRow="1" bandRow="1">
                <a:tableStyleId>{5C22544A-7EE6-4342-B048-85BDC9FD1C3A}</a:tableStyleId>
              </a:tblPr>
              <a:tblGrid>
                <a:gridCol w="1228725"/>
                <a:gridCol w="3100705"/>
              </a:tblGrid>
              <a:tr h="365760">
                <a:tc gridSpan="2">
                  <a:txBody>
                    <a:bodyPr/>
                    <a:p>
                      <a:pPr algn="ctr">
                        <a:buNone/>
                      </a:pPr>
                      <a:r>
                        <a:rPr lang="en-IN" altLang="en-US"/>
                        <a:t>Comment</a:t>
                      </a:r>
                      <a:endParaRPr lang="en-IN" altLang="en-US"/>
                    </a:p>
                  </a:txBody>
                  <a:tcPr/>
                </a:tc>
                <a:tc hMerge="1">
                  <a:tcPr/>
                </a:tc>
              </a:tr>
              <a:tr h="365760">
                <a:tc>
                  <a:txBody>
                    <a:bodyPr/>
                    <a:p>
                      <a:pPr>
                        <a:buNone/>
                      </a:pPr>
                      <a:r>
                        <a:rPr lang="en-IN" altLang="en-US"/>
                        <a:t>PK</a:t>
                      </a:r>
                      <a:endParaRPr lang="en-IN" altLang="en-US"/>
                    </a:p>
                  </a:txBody>
                  <a:tcPr/>
                </a:tc>
                <a:tc>
                  <a:txBody>
                    <a:bodyPr/>
                    <a:p>
                      <a:pPr>
                        <a:buNone/>
                      </a:pPr>
                      <a:r>
                        <a:rPr lang="en-IN" altLang="en-US" b="1" u="sng"/>
                        <a:t>CommentId: uuid</a:t>
                      </a:r>
                      <a:endParaRPr lang="en-IN" altLang="en-US" b="1" u="sng"/>
                    </a:p>
                  </a:txBody>
                  <a:tcPr/>
                </a:tc>
              </a:tr>
              <a:tr h="365760">
                <a:tc>
                  <a:txBody>
                    <a:bodyPr/>
                    <a:p>
                      <a:pPr>
                        <a:buNone/>
                      </a:pPr>
                      <a:endParaRPr lang="en-US"/>
                    </a:p>
                  </a:txBody>
                  <a:tcPr/>
                </a:tc>
                <a:tc>
                  <a:txBody>
                    <a:bodyPr/>
                    <a:p>
                      <a:pPr>
                        <a:buNone/>
                      </a:pPr>
                      <a:r>
                        <a:rPr lang="en-IN" altLang="en-US"/>
                        <a:t>PostId: uuid</a:t>
                      </a:r>
                      <a:endParaRPr lang="en-IN" altLang="en-US"/>
                    </a:p>
                  </a:txBody>
                  <a:tcPr/>
                </a:tc>
              </a:tr>
              <a:tr h="365760">
                <a:tc>
                  <a:txBody>
                    <a:bodyPr/>
                    <a:p>
                      <a:pPr>
                        <a:buNone/>
                      </a:pPr>
                      <a:endParaRPr lang="en-US"/>
                    </a:p>
                  </a:txBody>
                  <a:tcPr/>
                </a:tc>
                <a:tc>
                  <a:txBody>
                    <a:bodyPr/>
                    <a:p>
                      <a:pPr>
                        <a:buNone/>
                      </a:pPr>
                      <a:r>
                        <a:rPr lang="en-IN" altLang="en-US"/>
                        <a:t>Comment: varchar</a:t>
                      </a:r>
                      <a:endParaRPr lang="en-IN" altLang="en-US"/>
                    </a:p>
                  </a:txBody>
                  <a:tcPr/>
                </a:tc>
              </a:tr>
              <a:tr h="365760">
                <a:tc>
                  <a:txBody>
                    <a:bodyPr/>
                    <a:p>
                      <a:pPr>
                        <a:buNone/>
                      </a:pPr>
                      <a:endParaRPr lang="en-US"/>
                    </a:p>
                  </a:txBody>
                  <a:tcPr/>
                </a:tc>
                <a:tc>
                  <a:txBody>
                    <a:bodyPr/>
                    <a:p>
                      <a:pPr>
                        <a:buNone/>
                      </a:pPr>
                      <a:r>
                        <a:rPr lang="en-IN" altLang="en-US"/>
                        <a:t>UserId: uuid (commentor)</a:t>
                      </a:r>
                      <a:endParaRPr lang="en-IN" altLang="en-US"/>
                    </a:p>
                  </a:txBody>
                  <a:tcPr/>
                </a:tc>
              </a:tr>
              <a:tr h="520065">
                <a:tc>
                  <a:txBody>
                    <a:bodyPr/>
                    <a:p>
                      <a:pPr>
                        <a:buNone/>
                      </a:pPr>
                      <a:endParaRPr lang="en-US"/>
                    </a:p>
                  </a:txBody>
                  <a:tcPr/>
                </a:tc>
                <a:tc>
                  <a:txBody>
                    <a:bodyPr/>
                    <a:p>
                      <a:pPr>
                        <a:buNone/>
                      </a:pPr>
                      <a:r>
                        <a:rPr lang="en-IN" altLang="en-US" sz="1800">
                          <a:sym typeface="+mn-ea"/>
                        </a:rPr>
                        <a:t>CreationDate: datetime</a:t>
                      </a:r>
                      <a:endParaRPr lang="en-IN" altLang="en-US"/>
                    </a:p>
                  </a:txBody>
                  <a:tcPr/>
                </a:tc>
              </a:tr>
              <a:tr h="519430">
                <a:tc>
                  <a:txBody>
                    <a:bodyPr/>
                    <a:p>
                      <a:pPr>
                        <a:buNone/>
                      </a:pPr>
                      <a:endParaRPr lang="en-US"/>
                    </a:p>
                  </a:txBody>
                  <a:tcPr/>
                </a:tc>
                <a:tc>
                  <a:txBody>
                    <a:bodyPr/>
                    <a:p>
                      <a:pPr>
                        <a:buNone/>
                      </a:pPr>
                      <a:r>
                        <a:rPr lang="en-IN" altLang="en-US"/>
                        <a:t>Active (in case like is deleted)</a:t>
                      </a:r>
                      <a:endParaRPr lang="en-IN" altLang="en-US"/>
                    </a:p>
                  </a:txBody>
                  <a:tcPr/>
                </a:tc>
              </a:tr>
            </a:tbl>
          </a:graphicData>
        </a:graphic>
      </p:graphicFrame>
      <p:graphicFrame>
        <p:nvGraphicFramePr>
          <p:cNvPr id="17" name="Table 16"/>
          <p:cNvGraphicFramePr/>
          <p:nvPr/>
        </p:nvGraphicFramePr>
        <p:xfrm>
          <a:off x="1283335" y="4083685"/>
          <a:ext cx="4329430" cy="2694305"/>
        </p:xfrm>
        <a:graphic>
          <a:graphicData uri="http://schemas.openxmlformats.org/drawingml/2006/table">
            <a:tbl>
              <a:tblPr firstRow="1" bandRow="1">
                <a:tableStyleId>{5C22544A-7EE6-4342-B048-85BDC9FD1C3A}</a:tableStyleId>
              </a:tblPr>
              <a:tblGrid>
                <a:gridCol w="1228725"/>
                <a:gridCol w="3100705"/>
              </a:tblGrid>
              <a:tr h="365760">
                <a:tc gridSpan="2">
                  <a:txBody>
                    <a:bodyPr/>
                    <a:p>
                      <a:pPr algn="ctr">
                        <a:buNone/>
                      </a:pPr>
                      <a:r>
                        <a:rPr lang="en-IN" altLang="en-US"/>
                        <a:t>Activity</a:t>
                      </a:r>
                      <a:endParaRPr lang="en-IN" altLang="en-US"/>
                    </a:p>
                  </a:txBody>
                  <a:tcPr/>
                </a:tc>
                <a:tc hMerge="1">
                  <a:tcPr/>
                </a:tc>
              </a:tr>
              <a:tr h="365760">
                <a:tc>
                  <a:txBody>
                    <a:bodyPr/>
                    <a:p>
                      <a:pPr>
                        <a:buNone/>
                      </a:pPr>
                      <a:r>
                        <a:rPr lang="en-IN" altLang="en-US"/>
                        <a:t>PK</a:t>
                      </a:r>
                      <a:endParaRPr lang="en-IN" altLang="en-US"/>
                    </a:p>
                  </a:txBody>
                  <a:tcPr/>
                </a:tc>
                <a:tc>
                  <a:txBody>
                    <a:bodyPr/>
                    <a:p>
                      <a:pPr>
                        <a:buNone/>
                      </a:pPr>
                      <a:r>
                        <a:rPr lang="en-IN" altLang="en-US" b="1" u="sng"/>
                        <a:t>ActivityId: int</a:t>
                      </a:r>
                      <a:endParaRPr lang="en-IN" altLang="en-US" b="1" u="sng"/>
                    </a:p>
                  </a:txBody>
                  <a:tcPr/>
                </a:tc>
              </a:tr>
              <a:tr h="365760">
                <a:tc>
                  <a:txBody>
                    <a:bodyPr/>
                    <a:p>
                      <a:pPr>
                        <a:buNone/>
                      </a:pPr>
                      <a:endParaRPr lang="en-US"/>
                    </a:p>
                  </a:txBody>
                  <a:tcPr/>
                </a:tc>
                <a:tc>
                  <a:txBody>
                    <a:bodyPr/>
                    <a:p>
                      <a:pPr>
                        <a:buNone/>
                      </a:pPr>
                      <a:r>
                        <a:rPr lang="en-IN" altLang="en-US"/>
                        <a:t>ActivityType: varchar</a:t>
                      </a:r>
                      <a:endParaRPr lang="en-IN" altLang="en-US"/>
                    </a:p>
                  </a:txBody>
                  <a:tcPr/>
                </a:tc>
              </a:tr>
              <a:tr h="365760">
                <a:tc>
                  <a:txBody>
                    <a:bodyPr/>
                    <a:p>
                      <a:pPr>
                        <a:buNone/>
                      </a:pPr>
                      <a:endParaRPr lang="en-US"/>
                    </a:p>
                  </a:txBody>
                  <a:tcPr/>
                </a:tc>
                <a:tc>
                  <a:txBody>
                    <a:bodyPr/>
                    <a:p>
                      <a:pPr>
                        <a:buNone/>
                      </a:pPr>
                      <a:r>
                        <a:rPr lang="en-IN" altLang="en-US"/>
                        <a:t>PostId: uuid</a:t>
                      </a:r>
                      <a:endParaRPr lang="en-IN" altLang="en-US"/>
                    </a:p>
                  </a:txBody>
                  <a:tcPr/>
                </a:tc>
              </a:tr>
              <a:tr h="365760">
                <a:tc>
                  <a:txBody>
                    <a:bodyPr/>
                    <a:p>
                      <a:pPr>
                        <a:buNone/>
                      </a:pPr>
                      <a:endParaRPr lang="en-US"/>
                    </a:p>
                  </a:txBody>
                  <a:tcPr/>
                </a:tc>
                <a:tc>
                  <a:txBody>
                    <a:bodyPr/>
                    <a:p>
                      <a:pPr>
                        <a:buNone/>
                      </a:pPr>
                      <a:r>
                        <a:rPr lang="en-IN" altLang="en-US"/>
                        <a:t>CommentId: uuid | null</a:t>
                      </a:r>
                      <a:endParaRPr lang="en-IN" altLang="en-US"/>
                    </a:p>
                  </a:txBody>
                  <a:tcPr/>
                </a:tc>
              </a:tr>
              <a:tr h="365760">
                <a:tc>
                  <a:txBody>
                    <a:bodyPr/>
                    <a:p>
                      <a:pPr>
                        <a:buNone/>
                      </a:pPr>
                      <a:endParaRPr lang="en-US"/>
                    </a:p>
                  </a:txBody>
                  <a:tcPr/>
                </a:tc>
                <a:tc>
                  <a:txBody>
                    <a:bodyPr/>
                    <a:p>
                      <a:pPr>
                        <a:buNone/>
                      </a:pPr>
                      <a:r>
                        <a:rPr lang="en-IN" altLang="en-US" sz="1800">
                          <a:sym typeface="+mn-ea"/>
                        </a:rPr>
                        <a:t>LikeId: uuid | null</a:t>
                      </a:r>
                      <a:endParaRPr lang="en-IN" altLang="en-US"/>
                    </a:p>
                  </a:txBody>
                  <a:tcPr/>
                </a:tc>
              </a:tr>
              <a:tr h="499745">
                <a:tc>
                  <a:txBody>
                    <a:bodyPr/>
                    <a:p>
                      <a:pPr>
                        <a:buNone/>
                      </a:pPr>
                      <a:endParaRPr lang="en-US"/>
                    </a:p>
                  </a:txBody>
                  <a:tcPr/>
                </a:tc>
                <a:tc>
                  <a:txBody>
                    <a:bodyPr/>
                    <a:p>
                      <a:pPr>
                        <a:buNone/>
                      </a:pPr>
                      <a:r>
                        <a:rPr lang="en-IN" altLang="en-US"/>
                        <a:t>LikeCount: bigint</a:t>
                      </a:r>
                      <a:endParaRPr lang="en-IN" altLang="en-US"/>
                    </a:p>
                  </a:txBody>
                  <a:tcPr/>
                </a:tc>
              </a:tr>
            </a:tbl>
          </a:graphicData>
        </a:graphic>
      </p:graphicFrame>
      <p:sp>
        <p:nvSpPr>
          <p:cNvPr id="19" name="Text Box 18"/>
          <p:cNvSpPr txBox="1"/>
          <p:nvPr/>
        </p:nvSpPr>
        <p:spPr>
          <a:xfrm>
            <a:off x="1283335" y="577850"/>
            <a:ext cx="1778000" cy="368300"/>
          </a:xfrm>
          <a:prstGeom prst="rect">
            <a:avLst/>
          </a:prstGeom>
          <a:noFill/>
        </p:spPr>
        <p:txBody>
          <a:bodyPr wrap="none" rtlCol="0" anchor="t">
            <a:spAutoFit/>
          </a:bodyPr>
          <a:p>
            <a:pPr lvl="0" indent="0">
              <a:buFont typeface="Arial" panose="020B0604020202020204" pitchFamily="34" charset="0"/>
              <a:buNone/>
            </a:pPr>
            <a:r>
              <a:rPr lang="en-IN" altLang="en-US" b="1">
                <a:sym typeface="+mn-ea"/>
              </a:rPr>
              <a:t>Likes, Comments</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27050"/>
            <a:ext cx="5181600" cy="5650230"/>
          </a:xfrm>
        </p:spPr>
        <p:txBody>
          <a:bodyPr/>
          <a:p>
            <a:r>
              <a:rPr lang="en-IN" altLang="en-US" sz="2000" b="1"/>
              <a:t>Posts </a:t>
            </a:r>
            <a:r>
              <a:rPr lang="en-IN" altLang="en-US" sz="2000"/>
              <a:t>(contains post related data)</a:t>
            </a:r>
            <a:endParaRPr lang="en-IN" altLang="en-US" sz="2000"/>
          </a:p>
          <a:p>
            <a:pPr lvl="1"/>
            <a:r>
              <a:rPr lang="en-IN" altLang="en-US" sz="2000"/>
              <a:t>PostId - Primary Key</a:t>
            </a:r>
            <a:endParaRPr lang="en-IN" altLang="en-US" sz="2000"/>
          </a:p>
          <a:p>
            <a:pPr lvl="1"/>
            <a:r>
              <a:rPr lang="en-IN" altLang="en-US" sz="2000"/>
              <a:t>UserId - Posted by userid</a:t>
            </a:r>
            <a:endParaRPr lang="en-IN" altLang="en-US" sz="2000"/>
          </a:p>
          <a:p>
            <a:pPr lvl="1"/>
            <a:r>
              <a:rPr lang="en-IN" altLang="en-US" sz="2000"/>
              <a:t>MediaPath - DFS path</a:t>
            </a:r>
            <a:endParaRPr lang="en-IN" altLang="en-US" sz="2000"/>
          </a:p>
          <a:p>
            <a:pPr lvl="1"/>
            <a:r>
              <a:rPr lang="en-IN" altLang="en-US" sz="2000"/>
              <a:t>CreationDate</a:t>
            </a:r>
            <a:endParaRPr lang="en-IN" altLang="en-US" sz="2000"/>
          </a:p>
          <a:p>
            <a:pPr lvl="1"/>
            <a:endParaRPr lang="en-IN" altLang="en-US" sz="2000"/>
          </a:p>
          <a:p>
            <a:pPr lvl="1"/>
            <a:endParaRPr lang="en-IN" altLang="en-US" sz="2000"/>
          </a:p>
          <a:p>
            <a:pPr lvl="0"/>
            <a:r>
              <a:rPr lang="en-IN" altLang="en-US" sz="2000" b="1"/>
              <a:t>Likes</a:t>
            </a:r>
            <a:endParaRPr lang="en-IN" altLang="en-US" sz="2000"/>
          </a:p>
          <a:p>
            <a:pPr lvl="1"/>
            <a:r>
              <a:rPr lang="en-IN" altLang="en-US" sz="2000"/>
              <a:t>LikeId - Primary Key</a:t>
            </a:r>
            <a:endParaRPr lang="en-IN" altLang="en-US" sz="2000"/>
          </a:p>
          <a:p>
            <a:pPr lvl="1"/>
            <a:r>
              <a:rPr lang="en-IN" altLang="en-US" sz="2000"/>
              <a:t>ActivityId - References whether the like is on a post or on a comment.</a:t>
            </a:r>
            <a:endParaRPr lang="en-IN" altLang="en-US" sz="2000"/>
          </a:p>
          <a:p>
            <a:pPr lvl="1"/>
            <a:r>
              <a:rPr lang="en-IN" altLang="en-US" sz="2000"/>
              <a:t>UserId - person who liked it</a:t>
            </a:r>
            <a:endParaRPr lang="en-IN" altLang="en-US" sz="2000"/>
          </a:p>
          <a:p>
            <a:pPr lvl="1"/>
            <a:r>
              <a:rPr lang="en-IN" altLang="en-US" sz="2000"/>
              <a:t>ParentId - commentId/postId</a:t>
            </a:r>
            <a:endParaRPr lang="en-IN" altLang="en-US" sz="2000"/>
          </a:p>
          <a:p>
            <a:pPr lvl="1"/>
            <a:r>
              <a:rPr lang="en-IN" altLang="en-US" sz="2000"/>
              <a:t>Active - If unliking the like, then soft delete from here</a:t>
            </a:r>
            <a:endParaRPr lang="en-IN" altLang="en-US" sz="2000"/>
          </a:p>
          <a:p>
            <a:pPr lvl="1"/>
            <a:endParaRPr lang="en-IN" altLang="en-US" sz="2000"/>
          </a:p>
          <a:p>
            <a:pPr lvl="1"/>
            <a:endParaRPr lang="en-IN" altLang="en-US" sz="2000"/>
          </a:p>
          <a:p>
            <a:pPr lvl="1"/>
            <a:endParaRPr lang="en-IN" altLang="en-US" sz="2000"/>
          </a:p>
          <a:p>
            <a:pPr lvl="1"/>
            <a:endParaRPr lang="en-IN" altLang="en-US" sz="2000"/>
          </a:p>
        </p:txBody>
      </p:sp>
      <p:sp>
        <p:nvSpPr>
          <p:cNvPr id="4" name="Content Placeholder 3"/>
          <p:cNvSpPr>
            <a:spLocks noGrp="1"/>
          </p:cNvSpPr>
          <p:nvPr>
            <p:ph sz="half" idx="2"/>
          </p:nvPr>
        </p:nvSpPr>
        <p:spPr>
          <a:xfrm>
            <a:off x="6172200" y="527050"/>
            <a:ext cx="5181600" cy="5650230"/>
          </a:xfrm>
        </p:spPr>
        <p:txBody>
          <a:bodyPr>
            <a:normAutofit lnSpcReduction="10000"/>
          </a:bodyPr>
          <a:p>
            <a:r>
              <a:rPr lang="en-IN" altLang="en-US" sz="2000" b="1"/>
              <a:t>Comments </a:t>
            </a:r>
            <a:endParaRPr lang="en-IN" altLang="en-US" sz="2000"/>
          </a:p>
          <a:p>
            <a:pPr lvl="1"/>
            <a:r>
              <a:rPr lang="en-IN" altLang="en-US" sz="2000"/>
              <a:t>CommentId</a:t>
            </a:r>
            <a:endParaRPr lang="en-IN" altLang="en-US" sz="2000"/>
          </a:p>
          <a:p>
            <a:pPr lvl="1"/>
            <a:r>
              <a:rPr lang="en-IN" altLang="en-US" sz="2000"/>
              <a:t>PostId - since comment can only be on a post</a:t>
            </a:r>
            <a:endParaRPr lang="en-IN" altLang="en-US" sz="2000"/>
          </a:p>
          <a:p>
            <a:pPr lvl="1"/>
            <a:r>
              <a:rPr lang="en-IN" altLang="en-US" sz="2000"/>
              <a:t>UserId - User who commented.</a:t>
            </a:r>
            <a:endParaRPr lang="en-IN" altLang="en-US" sz="2000"/>
          </a:p>
          <a:p>
            <a:pPr lvl="1"/>
            <a:r>
              <a:rPr lang="en-IN" altLang="en-US" sz="2000"/>
              <a:t>Comment</a:t>
            </a:r>
            <a:endParaRPr lang="en-IN" altLang="en-US" sz="2000"/>
          </a:p>
          <a:p>
            <a:pPr lvl="1"/>
            <a:r>
              <a:rPr lang="en-IN" altLang="en-US" sz="2000"/>
              <a:t>Active - (for soft delete purpose).</a:t>
            </a:r>
            <a:endParaRPr lang="en-IN" altLang="en-US" sz="2000"/>
          </a:p>
          <a:p>
            <a:pPr lvl="1"/>
            <a:endParaRPr lang="en-IN" altLang="en-US" sz="2000"/>
          </a:p>
          <a:p>
            <a:pPr lvl="0"/>
            <a:r>
              <a:rPr lang="en-IN" altLang="en-US" sz="2000" b="1"/>
              <a:t>Activity </a:t>
            </a:r>
            <a:r>
              <a:rPr lang="en-IN" altLang="en-US" sz="2000"/>
              <a:t>- Since we have two types of activities on our post, so this table contains the type and the metadata about it.</a:t>
            </a:r>
            <a:endParaRPr lang="en-IN" altLang="en-US" sz="2000"/>
          </a:p>
          <a:p>
            <a:pPr lvl="1"/>
            <a:r>
              <a:rPr lang="en-IN" altLang="en-US" sz="2000"/>
              <a:t>ActivityId - PK</a:t>
            </a:r>
            <a:endParaRPr lang="en-IN" altLang="en-US" sz="2000"/>
          </a:p>
          <a:p>
            <a:pPr lvl="1"/>
            <a:r>
              <a:rPr lang="en-IN" altLang="en-US" sz="2000"/>
              <a:t>ActivityType - Enum {comment, like}</a:t>
            </a:r>
            <a:endParaRPr lang="en-IN" altLang="en-US" sz="2000"/>
          </a:p>
          <a:p>
            <a:pPr lvl="1"/>
            <a:r>
              <a:rPr lang="en-IN" altLang="en-US" sz="2000"/>
              <a:t>PostId - post on which activity occured</a:t>
            </a:r>
            <a:endParaRPr lang="en-IN" altLang="en-US" sz="2000"/>
          </a:p>
          <a:p>
            <a:pPr lvl="1"/>
            <a:r>
              <a:rPr lang="en-IN" altLang="en-US" sz="2000"/>
              <a:t>LikeId</a:t>
            </a:r>
            <a:endParaRPr lang="en-IN" altLang="en-US" sz="2000"/>
          </a:p>
          <a:p>
            <a:pPr lvl="1"/>
            <a:r>
              <a:rPr lang="en-IN" altLang="en-US" sz="2000"/>
              <a:t>CommentId</a:t>
            </a:r>
            <a:endParaRPr lang="en-IN" altLang="en-US" sz="2000"/>
          </a:p>
          <a:p>
            <a:pPr lvl="1"/>
            <a:r>
              <a:rPr lang="en-IN" altLang="en-US" sz="2000"/>
              <a:t>LikeCount - a counter to fetch the data about the post easily.</a:t>
            </a:r>
            <a:endParaRPr lang="en-IN" altLang="en-US" sz="2000"/>
          </a:p>
          <a:p>
            <a:pPr lvl="1"/>
            <a:endParaRPr lang="en-IN" alt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5. Design Deep Dive</a:t>
            </a:r>
            <a:endParaRPr lang="en-IN" altLang="en-US" b="1"/>
          </a:p>
        </p:txBody>
      </p:sp>
      <p:sp>
        <p:nvSpPr>
          <p:cNvPr id="3" name="Content Placeholder 2"/>
          <p:cNvSpPr>
            <a:spLocks noGrp="1"/>
          </p:cNvSpPr>
          <p:nvPr>
            <p:ph sz="half" idx="1"/>
          </p:nvPr>
        </p:nvSpPr>
        <p:spPr/>
        <p:txBody>
          <a:bodyPr/>
          <a:p>
            <a:pPr marL="0" indent="0">
              <a:buNone/>
            </a:pPr>
            <a:r>
              <a:rPr lang="en-IN" altLang="en-US" sz="2000" b="1"/>
              <a:t>A. </a:t>
            </a:r>
            <a:r>
              <a:rPr lang="en-US" sz="2000" b="1"/>
              <a:t>Feed publishing deep dive</a:t>
            </a:r>
            <a:endParaRPr lang="en-US" sz="2000" b="1"/>
          </a:p>
          <a:p>
            <a:pPr marL="0" indent="0">
              <a:buNone/>
            </a:pPr>
            <a:endParaRPr lang="en-US" sz="2000" b="1"/>
          </a:p>
          <a:p>
            <a:pPr marL="0" indent="0">
              <a:buNone/>
            </a:pPr>
            <a:r>
              <a:rPr lang="en-IN" altLang="en-US" sz="2000" b="1"/>
              <a:t>1. Web Servers</a:t>
            </a:r>
            <a:endParaRPr lang="en-US" sz="2000" b="1"/>
          </a:p>
          <a:p>
            <a:pPr marL="0" indent="0">
              <a:buNone/>
            </a:pPr>
            <a:r>
              <a:rPr lang="en-US" sz="2000"/>
              <a:t>Besides communicating with clients, web servers enforce authentication and rate-limiting.</a:t>
            </a:r>
            <a:endParaRPr lang="en-US" sz="2000"/>
          </a:p>
          <a:p>
            <a:pPr marL="0" indent="0">
              <a:buNone/>
            </a:pPr>
            <a:r>
              <a:rPr lang="en-US" sz="2000"/>
              <a:t>Only users signed in with valid auth_token are allowed to make posts. The system limits the number of posts a user can make within a certain period, vital to prevent spam and abusive content.</a:t>
            </a:r>
            <a:endParaRPr lang="en-US" sz="2000"/>
          </a:p>
        </p:txBody>
      </p:sp>
      <p:pic>
        <p:nvPicPr>
          <p:cNvPr id="4" name="Content Placeholder 3"/>
          <p:cNvPicPr>
            <a:picLocks noChangeAspect="1"/>
          </p:cNvPicPr>
          <p:nvPr>
            <p:ph sz="half" idx="2"/>
          </p:nvPr>
        </p:nvPicPr>
        <p:blipFill>
          <a:blip r:embed="rId1"/>
          <a:stretch>
            <a:fillRect/>
          </a:stretch>
        </p:blipFill>
        <p:spPr>
          <a:xfrm>
            <a:off x="6001385" y="134620"/>
            <a:ext cx="6049645" cy="67030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92125"/>
            <a:ext cx="10516235" cy="5685155"/>
          </a:xfrm>
        </p:spPr>
        <p:txBody>
          <a:bodyPr>
            <a:normAutofit lnSpcReduction="10000"/>
          </a:bodyPr>
          <a:p>
            <a:pPr marL="0" indent="0">
              <a:buNone/>
            </a:pPr>
            <a:r>
              <a:rPr lang="en-IN" altLang="en-US" sz="2000" b="1"/>
              <a:t>2. </a:t>
            </a:r>
            <a:r>
              <a:rPr lang="en-US" sz="2000" b="1"/>
              <a:t>Fanout service </a:t>
            </a:r>
            <a:endParaRPr lang="en-US" sz="2000"/>
          </a:p>
          <a:p>
            <a:pPr marL="0" indent="0">
              <a:buNone/>
            </a:pPr>
            <a:r>
              <a:rPr lang="en-US" sz="2000"/>
              <a:t>Fanout is the process of delivering a post to all friends. Two types of fanout models are: </a:t>
            </a:r>
            <a:endParaRPr lang="en-US" sz="2000"/>
          </a:p>
          <a:p>
            <a:pPr marL="0" indent="0">
              <a:buNone/>
            </a:pPr>
            <a:r>
              <a:rPr lang="en-IN" altLang="en-US" sz="2000"/>
              <a:t>	</a:t>
            </a:r>
            <a:r>
              <a:rPr lang="en-US" sz="2000"/>
              <a:t>fanout on write (also called push model) and </a:t>
            </a:r>
            <a:endParaRPr lang="en-US" sz="2000"/>
          </a:p>
          <a:p>
            <a:pPr marL="0" indent="0">
              <a:buNone/>
            </a:pPr>
            <a:r>
              <a:rPr lang="en-IN" altLang="en-US" sz="2000"/>
              <a:t>	</a:t>
            </a:r>
            <a:r>
              <a:rPr lang="en-US" sz="2000"/>
              <a:t>fanout on read (also called pull model). </a:t>
            </a:r>
            <a:endParaRPr lang="en-US" sz="2000"/>
          </a:p>
          <a:p>
            <a:pPr marL="0" indent="0">
              <a:buNone/>
            </a:pPr>
            <a:r>
              <a:rPr lang="en-US" sz="2000"/>
              <a:t>Both models have pros and cons. We explain their workflows and explore the best approach to support our system.</a:t>
            </a:r>
            <a:endParaRPr lang="en-US" sz="2000"/>
          </a:p>
          <a:p>
            <a:pPr marL="0" indent="0">
              <a:buNone/>
            </a:pPr>
            <a:r>
              <a:rPr lang="en-US" sz="2000" b="1"/>
              <a:t>Fanout on write </a:t>
            </a:r>
            <a:r>
              <a:rPr lang="en-IN" altLang="en-US" sz="2000" b="1"/>
              <a:t>- </a:t>
            </a:r>
            <a:r>
              <a:rPr lang="en-US" sz="2000"/>
              <a:t>With this approach, news feed is</a:t>
            </a:r>
            <a:r>
              <a:rPr lang="en-US" sz="2000" b="1"/>
              <a:t> pre-computed</a:t>
            </a:r>
            <a:r>
              <a:rPr lang="en-US" sz="2000"/>
              <a:t> during write time. </a:t>
            </a:r>
            <a:endParaRPr lang="en-US" sz="2000"/>
          </a:p>
          <a:p>
            <a:pPr marL="0" indent="0">
              <a:buNone/>
            </a:pPr>
            <a:r>
              <a:rPr lang="en-US" sz="2000"/>
              <a:t>A new post is delivered to friends’ cache immediately after it is published. </a:t>
            </a:r>
            <a:endParaRPr lang="en-US" sz="2000"/>
          </a:p>
          <a:p>
            <a:pPr marL="0" indent="0">
              <a:buNone/>
            </a:pPr>
            <a:r>
              <a:rPr lang="en-US" sz="2000"/>
              <a:t>       Pros: </a:t>
            </a:r>
            <a:endParaRPr lang="en-US" sz="2000"/>
          </a:p>
          <a:p>
            <a:pPr marL="0" indent="0">
              <a:buNone/>
            </a:pPr>
            <a:r>
              <a:rPr lang="en-IN" altLang="en-US" sz="2000"/>
              <a:t>	</a:t>
            </a:r>
            <a:r>
              <a:rPr lang="en-US" sz="2000"/>
              <a:t>• The news feed is generated in real-time and can be pushed to friends immediately. </a:t>
            </a:r>
            <a:endParaRPr lang="en-US" sz="2000"/>
          </a:p>
          <a:p>
            <a:pPr marL="0" indent="0">
              <a:buNone/>
            </a:pPr>
            <a:r>
              <a:rPr lang="en-IN" altLang="en-US" sz="2000"/>
              <a:t>	</a:t>
            </a:r>
            <a:r>
              <a:rPr lang="en-US" sz="2000"/>
              <a:t>• Fetching news feed is fast because the news feed is pre-computed during write time.      </a:t>
            </a:r>
            <a:endParaRPr lang="en-US" sz="2000"/>
          </a:p>
          <a:p>
            <a:pPr marL="0" indent="0">
              <a:buNone/>
            </a:pPr>
            <a:r>
              <a:rPr lang="en-US" sz="2000"/>
              <a:t>       Cons: </a:t>
            </a:r>
            <a:endParaRPr lang="en-US" sz="2000"/>
          </a:p>
          <a:p>
            <a:pPr marL="0" indent="0">
              <a:buNone/>
            </a:pPr>
            <a:r>
              <a:rPr lang="en-IN" altLang="en-US" sz="2000"/>
              <a:t>	</a:t>
            </a:r>
            <a:r>
              <a:rPr lang="en-US" sz="2000"/>
              <a:t>• If a </a:t>
            </a:r>
            <a:r>
              <a:rPr lang="en-US" sz="2000" b="1"/>
              <a:t>user has many friends</a:t>
            </a:r>
            <a:r>
              <a:rPr lang="en-US" sz="2000"/>
              <a:t>, fetching the friend list and generating news feeds for all of </a:t>
            </a:r>
            <a:r>
              <a:rPr lang="en-IN" altLang="en-US" sz="2000"/>
              <a:t>	</a:t>
            </a:r>
            <a:r>
              <a:rPr lang="en-US" sz="2000"/>
              <a:t>them are </a:t>
            </a:r>
            <a:r>
              <a:rPr lang="en-US" sz="2000" b="1"/>
              <a:t>slow and time consuming</a:t>
            </a:r>
            <a:r>
              <a:rPr lang="en-US" sz="2000"/>
              <a:t>. It is called hotkey problem. </a:t>
            </a:r>
            <a:endParaRPr lang="en-US" sz="2000"/>
          </a:p>
          <a:p>
            <a:pPr marL="0" indent="0">
              <a:buNone/>
            </a:pPr>
            <a:r>
              <a:rPr lang="en-IN" altLang="en-US" sz="2000"/>
              <a:t>	</a:t>
            </a:r>
            <a:r>
              <a:rPr lang="en-US" sz="2000"/>
              <a:t>• For </a:t>
            </a:r>
            <a:r>
              <a:rPr lang="en-US" sz="2000" b="1"/>
              <a:t>inactive users</a:t>
            </a:r>
            <a:r>
              <a:rPr lang="en-US" sz="2000"/>
              <a:t> or those rarely log in, pre-computing news feeds waste computing </a:t>
            </a:r>
            <a:r>
              <a:rPr lang="en-IN" altLang="en-US" sz="2000"/>
              <a:t>	</a:t>
            </a:r>
            <a:r>
              <a:rPr lang="en-US" sz="2000"/>
              <a:t>resources.</a:t>
            </a:r>
            <a:endParaRPr lang="en-US" sz="2000"/>
          </a:p>
          <a:p>
            <a:pPr marL="0" indent="0">
              <a:buNone/>
            </a:pPr>
            <a:endParaRPr lang="en-US" sz="2000"/>
          </a:p>
          <a:p>
            <a:pPr marL="0" indent="0">
              <a:buNone/>
            </a:pP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92125"/>
            <a:ext cx="10516235" cy="5685155"/>
          </a:xfrm>
        </p:spPr>
        <p:txBody>
          <a:bodyPr>
            <a:normAutofit lnSpcReduction="10000"/>
          </a:bodyPr>
          <a:p>
            <a:pPr marL="0" indent="0">
              <a:buNone/>
            </a:pPr>
            <a:r>
              <a:rPr sz="2000" b="1"/>
              <a:t>Fanout on read </a:t>
            </a:r>
            <a:r>
              <a:rPr lang="en-IN" sz="2000" b="1"/>
              <a:t>-</a:t>
            </a:r>
            <a:r>
              <a:rPr sz="2000"/>
              <a:t> The news feed is generated during read time. This is an on-demand model. Recent posts are pulled when a user loads her home page. </a:t>
            </a:r>
            <a:endParaRPr sz="2000"/>
          </a:p>
          <a:p>
            <a:pPr marL="0" indent="0">
              <a:buNone/>
            </a:pPr>
            <a:r>
              <a:rPr sz="2000"/>
              <a:t>      Pros: </a:t>
            </a:r>
            <a:endParaRPr sz="2000"/>
          </a:p>
          <a:p>
            <a:pPr marL="0" indent="0">
              <a:buNone/>
            </a:pPr>
            <a:r>
              <a:rPr lang="en-IN" sz="2000"/>
              <a:t>	</a:t>
            </a:r>
            <a:r>
              <a:rPr sz="2000"/>
              <a:t>• For </a:t>
            </a:r>
            <a:r>
              <a:rPr sz="2000" b="1"/>
              <a:t>inactive users</a:t>
            </a:r>
            <a:r>
              <a:rPr sz="2000"/>
              <a:t> or those who rarely log in, fanout on read works better because it will </a:t>
            </a:r>
            <a:r>
              <a:rPr lang="en-IN" sz="2000"/>
              <a:t>	</a:t>
            </a:r>
            <a:r>
              <a:rPr sz="2000"/>
              <a:t>not waste computing resources on them. </a:t>
            </a:r>
            <a:endParaRPr sz="2000"/>
          </a:p>
          <a:p>
            <a:pPr marL="0" indent="0">
              <a:buNone/>
            </a:pPr>
            <a:r>
              <a:rPr lang="en-IN" sz="2000"/>
              <a:t>	</a:t>
            </a:r>
            <a:r>
              <a:rPr sz="2000"/>
              <a:t>• Data is not pushed to friends so there is no hotkey problem. </a:t>
            </a:r>
            <a:endParaRPr sz="2000"/>
          </a:p>
          <a:p>
            <a:pPr marL="0" indent="0">
              <a:buNone/>
            </a:pPr>
            <a:r>
              <a:rPr sz="2000"/>
              <a:t>      Cons: </a:t>
            </a:r>
            <a:endParaRPr sz="2000"/>
          </a:p>
          <a:p>
            <a:pPr marL="0" indent="0">
              <a:buNone/>
            </a:pPr>
            <a:r>
              <a:rPr lang="en-IN" sz="2000"/>
              <a:t>	</a:t>
            </a:r>
            <a:r>
              <a:rPr sz="2000"/>
              <a:t>• Fetching the news feed is slow as the news feed is not pre-computed.</a:t>
            </a:r>
            <a:endParaRPr sz="2000"/>
          </a:p>
          <a:p>
            <a:pPr marL="0" indent="0">
              <a:buNone/>
            </a:pPr>
            <a:endParaRPr sz="2000"/>
          </a:p>
          <a:p>
            <a:pPr marL="0" indent="0">
              <a:buNone/>
            </a:pPr>
            <a:r>
              <a:rPr sz="2000"/>
              <a:t>We adopt a hybrid approach to get benefits of both approaches and avoid pitfalls in them. </a:t>
            </a:r>
            <a:endParaRPr sz="2000"/>
          </a:p>
          <a:p>
            <a:pPr marL="0" indent="0">
              <a:buNone/>
            </a:pPr>
            <a:r>
              <a:rPr sz="2000"/>
              <a:t>Since fetching the news feed fast is crucial, we use a push model for the majority of users. </a:t>
            </a:r>
            <a:endParaRPr sz="2000"/>
          </a:p>
          <a:p>
            <a:pPr marL="0" indent="0">
              <a:buNone/>
            </a:pPr>
            <a:r>
              <a:rPr sz="2000"/>
              <a:t>For celebrities or users who have many friends/followers, we let followers pull news content on-demand to avoid system overload.</a:t>
            </a:r>
            <a:endParaRPr sz="2000"/>
          </a:p>
          <a:p>
            <a:pPr marL="0" indent="0">
              <a:buNone/>
            </a:pP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Content Placeholder 3"/>
          <p:cNvSpPr>
            <a:spLocks noGrp="1"/>
          </p:cNvSpPr>
          <p:nvPr>
            <p:ph sz="half" idx="2"/>
          </p:nvPr>
        </p:nvSpPr>
        <p:spPr>
          <a:xfrm>
            <a:off x="327660" y="180340"/>
            <a:ext cx="6575425" cy="6454775"/>
          </a:xfrm>
        </p:spPr>
        <p:txBody>
          <a:bodyPr>
            <a:normAutofit fontScale="90000" lnSpcReduction="10000"/>
          </a:bodyPr>
          <a:p>
            <a:pPr marL="0" indent="0">
              <a:buNone/>
            </a:pPr>
            <a:r>
              <a:rPr lang="en-US" sz="2000"/>
              <a:t>The fanout service works as follows: </a:t>
            </a:r>
            <a:endParaRPr lang="en-US" sz="2000"/>
          </a:p>
          <a:p>
            <a:pPr marL="0" indent="0">
              <a:buNone/>
            </a:pPr>
            <a:r>
              <a:rPr lang="en-US" sz="2000"/>
              <a:t>1. Fetch friend IDs from the graph database. Graph databases are suited for managing friend relationship and friend recommendations. </a:t>
            </a:r>
            <a:endParaRPr lang="en-US" sz="2000"/>
          </a:p>
          <a:p>
            <a:pPr marL="0" indent="0">
              <a:buNone/>
            </a:pPr>
            <a:endParaRPr lang="en-US" sz="2000"/>
          </a:p>
          <a:p>
            <a:pPr marL="0" indent="0">
              <a:buNone/>
            </a:pPr>
            <a:r>
              <a:rPr lang="en-US" sz="2000"/>
              <a:t>2. Get friends info from the user cache. The system then filters out friends based on user settings. For example, if you mute someone, her posts will not show up on your news feed even though you are still friends. Another reason why posts may not show is that a user could selectively share information with specific friends or hide it from other people. </a:t>
            </a:r>
            <a:endParaRPr lang="en-US" sz="2000"/>
          </a:p>
          <a:p>
            <a:pPr marL="0" indent="0">
              <a:buNone/>
            </a:pPr>
            <a:endParaRPr lang="en-US" sz="2000"/>
          </a:p>
          <a:p>
            <a:pPr marL="0" indent="0">
              <a:buNone/>
            </a:pPr>
            <a:r>
              <a:rPr lang="en-US" sz="2000"/>
              <a:t>3. Send friends list and new post ID to the message queue. </a:t>
            </a:r>
            <a:endParaRPr lang="en-US" sz="2000"/>
          </a:p>
          <a:p>
            <a:pPr marL="0" indent="0">
              <a:buNone/>
            </a:pPr>
            <a:r>
              <a:rPr lang="en-US" sz="2000"/>
              <a:t>4. Fanout workers fetch data from the message queue and store news feed data in the news feed cache. </a:t>
            </a:r>
            <a:r>
              <a:rPr lang="en-IN" altLang="en-US" sz="2000"/>
              <a:t>T</a:t>
            </a:r>
            <a:r>
              <a:rPr lang="en-US" sz="2000"/>
              <a:t>he news feed cache </a:t>
            </a:r>
            <a:r>
              <a:rPr lang="en-IN" altLang="en-US" sz="2000"/>
              <a:t>is as a</a:t>
            </a:r>
            <a:r>
              <a:rPr lang="en-US" sz="2000"/>
              <a:t> &lt;post_id, user_id&gt; mapping table. </a:t>
            </a:r>
            <a:endParaRPr lang="en-US" sz="2000"/>
          </a:p>
          <a:p>
            <a:pPr marL="0" indent="0">
              <a:buNone/>
            </a:pPr>
            <a:r>
              <a:rPr lang="en-US" sz="2000"/>
              <a:t>Whenever a new post is made, it will be appended to the news feed table</a:t>
            </a:r>
            <a:r>
              <a:rPr lang="en-IN" altLang="en-US" sz="2000"/>
              <a:t>. </a:t>
            </a:r>
            <a:r>
              <a:rPr lang="en-US" sz="2000"/>
              <a:t>The memory consumption can become very large if we store the entire user and post objects in the cache. Thus, only IDs are stored. To keep the memory size small, we set a configurable limit. </a:t>
            </a:r>
            <a:endParaRPr lang="en-US" sz="2000"/>
          </a:p>
          <a:p>
            <a:pPr marL="0" indent="0">
              <a:buNone/>
            </a:pPr>
            <a:r>
              <a:rPr lang="en-US" sz="2000"/>
              <a:t>The chance of a user scrolling through thousands of posts in news feed is slim. Most users are only interested in the latest content, so the cache miss rate is low. </a:t>
            </a:r>
            <a:endParaRPr lang="en-US" sz="2000"/>
          </a:p>
          <a:p>
            <a:pPr marL="0" indent="0">
              <a:buNone/>
            </a:pPr>
            <a:r>
              <a:rPr lang="en-US" sz="2000"/>
              <a:t>5. Store &lt;post_id, user_id &gt; in news feed cache. </a:t>
            </a:r>
            <a:endParaRPr lang="en-US" sz="2000"/>
          </a:p>
        </p:txBody>
      </p:sp>
      <p:pic>
        <p:nvPicPr>
          <p:cNvPr id="5" name="Content Placeholder 4"/>
          <p:cNvPicPr>
            <a:picLocks noChangeAspect="1"/>
          </p:cNvPicPr>
          <p:nvPr>
            <p:ph sz="half" idx="1"/>
          </p:nvPr>
        </p:nvPicPr>
        <p:blipFill>
          <a:blip r:embed="rId1"/>
          <a:stretch>
            <a:fillRect/>
          </a:stretch>
        </p:blipFill>
        <p:spPr>
          <a:xfrm>
            <a:off x="7084060" y="336550"/>
            <a:ext cx="4864100" cy="4351655"/>
          </a:xfrm>
          <a:prstGeom prst="rect">
            <a:avLst/>
          </a:prstGeom>
        </p:spPr>
      </p:pic>
      <p:pic>
        <p:nvPicPr>
          <p:cNvPr id="6" name="Picture 5"/>
          <p:cNvPicPr>
            <a:picLocks noChangeAspect="1"/>
          </p:cNvPicPr>
          <p:nvPr/>
        </p:nvPicPr>
        <p:blipFill>
          <a:blip r:embed="rId2"/>
          <a:stretch>
            <a:fillRect/>
          </a:stretch>
        </p:blipFill>
        <p:spPr>
          <a:xfrm>
            <a:off x="7219315" y="4688205"/>
            <a:ext cx="2084070" cy="211709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18160"/>
            <a:ext cx="5462270" cy="5659120"/>
          </a:xfrm>
        </p:spPr>
        <p:txBody>
          <a:bodyPr>
            <a:normAutofit fontScale="70000"/>
          </a:bodyPr>
          <a:p>
            <a:pPr marL="0" indent="0">
              <a:buNone/>
            </a:pPr>
            <a:r>
              <a:rPr lang="en-IN" altLang="en-US" sz="2000" b="1"/>
              <a:t>B. </a:t>
            </a:r>
            <a:r>
              <a:rPr lang="en-US" sz="2000" b="1"/>
              <a:t>Newsfeed retrieval deep dive</a:t>
            </a:r>
            <a:endParaRPr lang="en-US" sz="2000"/>
          </a:p>
          <a:p>
            <a:pPr marL="0" indent="0">
              <a:buNone/>
            </a:pPr>
            <a:r>
              <a:rPr lang="en-IN" altLang="en-US" sz="2000"/>
              <a:t>M</a:t>
            </a:r>
            <a:r>
              <a:rPr lang="en-US" sz="2000"/>
              <a:t>edia content (images, videos, etc.) are stored in </a:t>
            </a:r>
            <a:r>
              <a:rPr lang="en-IN" altLang="en-US" sz="2000"/>
              <a:t>DFS behind a CDN </a:t>
            </a:r>
            <a:r>
              <a:rPr lang="en-US" sz="2000"/>
              <a:t>for fast retrieval.</a:t>
            </a:r>
            <a:endParaRPr lang="en-US" sz="2000"/>
          </a:p>
          <a:p>
            <a:pPr marL="0" indent="0">
              <a:buNone/>
            </a:pPr>
            <a:r>
              <a:rPr lang="en-US" sz="2000"/>
              <a:t>1. A user sends a request to retrieve her news feed. The request looks like this: /v1/me/feed </a:t>
            </a:r>
            <a:endParaRPr lang="en-US" sz="2000"/>
          </a:p>
          <a:p>
            <a:pPr marL="0" indent="0">
              <a:buNone/>
            </a:pPr>
            <a:endParaRPr lang="en-US" sz="2000"/>
          </a:p>
          <a:p>
            <a:pPr marL="0" indent="0">
              <a:buNone/>
            </a:pPr>
            <a:r>
              <a:rPr lang="en-US" sz="2000"/>
              <a:t>2. The load balancer redistributes requests to web servers. </a:t>
            </a:r>
            <a:endParaRPr lang="en-US" sz="2000"/>
          </a:p>
          <a:p>
            <a:pPr marL="0" indent="0">
              <a:buNone/>
            </a:pPr>
            <a:endParaRPr lang="en-US" sz="2000"/>
          </a:p>
          <a:p>
            <a:pPr marL="0" indent="0">
              <a:buNone/>
            </a:pPr>
            <a:r>
              <a:rPr lang="en-US" sz="2000"/>
              <a:t>3. Web servers call the news feed service to fetch news feeds. </a:t>
            </a:r>
            <a:endParaRPr lang="en-US" sz="2000"/>
          </a:p>
          <a:p>
            <a:pPr marL="0" indent="0">
              <a:buNone/>
            </a:pPr>
            <a:endParaRPr lang="en-US" sz="2000"/>
          </a:p>
          <a:p>
            <a:pPr marL="0" indent="0">
              <a:buNone/>
            </a:pPr>
            <a:r>
              <a:rPr lang="en-US" sz="2000"/>
              <a:t>4. News feed service gets a list post IDs from the news feed cache. </a:t>
            </a:r>
            <a:endParaRPr lang="en-US" sz="2000"/>
          </a:p>
          <a:p>
            <a:pPr marL="0" indent="0">
              <a:buNone/>
            </a:pPr>
            <a:endParaRPr lang="en-US" sz="2000"/>
          </a:p>
          <a:p>
            <a:pPr marL="0" indent="0">
              <a:buNone/>
            </a:pPr>
            <a:r>
              <a:rPr lang="en-US" sz="2000"/>
              <a:t>5. A user’s news feed is more than just a list of feed IDs. It contains username, profile picture, post content, post image, etc. Thus, the news feed service fetches the complete user and post objects from caches (user cache and post cache) to construct the fully hydrated news feed. </a:t>
            </a:r>
            <a:endParaRPr lang="en-US" sz="2000"/>
          </a:p>
          <a:p>
            <a:pPr marL="0" indent="0">
              <a:buNone/>
            </a:pPr>
            <a:endParaRPr lang="en-US" sz="2000"/>
          </a:p>
          <a:p>
            <a:pPr marL="0" indent="0">
              <a:buNone/>
            </a:pPr>
            <a:r>
              <a:rPr lang="en-US" sz="2000"/>
              <a:t>6. The fully hydrated news feed is returned in JSON format back to the client for rendering.</a:t>
            </a:r>
            <a:endParaRPr lang="en-US" sz="2000"/>
          </a:p>
        </p:txBody>
      </p:sp>
      <p:pic>
        <p:nvPicPr>
          <p:cNvPr id="5" name="Picture 4"/>
          <p:cNvPicPr>
            <a:picLocks noChangeAspect="1"/>
          </p:cNvPicPr>
          <p:nvPr/>
        </p:nvPicPr>
        <p:blipFill>
          <a:blip r:embed="rId1"/>
          <a:stretch>
            <a:fillRect/>
          </a:stretch>
        </p:blipFill>
        <p:spPr>
          <a:xfrm>
            <a:off x="6301105" y="252730"/>
            <a:ext cx="5462905" cy="55721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9857</Words>
  <Application>WPS Presentation</Application>
  <PresentationFormat>Widescreen</PresentationFormat>
  <Paragraphs>360</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Arial</vt:lpstr>
      <vt:lpstr>SimSun</vt:lpstr>
      <vt:lpstr>Wingdings</vt:lpstr>
      <vt:lpstr>Consolas</vt:lpstr>
      <vt:lpstr>Calibri Light</vt:lpstr>
      <vt:lpstr>Calibri</vt:lpstr>
      <vt:lpstr>Microsoft YaHei</vt:lpstr>
      <vt:lpstr>Arial Unicode MS</vt:lpstr>
      <vt:lpstr>Office Theme</vt:lpstr>
      <vt:lpstr>Design Instagram</vt:lpstr>
      <vt:lpstr>Contents</vt:lpstr>
      <vt:lpstr>1. Requirement Gathering</vt:lpstr>
      <vt:lpstr>PowerPoint 演示文稿</vt:lpstr>
      <vt:lpstr>2. Capacity Estimation</vt:lpstr>
      <vt:lpstr>3. High-Level Design</vt:lpstr>
      <vt:lpstr>PowerPoint 演示文稿</vt:lpstr>
      <vt:lpstr>PowerPoint 演示文稿</vt:lpstr>
      <vt:lpstr>PowerPoint 演示文稿</vt:lpstr>
      <vt:lpstr>4. Database Design</vt:lpstr>
      <vt:lpstr>PowerPoint 演示文稿</vt:lpstr>
      <vt:lpstr>PowerPoint 演示文稿</vt:lpstr>
      <vt:lpstr>PowerPoint 演示文稿</vt:lpstr>
      <vt:lpstr>PowerPoint 演示文稿</vt:lpstr>
      <vt:lpstr>5. Design Deep Dive</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Instagram</dc:title>
  <dc:creator/>
  <cp:lastModifiedBy>avish</cp:lastModifiedBy>
  <cp:revision>87</cp:revision>
  <dcterms:created xsi:type="dcterms:W3CDTF">2025-01-16T11:34:00Z</dcterms:created>
  <dcterms:modified xsi:type="dcterms:W3CDTF">2025-01-17T05:27:04Z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1033-11.2.0.9327</vt:lpwstr>
  </property>
</Properties>
</file>