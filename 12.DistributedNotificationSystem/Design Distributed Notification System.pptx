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2"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4.png"/><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6.png"/><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9.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11.png"/><Relationship Id="rId1" Type="http://schemas.openxmlformats.org/officeDocument/2006/relationships/image" Target="../media/image10.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altLang="en-US" b="1" dirty="0"/>
              <a:t>Design Distributed Notification System</a:t>
            </a:r>
            <a:endParaRPr lang="en-IN" altLang="en-US" b="1" dirty="0"/>
          </a:p>
        </p:txBody>
      </p:sp>
      <p:sp>
        <p:nvSpPr>
          <p:cNvPr id="3" name="Subtitle 2"/>
          <p:cNvSpPr>
            <a:spLocks noGrp="1"/>
          </p:cNvSpPr>
          <p:nvPr>
            <p:ph type="subTitle" idx="1"/>
          </p:nvPr>
        </p:nvSpPr>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Title 5"/>
          <p:cNvSpPr>
            <a:spLocks noGrp="1"/>
          </p:cNvSpPr>
          <p:nvPr>
            <p:ph type="title"/>
          </p:nvPr>
        </p:nvSpPr>
        <p:spPr/>
        <p:txBody>
          <a:bodyPr/>
          <a:p>
            <a:endParaRPr lang="en-US"/>
          </a:p>
        </p:txBody>
      </p:sp>
      <p:pic>
        <p:nvPicPr>
          <p:cNvPr id="4" name="Content Placeholder 3"/>
          <p:cNvPicPr>
            <a:picLocks noChangeAspect="1"/>
          </p:cNvPicPr>
          <p:nvPr>
            <p:ph sz="half" idx="1"/>
          </p:nvPr>
        </p:nvPicPr>
        <p:blipFill>
          <a:blip r:embed="rId1"/>
          <a:stretch>
            <a:fillRect/>
          </a:stretch>
        </p:blipFill>
        <p:spPr>
          <a:xfrm>
            <a:off x="838200" y="2543810"/>
            <a:ext cx="5181600" cy="2914650"/>
          </a:xfrm>
          <a:prstGeom prst="rect">
            <a:avLst/>
          </a:prstGeom>
        </p:spPr>
      </p:pic>
      <p:pic>
        <p:nvPicPr>
          <p:cNvPr id="5" name="Content Placeholder 4"/>
          <p:cNvPicPr>
            <a:picLocks noChangeAspect="1"/>
          </p:cNvPicPr>
          <p:nvPr>
            <p:ph sz="half" idx="2"/>
          </p:nvPr>
        </p:nvPicPr>
        <p:blipFill>
          <a:blip r:embed="rId1"/>
          <a:stretch>
            <a:fillRect/>
          </a:stretch>
        </p:blipFill>
        <p:spPr>
          <a:xfrm>
            <a:off x="6172200" y="2543810"/>
            <a:ext cx="5181600" cy="2914650"/>
          </a:xfrm>
          <a:prstGeom prst="rect">
            <a:avLst/>
          </a:prstGeom>
        </p:spPr>
      </p:pic>
      <p:pic>
        <p:nvPicPr>
          <p:cNvPr id="7" name="Picture 6"/>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pic>
        <p:nvPicPr>
          <p:cNvPr id="5" name="Content Placeholder 4"/>
          <p:cNvPicPr>
            <a:picLocks noChangeAspect="1"/>
          </p:cNvPicPr>
          <p:nvPr>
            <p:ph sz="half" idx="1"/>
          </p:nvPr>
        </p:nvPicPr>
        <p:blipFill>
          <a:blip r:embed="rId1"/>
          <a:stretch>
            <a:fillRect/>
          </a:stretch>
        </p:blipFill>
        <p:spPr>
          <a:xfrm>
            <a:off x="838200" y="2543810"/>
            <a:ext cx="5181600" cy="2914650"/>
          </a:xfrm>
          <a:prstGeom prst="rect">
            <a:avLst/>
          </a:prstGeom>
        </p:spPr>
      </p:pic>
      <p:pic>
        <p:nvPicPr>
          <p:cNvPr id="6" name="Content Placeholder 5"/>
          <p:cNvPicPr>
            <a:picLocks noChangeAspect="1"/>
          </p:cNvPicPr>
          <p:nvPr>
            <p:ph sz="half" idx="2"/>
          </p:nvPr>
        </p:nvPicPr>
        <p:blipFill>
          <a:blip r:embed="rId1"/>
          <a:stretch>
            <a:fillRect/>
          </a:stretch>
        </p:blipFill>
        <p:spPr>
          <a:xfrm>
            <a:off x="6172200" y="2543810"/>
            <a:ext cx="5181600" cy="2914650"/>
          </a:xfrm>
          <a:prstGeom prst="rect">
            <a:avLst/>
          </a:prstGeom>
        </p:spPr>
      </p:pic>
      <p:pic>
        <p:nvPicPr>
          <p:cNvPr id="7" name="Picture 6"/>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pic>
        <p:nvPicPr>
          <p:cNvPr id="5" name="Content Placeholder 4"/>
          <p:cNvPicPr>
            <a:picLocks noChangeAspect="1"/>
          </p:cNvPicPr>
          <p:nvPr>
            <p:ph sz="half" idx="1"/>
          </p:nvPr>
        </p:nvPicPr>
        <p:blipFill>
          <a:blip r:embed="rId1"/>
          <a:stretch>
            <a:fillRect/>
          </a:stretch>
        </p:blipFill>
        <p:spPr>
          <a:xfrm>
            <a:off x="838200" y="2543810"/>
            <a:ext cx="5181600" cy="2914650"/>
          </a:xfrm>
          <a:prstGeom prst="rect">
            <a:avLst/>
          </a:prstGeom>
        </p:spPr>
      </p:pic>
      <p:pic>
        <p:nvPicPr>
          <p:cNvPr id="6" name="Content Placeholder 5"/>
          <p:cNvPicPr>
            <a:picLocks noChangeAspect="1"/>
          </p:cNvPicPr>
          <p:nvPr>
            <p:ph sz="half" idx="2"/>
          </p:nvPr>
        </p:nvPicPr>
        <p:blipFill>
          <a:blip r:embed="rId1"/>
          <a:stretch>
            <a:fillRect/>
          </a:stretch>
        </p:blipFill>
        <p:spPr>
          <a:xfrm>
            <a:off x="6172200" y="2543810"/>
            <a:ext cx="5181600" cy="2914650"/>
          </a:xfrm>
          <a:prstGeom prst="rect">
            <a:avLst/>
          </a:prstGeom>
        </p:spPr>
      </p:pic>
      <p:pic>
        <p:nvPicPr>
          <p:cNvPr id="7" name="Picture 6"/>
          <p:cNvPicPr>
            <a:picLocks noChangeAspect="1"/>
          </p:cNvPicPr>
          <p:nvPr/>
        </p:nvPicPr>
        <p:blipFill>
          <a:blip r:embed="rId1"/>
          <a:stretch>
            <a:fillRect/>
          </a:stretch>
        </p:blipFill>
        <p:spPr>
          <a:xfrm>
            <a:off x="0" y="0"/>
            <a:ext cx="12192000" cy="6858000"/>
          </a:xfrm>
          <a:prstGeom prst="rect">
            <a:avLst/>
          </a:prstGeom>
        </p:spPr>
      </p:pic>
      <p:pic>
        <p:nvPicPr>
          <p:cNvPr id="8" name="Picture 7"/>
          <p:cNvPicPr>
            <a:picLocks noChangeAspect="1"/>
          </p:cNvPicPr>
          <p:nvPr/>
        </p:nvPicPr>
        <p:blipFill>
          <a:blip r:embed="rId2"/>
          <a:stretch>
            <a:fillRect/>
          </a:stretch>
        </p:blipFill>
        <p:spPr>
          <a:xfrm>
            <a:off x="0" y="0"/>
            <a:ext cx="12192000" cy="6858000"/>
          </a:xfrm>
          <a:prstGeom prst="rect">
            <a:avLst/>
          </a:prstGeom>
        </p:spPr>
      </p:pic>
      <p:sp>
        <p:nvSpPr>
          <p:cNvPr id="9" name="Text Box 8"/>
          <p:cNvSpPr txBox="1"/>
          <p:nvPr/>
        </p:nvSpPr>
        <p:spPr>
          <a:xfrm>
            <a:off x="6341745" y="1608455"/>
            <a:ext cx="4414520" cy="922020"/>
          </a:xfrm>
          <a:prstGeom prst="rect">
            <a:avLst/>
          </a:prstGeom>
          <a:noFill/>
        </p:spPr>
        <p:txBody>
          <a:bodyPr wrap="square" rtlCol="0">
            <a:spAutoFit/>
          </a:bodyPr>
          <a:p>
            <a:r>
              <a:rPr lang="en-IN" altLang="en-US"/>
              <a:t>Topic is like a bucket. Where the producer will store the messages and the subscribers will retrieve the messages from the buckets</a:t>
            </a:r>
            <a:endParaRPr lang="en-I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pic>
        <p:nvPicPr>
          <p:cNvPr id="5" name="Content Placeholder 4"/>
          <p:cNvPicPr>
            <a:picLocks noChangeAspect="1"/>
          </p:cNvPicPr>
          <p:nvPr>
            <p:ph sz="half" idx="1"/>
          </p:nvPr>
        </p:nvPicPr>
        <p:blipFill>
          <a:blip r:embed="rId1"/>
          <a:stretch>
            <a:fillRect/>
          </a:stretch>
        </p:blipFill>
        <p:spPr>
          <a:xfrm>
            <a:off x="838200" y="2543810"/>
            <a:ext cx="5181600" cy="2914650"/>
          </a:xfrm>
          <a:prstGeom prst="rect">
            <a:avLst/>
          </a:prstGeom>
        </p:spPr>
      </p:pic>
      <p:pic>
        <p:nvPicPr>
          <p:cNvPr id="6" name="Content Placeholder 5"/>
          <p:cNvPicPr>
            <a:picLocks noChangeAspect="1"/>
          </p:cNvPicPr>
          <p:nvPr>
            <p:ph sz="half" idx="2"/>
          </p:nvPr>
        </p:nvPicPr>
        <p:blipFill>
          <a:blip r:embed="rId1"/>
          <a:stretch>
            <a:fillRect/>
          </a:stretch>
        </p:blipFill>
        <p:spPr>
          <a:xfrm>
            <a:off x="6172200" y="2543810"/>
            <a:ext cx="5181600" cy="2914650"/>
          </a:xfrm>
          <a:prstGeom prst="rect">
            <a:avLst/>
          </a:prstGeom>
        </p:spPr>
      </p:pic>
      <p:pic>
        <p:nvPicPr>
          <p:cNvPr id="7" name="Picture 6"/>
          <p:cNvPicPr>
            <a:picLocks noChangeAspect="1"/>
          </p:cNvPicPr>
          <p:nvPr/>
        </p:nvPicPr>
        <p:blipFill>
          <a:blip r:embed="rId2"/>
          <a:stretch>
            <a:fillRect/>
          </a:stretch>
        </p:blipFill>
        <p:spPr>
          <a:xfrm>
            <a:off x="0" y="0"/>
            <a:ext cx="12192000" cy="6858000"/>
          </a:xfrm>
          <a:prstGeom prst="rect">
            <a:avLst/>
          </a:prstGeom>
        </p:spPr>
      </p:pic>
      <p:pic>
        <p:nvPicPr>
          <p:cNvPr id="8" name="Picture 7"/>
          <p:cNvPicPr>
            <a:picLocks noChangeAspect="1"/>
          </p:cNvPicPr>
          <p:nvPr/>
        </p:nvPicPr>
        <p:blipFill>
          <a:blip r:embed="rId2"/>
          <a:stretch>
            <a:fillRect/>
          </a:stretch>
        </p:blipFill>
        <p:spPr>
          <a:xfrm>
            <a:off x="0" y="0"/>
            <a:ext cx="12192000" cy="6858000"/>
          </a:xfrm>
          <a:prstGeom prst="rect">
            <a:avLst/>
          </a:prstGeom>
        </p:spPr>
      </p:pic>
      <p:pic>
        <p:nvPicPr>
          <p:cNvPr id="9" name="Picture 8"/>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sz="half" idx="1"/>
          </p:nvPr>
        </p:nvSpPr>
        <p:spPr>
          <a:xfrm>
            <a:off x="415925" y="307975"/>
            <a:ext cx="11315065" cy="5869305"/>
          </a:xfrm>
        </p:spPr>
        <p:txBody>
          <a:bodyPr/>
          <a:p>
            <a:r>
              <a:rPr lang="en-IN" altLang="en-US"/>
              <a:t>Requests go throught a load balancer first. This ensures the request loads are evenly distributed among the app servers.</a:t>
            </a:r>
            <a:endParaRPr lang="en-IN" altLang="en-US"/>
          </a:p>
          <a:p>
            <a:r>
              <a:rPr lang="en-IN" altLang="en-US"/>
              <a:t>The load balancer forwards the request to frontend service. The front end service uses metadata service to fetch the details of the topics and subscriptions stored in metadata db.</a:t>
            </a:r>
            <a:endParaRPr lang="en-IN" altLang="en-US"/>
          </a:p>
          <a:p>
            <a:r>
              <a:rPr lang="en-IN" altLang="en-US"/>
              <a:t>We need to store the messages for some period of time until all subscribers are available and message is sent to them. Hence we need a temporary storage. </a:t>
            </a:r>
            <a:endParaRPr lang="en-IN" altLang="en-US"/>
          </a:p>
          <a:p>
            <a:r>
              <a:rPr lang="en-IN" altLang="en-US"/>
              <a:t>Last we need a sender that retrieves the messages from temp store and sends them to the subscibers. Sender calls the metadata service to get the subscriber list associated with this topic.</a:t>
            </a:r>
            <a:endParaRPr lang="en-IN" altLang="en-US"/>
          </a:p>
          <a:p>
            <a:endParaRPr lang="en-I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pic>
        <p:nvPicPr>
          <p:cNvPr id="5" name="Content Placeholder 4"/>
          <p:cNvPicPr>
            <a:picLocks noChangeAspect="1"/>
          </p:cNvPicPr>
          <p:nvPr>
            <p:ph sz="half" idx="1"/>
          </p:nvPr>
        </p:nvPicPr>
        <p:blipFill>
          <a:blip r:embed="rId1"/>
          <a:stretch>
            <a:fillRect/>
          </a:stretch>
        </p:blipFill>
        <p:spPr>
          <a:xfrm>
            <a:off x="838200" y="2543810"/>
            <a:ext cx="5181600" cy="2914650"/>
          </a:xfrm>
          <a:prstGeom prst="rect">
            <a:avLst/>
          </a:prstGeom>
        </p:spPr>
      </p:pic>
      <p:pic>
        <p:nvPicPr>
          <p:cNvPr id="6" name="Content Placeholder 5"/>
          <p:cNvPicPr>
            <a:picLocks noChangeAspect="1"/>
          </p:cNvPicPr>
          <p:nvPr>
            <p:ph sz="half" idx="2"/>
          </p:nvPr>
        </p:nvPicPr>
        <p:blipFill>
          <a:blip r:embed="rId1"/>
          <a:stretch>
            <a:fillRect/>
          </a:stretch>
        </p:blipFill>
        <p:spPr>
          <a:xfrm>
            <a:off x="6172200" y="2543810"/>
            <a:ext cx="5181600" cy="2914650"/>
          </a:xfrm>
          <a:prstGeom prst="rect">
            <a:avLst/>
          </a:prstGeom>
        </p:spPr>
      </p:pic>
      <p:pic>
        <p:nvPicPr>
          <p:cNvPr id="7" name="Picture 6"/>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pic>
        <p:nvPicPr>
          <p:cNvPr id="5" name="Content Placeholder 4"/>
          <p:cNvPicPr>
            <a:picLocks noChangeAspect="1"/>
          </p:cNvPicPr>
          <p:nvPr>
            <p:ph sz="half" idx="1"/>
          </p:nvPr>
        </p:nvPicPr>
        <p:blipFill>
          <a:blip r:embed="rId1"/>
          <a:stretch>
            <a:fillRect/>
          </a:stretch>
        </p:blipFill>
        <p:spPr>
          <a:xfrm>
            <a:off x="838200" y="2543810"/>
            <a:ext cx="5181600" cy="2914650"/>
          </a:xfrm>
          <a:prstGeom prst="rect">
            <a:avLst/>
          </a:prstGeom>
        </p:spPr>
      </p:pic>
      <p:pic>
        <p:nvPicPr>
          <p:cNvPr id="6" name="Content Placeholder 5"/>
          <p:cNvPicPr>
            <a:picLocks noChangeAspect="1"/>
          </p:cNvPicPr>
          <p:nvPr>
            <p:ph sz="half" idx="2"/>
          </p:nvPr>
        </p:nvPicPr>
        <p:blipFill>
          <a:blip r:embed="rId1"/>
          <a:stretch>
            <a:fillRect/>
          </a:stretch>
        </p:blipFill>
        <p:spPr>
          <a:xfrm>
            <a:off x="6172200" y="2543810"/>
            <a:ext cx="5181600" cy="2914650"/>
          </a:xfrm>
          <a:prstGeom prst="rect">
            <a:avLst/>
          </a:prstGeom>
        </p:spPr>
      </p:pic>
      <p:pic>
        <p:nvPicPr>
          <p:cNvPr id="7" name="Picture 6"/>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pic>
        <p:nvPicPr>
          <p:cNvPr id="5" name="Content Placeholder 4"/>
          <p:cNvPicPr>
            <a:picLocks noChangeAspect="1"/>
          </p:cNvPicPr>
          <p:nvPr>
            <p:ph sz="half" idx="1"/>
          </p:nvPr>
        </p:nvPicPr>
        <p:blipFill>
          <a:blip r:embed="rId1"/>
          <a:stretch>
            <a:fillRect/>
          </a:stretch>
        </p:blipFill>
        <p:spPr>
          <a:xfrm>
            <a:off x="838200" y="2543810"/>
            <a:ext cx="5181600" cy="2914650"/>
          </a:xfrm>
          <a:prstGeom prst="rect">
            <a:avLst/>
          </a:prstGeom>
        </p:spPr>
      </p:pic>
      <p:pic>
        <p:nvPicPr>
          <p:cNvPr id="6" name="Content Placeholder 5"/>
          <p:cNvPicPr>
            <a:picLocks noChangeAspect="1"/>
          </p:cNvPicPr>
          <p:nvPr>
            <p:ph sz="half" idx="2"/>
          </p:nvPr>
        </p:nvPicPr>
        <p:blipFill>
          <a:blip r:embed="rId1"/>
          <a:stretch>
            <a:fillRect/>
          </a:stretch>
        </p:blipFill>
        <p:spPr>
          <a:xfrm>
            <a:off x="6172200" y="2543810"/>
            <a:ext cx="5181600" cy="2914650"/>
          </a:xfrm>
          <a:prstGeom prst="rect">
            <a:avLst/>
          </a:prstGeom>
        </p:spPr>
      </p:pic>
      <p:pic>
        <p:nvPicPr>
          <p:cNvPr id="7" name="Picture 6"/>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Content Placeholder 3"/>
          <p:cNvSpPr>
            <a:spLocks noGrp="1"/>
          </p:cNvSpPr>
          <p:nvPr>
            <p:ph sz="half" idx="2"/>
          </p:nvPr>
        </p:nvSpPr>
        <p:spPr>
          <a:xfrm>
            <a:off x="631825" y="1825625"/>
            <a:ext cx="10721975" cy="4351655"/>
          </a:xfrm>
        </p:spPr>
        <p:txBody>
          <a:bodyPr/>
          <a:p>
            <a:r>
              <a:rPr lang="en-IN" altLang="en-US" b="1"/>
              <a:t>Option 1: Database</a:t>
            </a:r>
            <a:endParaRPr lang="en-IN" altLang="en-US"/>
          </a:p>
          <a:p>
            <a:pPr lvl="1"/>
            <a:r>
              <a:rPr lang="en-IN" altLang="en-US"/>
              <a:t>We dont need ACID transactions</a:t>
            </a:r>
            <a:endParaRPr lang="en-IN" altLang="en-US"/>
          </a:p>
          <a:p>
            <a:pPr lvl="1"/>
            <a:r>
              <a:rPr lang="en-IN" altLang="en-US"/>
              <a:t>We dont need to run complex queries</a:t>
            </a:r>
            <a:endParaRPr lang="en-IN" altLang="en-US"/>
          </a:p>
          <a:p>
            <a:pPr lvl="1"/>
            <a:r>
              <a:rPr lang="en-IN" altLang="en-US"/>
              <a:t>We donot want to use the storage for data analytics and warehousing.</a:t>
            </a:r>
            <a:endParaRPr lang="en-IN" altLang="en-US"/>
          </a:p>
          <a:p>
            <a:pPr lvl="1"/>
            <a:r>
              <a:rPr lang="en-IN" altLang="en-US"/>
              <a:t>We need a db that is scalable, highly available and tolerate network partitions.</a:t>
            </a:r>
            <a:endParaRPr lang="en-IN" altLang="en-US"/>
          </a:p>
          <a:p>
            <a:pPr lvl="1"/>
            <a:r>
              <a:rPr lang="en-IN" altLang="en-US" b="1"/>
              <a:t>So SQL or NoSQL?</a:t>
            </a:r>
            <a:r>
              <a:rPr lang="en-IN" altLang="en-US"/>
              <a:t> - ans: above requirements are met by NoSQL.</a:t>
            </a:r>
            <a:endParaRPr lang="en-IN" altLang="en-US"/>
          </a:p>
          <a:p>
            <a:pPr lvl="1"/>
            <a:r>
              <a:rPr lang="en-IN" altLang="en-US" b="1"/>
              <a:t>Type of NoSQL?</a:t>
            </a:r>
            <a:endParaRPr lang="en-IN" altLang="en-US" b="1"/>
          </a:p>
          <a:p>
            <a:pPr lvl="2"/>
            <a:r>
              <a:rPr lang="en-IN" altLang="en-US"/>
              <a:t>Messages have a limited size like 1MB. So we donot need a document store.</a:t>
            </a:r>
            <a:endParaRPr lang="en-IN" altLang="en-US"/>
          </a:p>
          <a:p>
            <a:pPr lvl="2"/>
            <a:r>
              <a:rPr lang="en-IN" altLang="en-US"/>
              <a:t>There is no specific relationship between messages. So we donot need graph dbs</a:t>
            </a:r>
            <a:endParaRPr lang="en-IN" altLang="en-US"/>
          </a:p>
          <a:p>
            <a:pPr lvl="2"/>
            <a:r>
              <a:rPr lang="en-IN" altLang="en-US"/>
              <a:t>So we can use either column or key - value dbs.</a:t>
            </a:r>
            <a:endParaRPr lang="en-IN" altLang="en-US"/>
          </a:p>
          <a:p>
            <a:pPr lvl="3"/>
            <a:r>
              <a:rPr lang="en-IN" altLang="en-US"/>
              <a:t>Ex - Apache Cassandra, Amazon DynamoDb</a:t>
            </a:r>
            <a:endParaRPr lang="en-IN" altLang="en-US"/>
          </a:p>
        </p:txBody>
      </p:sp>
      <p:pic>
        <p:nvPicPr>
          <p:cNvPr id="5" name="Content Placeholder 4"/>
          <p:cNvPicPr>
            <a:picLocks noChangeAspect="1"/>
          </p:cNvPicPr>
          <p:nvPr>
            <p:ph sz="half" idx="1"/>
          </p:nvPr>
        </p:nvPicPr>
        <p:blipFill>
          <a:blip r:embed="rId1"/>
          <a:stretch>
            <a:fillRect/>
          </a:stretch>
        </p:blipFill>
        <p:spPr>
          <a:xfrm>
            <a:off x="1368425" y="135890"/>
            <a:ext cx="9455150" cy="158813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sz="half" idx="1"/>
          </p:nvPr>
        </p:nvSpPr>
        <p:spPr>
          <a:xfrm>
            <a:off x="838200" y="377190"/>
            <a:ext cx="10516235" cy="5800090"/>
          </a:xfrm>
        </p:spPr>
        <p:txBody>
          <a:bodyPr/>
          <a:p>
            <a:r>
              <a:rPr lang="en-IN" altLang="en-US" b="1"/>
              <a:t>Option 2: InMemory Caching </a:t>
            </a:r>
            <a:endParaRPr lang="en-IN" altLang="en-US" b="1"/>
          </a:p>
          <a:p>
            <a:pPr lvl="1"/>
            <a:r>
              <a:rPr lang="en-IN" altLang="en-US"/>
              <a:t>We can use in-memory datastores as long as they support persistence.</a:t>
            </a:r>
            <a:endParaRPr lang="en-IN" altLang="en-US"/>
          </a:p>
          <a:p>
            <a:pPr lvl="1"/>
            <a:r>
              <a:rPr lang="en-IN" altLang="en-US"/>
              <a:t>Ex - Redis</a:t>
            </a:r>
            <a:endParaRPr lang="en-IN" altLang="en-US"/>
          </a:p>
          <a:p>
            <a:pPr lvl="0"/>
            <a:r>
              <a:rPr lang="en-IN" altLang="en-US" b="1"/>
              <a:t>Option 3: Message Queues</a:t>
            </a:r>
            <a:endParaRPr lang="en-IN" altLang="en-US" b="1"/>
          </a:p>
          <a:p>
            <a:pPr lvl="1"/>
            <a:r>
              <a:rPr lang="en-IN" altLang="en-US"/>
              <a:t>Distributed message queues have all the characteristics we need.</a:t>
            </a:r>
            <a:endParaRPr lang="en-IN" altLang="en-US"/>
          </a:p>
          <a:p>
            <a:pPr lvl="1"/>
            <a:r>
              <a:rPr lang="en-IN" altLang="en-US"/>
              <a:t>Example - Apache Kafka, Amazon SQS.</a:t>
            </a:r>
            <a:endParaRPr lang="en-IN"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pic>
        <p:nvPicPr>
          <p:cNvPr id="5" name="Content Placeholder 4"/>
          <p:cNvPicPr>
            <a:picLocks noChangeAspect="1"/>
          </p:cNvPicPr>
          <p:nvPr>
            <p:ph sz="half" idx="1"/>
          </p:nvPr>
        </p:nvPicPr>
        <p:blipFill>
          <a:blip r:embed="rId1"/>
          <a:stretch>
            <a:fillRect/>
          </a:stretch>
        </p:blipFill>
        <p:spPr>
          <a:xfrm>
            <a:off x="838200" y="3565525"/>
            <a:ext cx="5181600" cy="870585"/>
          </a:xfrm>
          <a:prstGeom prst="rect">
            <a:avLst/>
          </a:prstGeom>
        </p:spPr>
      </p:pic>
      <p:pic>
        <p:nvPicPr>
          <p:cNvPr id="6" name="Content Placeholder 5"/>
          <p:cNvPicPr>
            <a:picLocks noChangeAspect="1"/>
          </p:cNvPicPr>
          <p:nvPr>
            <p:ph sz="half" idx="2"/>
          </p:nvPr>
        </p:nvPicPr>
        <p:blipFill>
          <a:blip r:embed="rId1"/>
          <a:stretch>
            <a:fillRect/>
          </a:stretch>
        </p:blipFill>
        <p:spPr>
          <a:xfrm>
            <a:off x="6172200" y="3565525"/>
            <a:ext cx="5181600" cy="870585"/>
          </a:xfrm>
          <a:prstGeom prst="rect">
            <a:avLst/>
          </a:prstGeom>
        </p:spPr>
      </p:pic>
      <p:pic>
        <p:nvPicPr>
          <p:cNvPr id="7" name="Picture 6"/>
          <p:cNvPicPr>
            <a:picLocks noChangeAspect="1"/>
          </p:cNvPicPr>
          <p:nvPr/>
        </p:nvPicPr>
        <p:blipFill>
          <a:blip r:embed="rId1"/>
          <a:stretch>
            <a:fillRect/>
          </a:stretch>
        </p:blipFill>
        <p:spPr>
          <a:xfrm>
            <a:off x="1562100" y="2667000"/>
            <a:ext cx="9067800" cy="1524000"/>
          </a:xfrm>
          <a:prstGeom prst="rect">
            <a:avLst/>
          </a:prstGeom>
        </p:spPr>
      </p:pic>
      <p:pic>
        <p:nvPicPr>
          <p:cNvPr id="8" name="Picture 7"/>
          <p:cNvPicPr>
            <a:picLocks noChangeAspect="1"/>
          </p:cNvPicPr>
          <p:nvPr/>
        </p:nvPicPr>
        <p:blipFill>
          <a:blip r:embed="rId2"/>
          <a:stretch>
            <a:fillRect/>
          </a:stretch>
        </p:blipFill>
        <p:spPr>
          <a:xfrm>
            <a:off x="0" y="0"/>
            <a:ext cx="12192000" cy="6858000"/>
          </a:xfrm>
          <a:prstGeom prst="rect">
            <a:avLst/>
          </a:prstGeom>
        </p:spPr>
      </p:pic>
      <p:pic>
        <p:nvPicPr>
          <p:cNvPr id="9" name="Picture 8"/>
          <p:cNvPicPr>
            <a:picLocks noChangeAspect="1"/>
          </p:cNvPicPr>
          <p:nvPr/>
        </p:nvPicPr>
        <p:blipFill>
          <a:blip r:embed="rId2"/>
          <a:stretch>
            <a:fillRect/>
          </a:stretch>
        </p:blipFill>
        <p:spPr>
          <a:xfrm>
            <a:off x="0" y="0"/>
            <a:ext cx="12192000" cy="6858000"/>
          </a:xfrm>
          <a:prstGeom prst="rect">
            <a:avLst/>
          </a:prstGeom>
        </p:spPr>
      </p:pic>
      <p:pic>
        <p:nvPicPr>
          <p:cNvPr id="10" name="Picture 9"/>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pic>
        <p:nvPicPr>
          <p:cNvPr id="5" name="Content Placeholder 4"/>
          <p:cNvPicPr>
            <a:picLocks noChangeAspect="1"/>
          </p:cNvPicPr>
          <p:nvPr>
            <p:ph sz="half" idx="1"/>
          </p:nvPr>
        </p:nvPicPr>
        <p:blipFill>
          <a:blip r:embed="rId1"/>
          <a:stretch>
            <a:fillRect/>
          </a:stretch>
        </p:blipFill>
        <p:spPr>
          <a:xfrm>
            <a:off x="838200" y="2543810"/>
            <a:ext cx="5181600" cy="2914650"/>
          </a:xfrm>
          <a:prstGeom prst="rect">
            <a:avLst/>
          </a:prstGeom>
        </p:spPr>
      </p:pic>
      <p:pic>
        <p:nvPicPr>
          <p:cNvPr id="6" name="Content Placeholder 5"/>
          <p:cNvPicPr>
            <a:picLocks noChangeAspect="1"/>
          </p:cNvPicPr>
          <p:nvPr>
            <p:ph sz="half" idx="2"/>
          </p:nvPr>
        </p:nvPicPr>
        <p:blipFill>
          <a:blip r:embed="rId1"/>
          <a:stretch>
            <a:fillRect/>
          </a:stretch>
        </p:blipFill>
        <p:spPr>
          <a:xfrm>
            <a:off x="6172200" y="2543810"/>
            <a:ext cx="5181600" cy="2914650"/>
          </a:xfrm>
          <a:prstGeom prst="rect">
            <a:avLst/>
          </a:prstGeom>
        </p:spPr>
      </p:pic>
      <p:pic>
        <p:nvPicPr>
          <p:cNvPr id="7" name="Picture 6"/>
          <p:cNvPicPr>
            <a:picLocks noChangeAspect="1"/>
          </p:cNvPicPr>
          <p:nvPr/>
        </p:nvPicPr>
        <p:blipFill>
          <a:blip r:embed="rId1"/>
          <a:stretch>
            <a:fillRect/>
          </a:stretch>
        </p:blipFill>
        <p:spPr>
          <a:xfrm>
            <a:off x="0" y="0"/>
            <a:ext cx="12192000" cy="6858000"/>
          </a:xfrm>
          <a:prstGeom prst="rect">
            <a:avLst/>
          </a:prstGeom>
        </p:spPr>
      </p:pic>
      <p:pic>
        <p:nvPicPr>
          <p:cNvPr id="8" name="Picture 7"/>
          <p:cNvPicPr>
            <a:picLocks noChangeAspect="1"/>
          </p:cNvPicPr>
          <p:nvPr/>
        </p:nvPicPr>
        <p:blipFill>
          <a:blip r:embed="rId1"/>
          <a:stretch>
            <a:fillRect/>
          </a:stretch>
        </p:blipFill>
        <p:spPr>
          <a:xfrm>
            <a:off x="0" y="0"/>
            <a:ext cx="12192000" cy="6858000"/>
          </a:xfrm>
          <a:prstGeom prst="rect">
            <a:avLst/>
          </a:prstGeom>
        </p:spPr>
      </p:pic>
      <p:pic>
        <p:nvPicPr>
          <p:cNvPr id="9" name="Picture 8"/>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sz="half" idx="1"/>
          </p:nvPr>
        </p:nvSpPr>
        <p:spPr>
          <a:xfrm>
            <a:off x="838200" y="378460"/>
            <a:ext cx="10515600" cy="5798820"/>
          </a:xfrm>
        </p:spPr>
        <p:txBody>
          <a:bodyPr/>
          <a:p>
            <a:r>
              <a:rPr lang="en-IN" altLang="en-US" b="1"/>
              <a:t>Message Retiever - </a:t>
            </a:r>
            <a:endParaRPr lang="en-IN" altLang="en-US"/>
          </a:p>
          <a:p>
            <a:pPr lvl="1"/>
            <a:r>
              <a:rPr lang="en-IN" altLang="en-US"/>
              <a:t>The Sender first retrieves the message from the temp store using message retriever. </a:t>
            </a:r>
            <a:endParaRPr lang="en-IN" altLang="en-US"/>
          </a:p>
          <a:p>
            <a:pPr lvl="1"/>
            <a:r>
              <a:rPr lang="en-IN" altLang="en-US"/>
              <a:t>The message retriever has a pool of threads which it uses to retrieve the messages.</a:t>
            </a:r>
            <a:endParaRPr lang="en-IN" altLang="en-US"/>
          </a:p>
          <a:p>
            <a:pPr lvl="1"/>
            <a:r>
              <a:rPr lang="en-IN" altLang="en-US"/>
              <a:t>As a naive approach we can start with a predefined number of threads. But the problem comes if there is not many messages to retrieve then the ideal thread count increases. Also if there are many messages then all the threads in the pool are used up leaving sender service scaling the only option.</a:t>
            </a:r>
            <a:endParaRPr lang="en-IN" altLang="en-US"/>
          </a:p>
          <a:p>
            <a:pPr lvl="1"/>
            <a:r>
              <a:rPr lang="en-IN" altLang="en-US"/>
              <a:t>A better approach can be an auto scaling approach where we keep track of ideal threads and adjust the total available threads dynamically. How can this be done? - Using counting semaphore.</a:t>
            </a:r>
            <a:endParaRPr lang="en-IN" altLang="en-US"/>
          </a:p>
          <a:p>
            <a:pPr lvl="1"/>
            <a:r>
              <a:rPr lang="en-IN" altLang="en-US"/>
              <a:t>Conceptually semaphore  maintians a list of permits. Before retrieving the next message a thread must acquire a permit from the semaphore. When the thread finishes reading the permit is returned to the semaphore. We can adjust the number of permits dynamically.</a:t>
            </a:r>
            <a:endParaRPr lang="en-IN"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sz="half" idx="1"/>
          </p:nvPr>
        </p:nvSpPr>
        <p:spPr>
          <a:xfrm>
            <a:off x="838200" y="447675"/>
            <a:ext cx="10515600" cy="5739130"/>
          </a:xfrm>
        </p:spPr>
        <p:txBody>
          <a:bodyPr>
            <a:normAutofit/>
          </a:bodyPr>
          <a:p>
            <a:pPr algn="just"/>
            <a:r>
              <a:rPr lang="en-IN" altLang="en-US" sz="2400" b="1"/>
              <a:t>MS Client -</a:t>
            </a:r>
            <a:r>
              <a:rPr lang="en-IN" altLang="en-US" sz="2400"/>
              <a:t> After the message is retrieved, we need to contact the metadata service to fetch the subscriber info. Why do we need to make this call?</a:t>
            </a:r>
            <a:endParaRPr lang="en-IN" altLang="en-US" sz="2400"/>
          </a:p>
          <a:p>
            <a:pPr marL="457200" lvl="1" indent="0" algn="just">
              <a:buNone/>
            </a:pPr>
            <a:r>
              <a:rPr lang="en-IN" altLang="en-US" sz="2400"/>
              <a:t>We could have also passed the list of subscribers along with the message e.g. FS can get the list and pass it along with the message.But a problem with this approach is that the temp store needs to store all this information and if the list size is huge then we need more storage. In that case we might have to use document store instead of key-value/column store.</a:t>
            </a:r>
            <a:endParaRPr lang="en-IN" altLang="en-US" sz="2400"/>
          </a:p>
          <a:p>
            <a:pPr algn="just"/>
            <a:endParaRPr lang="en-IN" altLang="en-US" sz="2400"/>
          </a:p>
          <a:p>
            <a:pPr algn="just"/>
            <a:r>
              <a:rPr lang="en-IN" altLang="en-US" sz="2400"/>
              <a:t>Now we can start sending the message to the list of subscribers. But how do we send them? What should we do if the message delivery failed for one subscriber? or what if one sunscriber is slow in processing the message causing an impact on the delivery to other subscribers?</a:t>
            </a:r>
            <a:endParaRPr lang="en-IN" altLang="en-US" sz="2400"/>
          </a:p>
          <a:p>
            <a:pPr lvl="1" algn="just"/>
            <a:r>
              <a:rPr lang="en-IN" altLang="en-US" sz="2400"/>
              <a:t>A better option is to split the message delivery into tasks where each task is responsible for delivery to a single subscriber. This way we can deliver messages in parallel and isolate any bad subscriber.</a:t>
            </a:r>
            <a:endParaRPr lang="en-IN" altLang="en-US" sz="24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sz="half" idx="1"/>
          </p:nvPr>
        </p:nvSpPr>
        <p:spPr>
          <a:xfrm>
            <a:off x="838200" y="417830"/>
            <a:ext cx="10601325" cy="5759450"/>
          </a:xfrm>
        </p:spPr>
        <p:txBody>
          <a:bodyPr/>
          <a:p>
            <a:r>
              <a:rPr lang="en-IN" altLang="en-US"/>
              <a:t>We introduce 2 new components - Task Creator and Task Executor</a:t>
            </a:r>
            <a:endParaRPr lang="en-IN" altLang="en-US"/>
          </a:p>
          <a:p>
            <a:r>
              <a:rPr lang="en-IN" altLang="en-US"/>
              <a:t>They are responsible for creating and scheduling single message delivery task.</a:t>
            </a:r>
            <a:endParaRPr lang="en-IN" altLang="en-US"/>
          </a:p>
          <a:p>
            <a:r>
              <a:rPr lang="en-IN" altLang="en-US"/>
              <a:t>Task creator - </a:t>
            </a:r>
            <a:endParaRPr lang="en-IN" altLang="en-US"/>
          </a:p>
          <a:p>
            <a:pPr lvl="1"/>
            <a:r>
              <a:rPr lang="en-IN" altLang="en-US"/>
              <a:t>Create a pool of threads where each thread is responsible for executing a task. We can use counting semaphores to keep track of available threads in the pool.</a:t>
            </a:r>
            <a:endParaRPr lang="en-IN" altLang="en-US"/>
          </a:p>
          <a:p>
            <a:r>
              <a:rPr lang="en-IN" altLang="en-US"/>
              <a:t>Task executor -</a:t>
            </a:r>
            <a:endParaRPr lang="en-IN" altLang="en-US"/>
          </a:p>
          <a:p>
            <a:pPr lvl="1"/>
            <a:r>
              <a:rPr lang="en-IN" altLang="en-US"/>
              <a:t>If we have enough threads for processing newly created tasks we submit tasks for processing. If we donot have enough threads then either pause/return the message to the temp store. A different sender host may pick up this message.</a:t>
            </a:r>
            <a:endParaRPr lang="en-IN" altLang="en-US"/>
          </a:p>
          <a:p>
            <a:pPr lvl="1"/>
            <a:r>
              <a:rPr lang="en-IN" altLang="en-US"/>
              <a:t>Tasks may delegate the actual delivery to another microservice. ex- send mail service, send sms service. </a:t>
            </a:r>
            <a:endParaRPr lang="en-IN"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t>What else?</a:t>
            </a:r>
            <a:endParaRPr lang="en-IN" altLang="en-US"/>
          </a:p>
        </p:txBody>
      </p:sp>
      <p:sp>
        <p:nvSpPr>
          <p:cNvPr id="3" name="Content Placeholder 2"/>
          <p:cNvSpPr>
            <a:spLocks noGrp="1"/>
          </p:cNvSpPr>
          <p:nvPr>
            <p:ph sz="half" idx="1"/>
          </p:nvPr>
        </p:nvSpPr>
        <p:spPr>
          <a:xfrm>
            <a:off x="838200" y="1825625"/>
            <a:ext cx="10516235" cy="4351655"/>
          </a:xfrm>
        </p:spPr>
        <p:txBody>
          <a:bodyPr>
            <a:normAutofit lnSpcReduction="10000"/>
          </a:bodyPr>
          <a:p>
            <a:pPr algn="just"/>
            <a:r>
              <a:rPr lang="en-IN" altLang="en-US"/>
              <a:t>Duplicate messages-</a:t>
            </a:r>
            <a:endParaRPr lang="en-IN" altLang="en-US"/>
          </a:p>
          <a:p>
            <a:pPr lvl="1" algn="just"/>
            <a:r>
              <a:rPr lang="en-IN" altLang="en-US"/>
              <a:t>The FS will eliminate the duplicate messages from producers. But retries from sender service due to subscriber unavailability or network failure, can cause duplicates in subscriber side. In this case the subscriber has to handle the duplicates.</a:t>
            </a:r>
            <a:endParaRPr lang="en-IN" altLang="en-US"/>
          </a:p>
          <a:p>
            <a:pPr lvl="0" algn="just"/>
            <a:r>
              <a:rPr lang="en-IN" altLang="en-US"/>
              <a:t>Retry of the delivery attempt - </a:t>
            </a:r>
            <a:endParaRPr lang="en-IN" altLang="en-US"/>
          </a:p>
          <a:p>
            <a:pPr lvl="1" algn="just"/>
            <a:r>
              <a:rPr lang="en-IN" altLang="en-US"/>
              <a:t>Do we need retry? - Retries ensure at least once message delivery.</a:t>
            </a:r>
            <a:endParaRPr lang="en-IN" altLang="en-US"/>
          </a:p>
          <a:p>
            <a:pPr lvl="1" algn="just"/>
            <a:r>
              <a:rPr lang="en-IN" altLang="en-US"/>
              <a:t>To avoid retries, we can store the failed delivery messages into a system that can be monitored by the subscribers and subscribers then decide what to do with those undelivered messages.</a:t>
            </a:r>
            <a:endParaRPr lang="en-IN" altLang="en-US"/>
          </a:p>
          <a:p>
            <a:pPr lvl="0" algn="just"/>
            <a:r>
              <a:rPr lang="en-IN" altLang="en-US"/>
              <a:t>Message Order-</a:t>
            </a:r>
            <a:endParaRPr lang="en-IN" altLang="en-US"/>
          </a:p>
          <a:p>
            <a:pPr lvl="1" algn="just"/>
            <a:r>
              <a:rPr lang="en-IN" altLang="en-US"/>
              <a:t>Our system doesnot guarantee FIFO because of the retires of delivery system.</a:t>
            </a:r>
            <a:endParaRPr lang="en-IN"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sz="half" idx="1"/>
          </p:nvPr>
        </p:nvSpPr>
        <p:spPr>
          <a:xfrm>
            <a:off x="838200" y="599440"/>
            <a:ext cx="10515600" cy="5577840"/>
          </a:xfrm>
        </p:spPr>
        <p:txBody>
          <a:bodyPr/>
          <a:p>
            <a:r>
              <a:rPr lang="en-IN" altLang="en-US"/>
              <a:t>Security - </a:t>
            </a:r>
            <a:endParaRPr lang="en-IN" altLang="en-US"/>
          </a:p>
          <a:p>
            <a:pPr lvl="1"/>
            <a:r>
              <a:rPr lang="en-IN" altLang="en-US"/>
              <a:t>Only authenticated publishers can send message and </a:t>
            </a:r>
            <a:r>
              <a:rPr lang="en-IN" altLang="en-US">
                <a:sym typeface="+mn-ea"/>
              </a:rPr>
              <a:t>registered subscribers can recieve messages.</a:t>
            </a:r>
            <a:endParaRPr lang="en-IN" altLang="en-US">
              <a:sym typeface="+mn-ea"/>
            </a:endParaRPr>
          </a:p>
          <a:p>
            <a:pPr lvl="1"/>
            <a:r>
              <a:rPr lang="en-IN" altLang="en-US"/>
              <a:t>Encryption using SSL helps to secure the messages in transit.</a:t>
            </a:r>
            <a:endParaRPr lang="en-IN" altLang="en-US"/>
          </a:p>
          <a:p>
            <a:pPr lvl="0"/>
            <a:r>
              <a:rPr lang="en-IN" altLang="en-US"/>
              <a:t>Monitoring</a:t>
            </a:r>
            <a:endParaRPr lang="en-IN" alt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4986</Words>
  <Application>WPS Presentation</Application>
  <PresentationFormat>Widescreen</PresentationFormat>
  <Paragraphs>65</Paragraphs>
  <Slides>18</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18</vt:i4>
      </vt:variant>
    </vt:vector>
  </HeadingPairs>
  <TitlesOfParts>
    <vt:vector size="26" baseType="lpstr">
      <vt:lpstr>Arial</vt:lpstr>
      <vt:lpstr>SimSun</vt:lpstr>
      <vt:lpstr>Wingdings</vt:lpstr>
      <vt:lpstr>Calibri Light</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 Distributed Notification System</dc:title>
  <dc:creator/>
  <cp:lastModifiedBy>avish</cp:lastModifiedBy>
  <cp:revision>34</cp:revision>
  <dcterms:created xsi:type="dcterms:W3CDTF">2020-04-28T17:12:15Z</dcterms:created>
  <dcterms:modified xsi:type="dcterms:W3CDTF">2020-04-29T14:06:48Z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1033-11.2.0.9281</vt:lpwstr>
  </property>
</Properties>
</file>