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7" r:id="rId5"/>
    <p:sldId id="259" r:id="rId6"/>
    <p:sldId id="260" r:id="rId7"/>
    <p:sldId id="261" r:id="rId8"/>
    <p:sldId id="262" r:id="rId9"/>
    <p:sldId id="263" r:id="rId10"/>
    <p:sldId id="265" r:id="rId11"/>
    <p:sldId id="266" r:id="rId12"/>
    <p:sldId id="268" r:id="rId13"/>
    <p:sldId id="269" r:id="rId14"/>
    <p:sldId id="270" r:id="rId15"/>
    <p:sldId id="283" r:id="rId16"/>
    <p:sldId id="272" r:id="rId17"/>
    <p:sldId id="275" r:id="rId18"/>
    <p:sldId id="277" r:id="rId19"/>
    <p:sldId id="276" r:id="rId20"/>
    <p:sldId id="278" r:id="rId21"/>
    <p:sldId id="282" r:id="rId22"/>
    <p:sldId id="279" r:id="rId23"/>
    <p:sldId id="280" r:id="rId24"/>
    <p:sldId id="28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altLang="en-US" b="1" dirty="0"/>
              <a:t>Distributed Notification System</a:t>
            </a:r>
            <a:endParaRPr lang="en-IN" altLang="en-US" b="1" dirty="0"/>
          </a:p>
        </p:txBody>
      </p:sp>
      <p:sp>
        <p:nvSpPr>
          <p:cNvPr id="3" name="Subtitle 2"/>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IN" altLang="en-US" b="1">
                <a:sym typeface="+mn-ea"/>
              </a:rPr>
              <a:t>Contents</a:t>
            </a:r>
            <a:endParaRPr lang="en-US"/>
          </a:p>
        </p:txBody>
      </p:sp>
      <p:sp>
        <p:nvSpPr>
          <p:cNvPr id="3" name="Content Placeholder 2"/>
          <p:cNvSpPr>
            <a:spLocks noGrp="1"/>
          </p:cNvSpPr>
          <p:nvPr>
            <p:ph idx="1"/>
          </p:nvPr>
        </p:nvSpPr>
        <p:spPr/>
        <p:txBody>
          <a:bodyPr>
            <a:normAutofit/>
          </a:bodyPr>
          <a:p>
            <a:pPr marL="0" indent="0">
              <a:buNone/>
            </a:pPr>
            <a:r>
              <a:rPr lang="en-US">
                <a:sym typeface="+mn-ea"/>
              </a:rPr>
              <a:t>1. Requirement Gathering</a:t>
            </a:r>
            <a:endParaRPr lang="en-US"/>
          </a:p>
          <a:p>
            <a:pPr marL="0" indent="0">
              <a:buNone/>
            </a:pPr>
            <a:r>
              <a:rPr lang="en-US">
                <a:sym typeface="+mn-ea"/>
              </a:rPr>
              <a:t>2. Capacity Estimation</a:t>
            </a:r>
            <a:endParaRPr lang="en-US"/>
          </a:p>
          <a:p>
            <a:pPr marL="0" indent="0">
              <a:buNone/>
            </a:pPr>
            <a:r>
              <a:rPr lang="en-US">
                <a:sym typeface="+mn-ea"/>
              </a:rPr>
              <a:t>3. High-Level Design</a:t>
            </a:r>
            <a:endParaRPr lang="en-US"/>
          </a:p>
          <a:p>
            <a:pPr marL="0" indent="0">
              <a:buNone/>
            </a:pPr>
            <a:r>
              <a:rPr lang="en-US">
                <a:sym typeface="+mn-ea"/>
              </a:rPr>
              <a:t>4. Database Design</a:t>
            </a:r>
            <a:endParaRPr lang="en-US"/>
          </a:p>
          <a:p>
            <a:pPr marL="0" indent="0">
              <a:buNone/>
            </a:pPr>
            <a:r>
              <a:rPr lang="en-US">
                <a:sym typeface="+mn-ea"/>
              </a:rPr>
              <a:t>5. Deep Dive into Key Components</a:t>
            </a:r>
            <a:endParaRPr lang="en-US">
              <a:sym typeface="+mn-ea"/>
            </a:endParaRPr>
          </a:p>
          <a:p>
            <a:pPr marL="0" indent="0">
              <a:buNone/>
            </a:pPr>
            <a:r>
              <a:rPr lang="en-US">
                <a:sym typeface="+mn-ea"/>
              </a:rPr>
              <a:t>6. Address Key Issues and Bottlenecks</a:t>
            </a:r>
            <a:endParaRPr lang="en-US"/>
          </a:p>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sym typeface="+mn-ea"/>
              </a:rPr>
              <a:t>1. </a:t>
            </a:r>
            <a:r>
              <a:rPr lang="en-US" b="1">
                <a:sym typeface="+mn-ea"/>
              </a:rPr>
              <a:t>Requirement Gathering</a:t>
            </a:r>
            <a:endParaRPr lang="en-US" b="1"/>
          </a:p>
        </p:txBody>
      </p:sp>
      <p:sp>
        <p:nvSpPr>
          <p:cNvPr id="3" name="Content Placeholder 2"/>
          <p:cNvSpPr>
            <a:spLocks noGrp="1"/>
          </p:cNvSpPr>
          <p:nvPr>
            <p:ph idx="1"/>
          </p:nvPr>
        </p:nvSpPr>
        <p:spPr/>
        <p:txBody>
          <a:bodyPr/>
          <a:p>
            <a:r>
              <a:rPr lang="en-US" sz="2000"/>
              <a:t>A notification is more than just mobile push notification. Three types of notification formats are: mobile push notification, SMS message, and Email.</a:t>
            </a:r>
            <a:endParaRPr lang="en-US" sz="2000"/>
          </a:p>
          <a:p>
            <a:endParaRPr lang="en-US" sz="2000"/>
          </a:p>
          <a:p>
            <a:r>
              <a:rPr lang="en-IN" altLang="en-US" sz="2000" b="1"/>
              <a:t>Functional Requirements</a:t>
            </a:r>
            <a:endParaRPr lang="en-IN" altLang="en-US" sz="2000"/>
          </a:p>
          <a:p>
            <a:pPr lvl="1"/>
            <a:r>
              <a:rPr lang="en-IN" altLang="en-US" sz="1710"/>
              <a:t> Notification Types - Push notification, SMS message, and email.</a:t>
            </a:r>
            <a:endParaRPr lang="en-IN" altLang="en-US" sz="1710"/>
          </a:p>
          <a:p>
            <a:pPr lvl="1"/>
            <a:r>
              <a:rPr lang="en-IN" altLang="en-US" sz="1710"/>
              <a:t> Soft real-time system - if the system is under a high workload, a slight delay is acceptable.</a:t>
            </a:r>
            <a:endParaRPr lang="en-IN" altLang="en-US" sz="1710"/>
          </a:p>
          <a:p>
            <a:pPr lvl="1"/>
            <a:r>
              <a:rPr lang="en-IN" altLang="en-US" sz="1710"/>
              <a:t> Supported devices -  iOS devices, android devices, and laptop/desktop</a:t>
            </a:r>
            <a:endParaRPr lang="en-IN" altLang="en-US" sz="1710"/>
          </a:p>
          <a:p>
            <a:pPr lvl="1"/>
            <a:r>
              <a:rPr lang="en-IN" altLang="en-US" sz="1710"/>
              <a:t> What triggers notifications -  client applications</a:t>
            </a:r>
            <a:endParaRPr lang="en-IN" altLang="en-US" sz="1710"/>
          </a:p>
          <a:p>
            <a:pPr lvl="1"/>
            <a:r>
              <a:rPr lang="en-IN" altLang="en-US" sz="1710"/>
              <a:t> Will users be able to opt-out - Yes.</a:t>
            </a:r>
            <a:endParaRPr lang="en-IN" altLang="en-US" sz="1710"/>
          </a:p>
          <a:p>
            <a:pPr lvl="1"/>
            <a:r>
              <a:rPr lang="en-IN" altLang="en-US" sz="1710"/>
              <a:t> How many notifications are sent out each day - </a:t>
            </a:r>
            <a:endParaRPr lang="en-IN" altLang="en-US" sz="1710"/>
          </a:p>
          <a:p>
            <a:pPr lvl="2"/>
            <a:r>
              <a:rPr lang="en-IN" altLang="en-US" sz="1425"/>
              <a:t>10 million mobile push notifications, </a:t>
            </a:r>
            <a:endParaRPr lang="en-IN" altLang="en-US" sz="1425"/>
          </a:p>
          <a:p>
            <a:pPr lvl="2"/>
            <a:r>
              <a:rPr lang="en-IN" altLang="en-US" sz="1425"/>
              <a:t>1 million SMS messages, </a:t>
            </a:r>
            <a:endParaRPr lang="en-IN" altLang="en-US" sz="1425"/>
          </a:p>
          <a:p>
            <a:pPr lvl="2"/>
            <a:r>
              <a:rPr lang="en-IN" altLang="en-US" sz="1425"/>
              <a:t>5 million emails.</a:t>
            </a:r>
            <a:endParaRPr lang="en-IN" altLang="en-US" sz="142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r>
              <a:rPr lang="en-IN" altLang="en-US" sz="2000" b="1"/>
              <a:t>Non Functional Requirements</a:t>
            </a:r>
            <a:endParaRPr lang="en-IN" altLang="en-US" sz="2000" b="1"/>
          </a:p>
          <a:p>
            <a:pPr lvl="1"/>
            <a:r>
              <a:rPr lang="en-IN" altLang="en-US" sz="2000"/>
              <a:t>Scalable (Supports an arbitrarily high number of publishers, topics, subscribers)</a:t>
            </a:r>
            <a:endParaRPr lang="en-IN" altLang="en-US" sz="2000"/>
          </a:p>
          <a:p>
            <a:pPr lvl="1"/>
            <a:r>
              <a:rPr lang="en-IN" altLang="en-US" sz="2000"/>
              <a:t>Highly Available (survives hw/network failure, no SPoF)</a:t>
            </a:r>
            <a:endParaRPr lang="en-IN" altLang="en-US" sz="2000"/>
          </a:p>
          <a:p>
            <a:pPr lvl="1"/>
            <a:r>
              <a:rPr lang="en-IN" altLang="en-US" sz="2000"/>
              <a:t>Highly Performant (keep end to end latency as low as possible)</a:t>
            </a:r>
            <a:endParaRPr lang="en-IN" altLang="en-US" sz="2000"/>
          </a:p>
          <a:p>
            <a:pPr lvl="1"/>
            <a:r>
              <a:rPr lang="en-IN" altLang="en-US" sz="2000"/>
              <a:t>Durable (messages must not be lost, each subscriber must recieve message atleast once).</a:t>
            </a:r>
            <a:endParaRPr lang="en-IN"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2. Capacity Estimation</a:t>
            </a:r>
            <a:endParaRPr lang="en-IN" altLang="en-US" b="1"/>
          </a:p>
        </p:txBody>
      </p:sp>
      <p:sp>
        <p:nvSpPr>
          <p:cNvPr id="3" name="Content Placeholder 2"/>
          <p:cNvSpPr>
            <a:spLocks noGrp="1"/>
          </p:cNvSpPr>
          <p:nvPr>
            <p:ph idx="1"/>
          </p:nvPr>
        </p:nvSpPr>
        <p:spPr/>
        <p:txBody>
          <a:bodyPr/>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3. High Level Design</a:t>
            </a:r>
            <a:endParaRPr lang="en-IN" altLang="en-US" b="1"/>
          </a:p>
        </p:txBody>
      </p:sp>
      <p:sp>
        <p:nvSpPr>
          <p:cNvPr id="3" name="Content Placeholder 2"/>
          <p:cNvSpPr>
            <a:spLocks noGrp="1"/>
          </p:cNvSpPr>
          <p:nvPr>
            <p:ph idx="1"/>
          </p:nvPr>
        </p:nvSpPr>
        <p:spPr/>
        <p:txBody>
          <a:bodyPr/>
          <a:p>
            <a:pPr marL="0" indent="0">
              <a:buNone/>
            </a:pPr>
            <a:r>
              <a:rPr lang="en-IN" altLang="en-US" sz="2000"/>
              <a:t>Before we goto high level design, we should check how each type of notification works.</a:t>
            </a:r>
            <a:endParaRPr lang="en-IN" altLang="en-US" sz="2000"/>
          </a:p>
          <a:p>
            <a:pPr marL="0" indent="0">
              <a:buNone/>
            </a:pPr>
            <a:endParaRPr lang="en-IN" altLang="en-US" sz="2000" b="1"/>
          </a:p>
          <a:p>
            <a:pPr marL="0" indent="0">
              <a:buNone/>
            </a:pPr>
            <a:r>
              <a:rPr lang="en-IN" altLang="en-US" sz="2000" b="1"/>
              <a:t>1. iOS push notification</a:t>
            </a:r>
            <a:endParaRPr lang="en-IN" altLang="en-US" sz="2000" b="1"/>
          </a:p>
          <a:p>
            <a:pPr marL="457200" lvl="1" indent="0">
              <a:buNone/>
            </a:pPr>
            <a:r>
              <a:rPr lang="en-IN" altLang="en-US" sz="1710"/>
              <a:t>We primary need three components to send an </a:t>
            </a:r>
            <a:endParaRPr lang="en-IN" altLang="en-US" sz="1710"/>
          </a:p>
          <a:p>
            <a:pPr marL="457200" lvl="1" indent="0">
              <a:buNone/>
            </a:pPr>
            <a:r>
              <a:rPr lang="en-IN" altLang="en-US" sz="1710"/>
              <a:t>iOS push notification:</a:t>
            </a:r>
            <a:endParaRPr lang="en-IN" altLang="en-US" sz="1710"/>
          </a:p>
          <a:p>
            <a:pPr marL="457200" lvl="1" indent="0">
              <a:buNone/>
            </a:pPr>
            <a:r>
              <a:rPr lang="en-IN" altLang="en-US" sz="1710" b="1"/>
              <a:t>1. Provider -</a:t>
            </a:r>
            <a:r>
              <a:rPr lang="en-IN" altLang="en-US" sz="1710"/>
              <a:t> A provider builds and sends notification requests to Apple Push Notification Service (APNS). To construct a push notification, the provider provides the following data:</a:t>
            </a:r>
            <a:endParaRPr lang="en-IN" altLang="en-US" sz="1710"/>
          </a:p>
          <a:p>
            <a:pPr marL="457200" lvl="1" indent="0">
              <a:buNone/>
            </a:pPr>
            <a:r>
              <a:rPr lang="en-IN" altLang="en-US" sz="1710"/>
              <a:t>	a. Device token: This is a unique identifier used for sending push notifications.</a:t>
            </a:r>
            <a:endParaRPr lang="en-IN" altLang="en-US" sz="1710"/>
          </a:p>
          <a:p>
            <a:pPr marL="457200" lvl="1" indent="0">
              <a:buNone/>
            </a:pPr>
            <a:r>
              <a:rPr lang="en-IN" altLang="en-US" sz="1710"/>
              <a:t>	b.  Payload: This is a JSON dictionary that contains a notification’s payload.</a:t>
            </a:r>
            <a:endParaRPr lang="en-IN" altLang="en-US" sz="1710"/>
          </a:p>
          <a:p>
            <a:pPr marL="457200" lvl="1" indent="0">
              <a:buNone/>
            </a:pPr>
            <a:r>
              <a:rPr lang="en-IN" altLang="en-US" sz="1710" b="1"/>
              <a:t>2. APNS:</a:t>
            </a:r>
            <a:r>
              <a:rPr lang="en-IN" altLang="en-US" sz="1710"/>
              <a:t> This is a remote service provided by Apple to propagate push notifications to iOS devices. </a:t>
            </a:r>
            <a:endParaRPr lang="en-IN" altLang="en-US" sz="1710"/>
          </a:p>
          <a:p>
            <a:pPr marL="457200" lvl="1" indent="0">
              <a:buNone/>
            </a:pPr>
            <a:r>
              <a:rPr lang="en-IN" altLang="en-US" sz="1710" b="1"/>
              <a:t>3. iOS Device:</a:t>
            </a:r>
            <a:r>
              <a:rPr lang="en-IN" altLang="en-US" sz="1710"/>
              <a:t> It is the end client, which receives push notifications.</a:t>
            </a:r>
            <a:endParaRPr lang="en-IN" altLang="en-US" sz="1710"/>
          </a:p>
        </p:txBody>
      </p:sp>
      <p:pic>
        <p:nvPicPr>
          <p:cNvPr id="4" name="Picture 3"/>
          <p:cNvPicPr>
            <a:picLocks noChangeAspect="1"/>
          </p:cNvPicPr>
          <p:nvPr/>
        </p:nvPicPr>
        <p:blipFill>
          <a:blip r:embed="rId1"/>
          <a:stretch>
            <a:fillRect/>
          </a:stretch>
        </p:blipFill>
        <p:spPr>
          <a:xfrm>
            <a:off x="6564630" y="2523490"/>
            <a:ext cx="3946525" cy="94678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474345"/>
            <a:ext cx="10515600" cy="5702935"/>
          </a:xfrm>
        </p:spPr>
        <p:txBody>
          <a:bodyPr>
            <a:normAutofit lnSpcReduction="10000"/>
          </a:bodyPr>
          <a:p>
            <a:pPr marL="0" indent="0">
              <a:buNone/>
            </a:pPr>
            <a:r>
              <a:rPr lang="en-IN" altLang="en-US" sz="2000" b="1">
                <a:sym typeface="+mn-ea"/>
              </a:rPr>
              <a:t>2. Android push notification</a:t>
            </a:r>
            <a:endParaRPr lang="en-US" sz="2000"/>
          </a:p>
          <a:p>
            <a:pPr marL="0" indent="0">
              <a:buNone/>
            </a:pPr>
            <a:r>
              <a:rPr lang="en-US" sz="2000"/>
              <a:t>Android push notification Android adopts a similar notification flow. Instead of using APNs, </a:t>
            </a:r>
            <a:r>
              <a:rPr lang="en-US" sz="2000" b="1"/>
              <a:t>Firebase Cloud Messaging (FCM)</a:t>
            </a:r>
            <a:r>
              <a:rPr lang="en-US" sz="2000"/>
              <a:t> is commonly used to send push notifications to android devices.</a:t>
            </a:r>
            <a:endParaRPr lang="en-US" sz="2000"/>
          </a:p>
          <a:p>
            <a:pPr marL="0" indent="0">
              <a:buNone/>
            </a:pPr>
            <a:endParaRPr lang="en-US" sz="2000"/>
          </a:p>
          <a:p>
            <a:pPr marL="0" indent="0">
              <a:buNone/>
            </a:pPr>
            <a:endParaRPr lang="en-US" sz="2000"/>
          </a:p>
          <a:p>
            <a:pPr marL="0" indent="0">
              <a:buNone/>
            </a:pPr>
            <a:endParaRPr lang="en-US" sz="2000"/>
          </a:p>
          <a:p>
            <a:pPr marL="0" indent="0">
              <a:buNone/>
            </a:pPr>
            <a:r>
              <a:rPr lang="en-IN" altLang="en-US" sz="2000" b="1"/>
              <a:t>3. SMS</a:t>
            </a:r>
            <a:r>
              <a:rPr lang="en-IN" altLang="en-US" sz="2000"/>
              <a:t> </a:t>
            </a:r>
            <a:endParaRPr lang="en-IN" altLang="en-US" sz="2000"/>
          </a:p>
          <a:p>
            <a:pPr marL="0" indent="0">
              <a:buNone/>
            </a:pPr>
            <a:r>
              <a:rPr lang="en-IN" altLang="en-US" sz="2000"/>
              <a:t>For SMS messages, third party SMS services like Twilio, Nexmo, and many others are commonly used.</a:t>
            </a:r>
            <a:endParaRPr lang="en-IN" altLang="en-US" sz="2000"/>
          </a:p>
          <a:p>
            <a:pPr marL="0" indent="0">
              <a:buNone/>
            </a:pPr>
            <a:endParaRPr lang="en-IN" altLang="en-US" sz="2000"/>
          </a:p>
          <a:p>
            <a:pPr marL="0" indent="0">
              <a:buNone/>
            </a:pPr>
            <a:endParaRPr lang="en-IN" altLang="en-US" sz="2000"/>
          </a:p>
          <a:p>
            <a:pPr marL="0" indent="0">
              <a:buNone/>
            </a:pPr>
            <a:endParaRPr lang="en-IN" altLang="en-US" sz="2000"/>
          </a:p>
          <a:p>
            <a:pPr marL="0" indent="0">
              <a:buNone/>
            </a:pPr>
            <a:r>
              <a:rPr lang="en-IN" altLang="en-US" sz="2000" b="1"/>
              <a:t>4. Email</a:t>
            </a:r>
            <a:endParaRPr lang="en-IN" altLang="en-US" sz="2000" b="1"/>
          </a:p>
          <a:p>
            <a:pPr marL="0" indent="0">
              <a:buNone/>
            </a:pPr>
            <a:r>
              <a:rPr lang="en-IN" altLang="en-US" sz="2000"/>
              <a:t>Email Although companies can set up their own email servers, many of them opt for commercial email services. Sendgrid and Mailchimp are among the most popular email services, which offer a better delivery rate and data analytics.</a:t>
            </a:r>
            <a:endParaRPr lang="en-IN" altLang="en-US" sz="2000"/>
          </a:p>
        </p:txBody>
      </p:sp>
      <p:pic>
        <p:nvPicPr>
          <p:cNvPr id="4" name="Picture 3"/>
          <p:cNvPicPr>
            <a:picLocks noChangeAspect="1"/>
          </p:cNvPicPr>
          <p:nvPr/>
        </p:nvPicPr>
        <p:blipFill>
          <a:blip r:embed="rId1"/>
          <a:stretch>
            <a:fillRect/>
          </a:stretch>
        </p:blipFill>
        <p:spPr>
          <a:xfrm>
            <a:off x="3524250" y="1611630"/>
            <a:ext cx="4139565" cy="981710"/>
          </a:xfrm>
          <a:prstGeom prst="rect">
            <a:avLst/>
          </a:prstGeom>
        </p:spPr>
      </p:pic>
      <p:pic>
        <p:nvPicPr>
          <p:cNvPr id="6" name="Picture 5"/>
          <p:cNvPicPr>
            <a:picLocks noChangeAspect="1"/>
          </p:cNvPicPr>
          <p:nvPr/>
        </p:nvPicPr>
        <p:blipFill>
          <a:blip r:embed="rId2"/>
          <a:stretch>
            <a:fillRect/>
          </a:stretch>
        </p:blipFill>
        <p:spPr>
          <a:xfrm>
            <a:off x="3524250" y="3453130"/>
            <a:ext cx="4219575" cy="1081405"/>
          </a:xfrm>
          <a:prstGeom prst="rect">
            <a:avLst/>
          </a:prstGeom>
        </p:spPr>
      </p:pic>
      <p:pic>
        <p:nvPicPr>
          <p:cNvPr id="8" name="Picture 7"/>
          <p:cNvPicPr>
            <a:picLocks noChangeAspect="1"/>
          </p:cNvPicPr>
          <p:nvPr/>
        </p:nvPicPr>
        <p:blipFill>
          <a:blip r:embed="rId3"/>
          <a:stretch>
            <a:fillRect/>
          </a:stretch>
        </p:blipFill>
        <p:spPr>
          <a:xfrm>
            <a:off x="3690620" y="5779770"/>
            <a:ext cx="4139565" cy="108077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4182745" y="505460"/>
            <a:ext cx="3141345" cy="58470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p:cNvPicPr>
            <a:picLocks noChangeAspect="1"/>
          </p:cNvPicPr>
          <p:nvPr>
            <p:ph idx="1"/>
          </p:nvPr>
        </p:nvPicPr>
        <p:blipFill>
          <a:blip r:embed="rId1"/>
          <a:stretch>
            <a:fillRect/>
          </a:stretch>
        </p:blipFill>
        <p:spPr>
          <a:xfrm>
            <a:off x="5500370" y="1080135"/>
            <a:ext cx="6165215" cy="4351655"/>
          </a:xfrm>
          <a:prstGeom prst="rect">
            <a:avLst/>
          </a:prstGeom>
        </p:spPr>
      </p:pic>
      <p:sp>
        <p:nvSpPr>
          <p:cNvPr id="5" name="Text Box 4"/>
          <p:cNvSpPr txBox="1"/>
          <p:nvPr/>
        </p:nvSpPr>
        <p:spPr>
          <a:xfrm>
            <a:off x="558165" y="717550"/>
            <a:ext cx="4942205" cy="5908040"/>
          </a:xfrm>
          <a:prstGeom prst="rect">
            <a:avLst/>
          </a:prstGeom>
          <a:noFill/>
        </p:spPr>
        <p:txBody>
          <a:bodyPr wrap="square" rtlCol="0" anchor="t">
            <a:spAutoFit/>
          </a:bodyPr>
          <a:p>
            <a:pPr algn="l"/>
            <a:r>
              <a:rPr lang="en-IN" altLang="en-US" b="1"/>
              <a:t>A High Level Design</a:t>
            </a:r>
            <a:endParaRPr lang="en-US" b="1"/>
          </a:p>
          <a:p>
            <a:pPr algn="l"/>
            <a:endParaRPr lang="en-US" b="1"/>
          </a:p>
          <a:p>
            <a:pPr algn="l"/>
            <a:r>
              <a:rPr lang="en-US" b="1"/>
              <a:t>Service 1 to N: </a:t>
            </a:r>
            <a:r>
              <a:rPr lang="en-US"/>
              <a:t>A service can be a micro-service, a cron job, or a distributed system that triggers notification sending events. For example, a billing service sends emails to remind customers of their due payment or a shopping website tells customers that their packages will be delivered tomorrow via SMS messages.</a:t>
            </a:r>
            <a:endParaRPr lang="en-US"/>
          </a:p>
          <a:p>
            <a:pPr algn="l"/>
            <a:endParaRPr lang="en-US"/>
          </a:p>
          <a:p>
            <a:pPr algn="l"/>
            <a:r>
              <a:rPr lang="en-US" b="1"/>
              <a:t>Notification system:</a:t>
            </a:r>
            <a:r>
              <a:rPr lang="en-US"/>
              <a:t> The notification system is the centerpiece of sending/receiving notifications. Starting with something simple, only one notification server is used. It provides APIs for services 1 to N, and builds notification payloads for third party services. </a:t>
            </a:r>
            <a:endParaRPr lang="en-US"/>
          </a:p>
          <a:p>
            <a:pPr algn="l"/>
            <a:r>
              <a:rPr lang="en-US"/>
              <a:t>Third-party services: Third party services are responsible for delivering notifications to users.</a:t>
            </a:r>
            <a:endParaRPr lang="en-US"/>
          </a:p>
          <a:p>
            <a:pPr algn="l"/>
            <a:endParaRPr lang="en-US"/>
          </a:p>
          <a:p>
            <a:pPr algn="l"/>
            <a:r>
              <a:rPr lang="en-US" b="1"/>
              <a:t>iOS, Android, SMS, Email:</a:t>
            </a:r>
            <a:r>
              <a:rPr lang="en-US"/>
              <a:t> Users receive notifications on their devices.</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04520"/>
            <a:ext cx="10515600" cy="5572760"/>
          </a:xfrm>
        </p:spPr>
        <p:txBody>
          <a:bodyPr>
            <a:normAutofit lnSpcReduction="10000"/>
          </a:bodyPr>
          <a:p>
            <a:pPr marL="0" indent="0">
              <a:buNone/>
            </a:pPr>
            <a:r>
              <a:rPr lang="en-IN" altLang="en-US" sz="2000" b="1"/>
              <a:t>Design Flaws </a:t>
            </a:r>
            <a:endParaRPr lang="en-IN" altLang="en-US" sz="2000" b="1"/>
          </a:p>
          <a:p>
            <a:r>
              <a:rPr lang="en-IN" altLang="en-US" sz="2000" b="1"/>
              <a:t>Single point of failure (SPOF): </a:t>
            </a:r>
            <a:r>
              <a:rPr lang="en-IN" altLang="en-US" sz="2000"/>
              <a:t>A single notification server means SPOF.</a:t>
            </a:r>
            <a:endParaRPr lang="en-IN" altLang="en-US" sz="2000"/>
          </a:p>
          <a:p>
            <a:r>
              <a:rPr lang="en-IN" altLang="en-US" sz="2000" b="1"/>
              <a:t>Hard to scale: </a:t>
            </a:r>
            <a:r>
              <a:rPr lang="en-IN" altLang="en-US" sz="2000"/>
              <a:t>The notification system handles everything related to push notifications in one server. It is challenging to scale databases, caches, and different notification processing components independently.</a:t>
            </a:r>
            <a:endParaRPr lang="en-IN" altLang="en-US" sz="2000"/>
          </a:p>
          <a:p>
            <a:r>
              <a:rPr lang="en-IN" altLang="en-US" sz="2000" b="1"/>
              <a:t>Performance bottleneck: </a:t>
            </a:r>
            <a:r>
              <a:rPr lang="en-IN" altLang="en-US" sz="2000"/>
              <a:t>Processing and sending notifications can be resource intensive. For example, constructing HTML pages and waiting for responses from third party services could take time.  Handling everything in one system can result in the system overload, especially during peak hours.</a:t>
            </a:r>
            <a:endParaRPr lang="en-IN" altLang="en-US" sz="2000"/>
          </a:p>
          <a:p>
            <a:r>
              <a:rPr lang="en-IN" altLang="en-US" sz="2000" b="1"/>
              <a:t>Security -</a:t>
            </a:r>
            <a:r>
              <a:rPr lang="en-IN" altLang="en-US" sz="2000"/>
              <a:t> there is no way to authenticate the requests coming to the system.</a:t>
            </a:r>
            <a:endParaRPr lang="en-IN" altLang="en-US" sz="2000"/>
          </a:p>
          <a:p>
            <a:endParaRPr lang="en-IN" altLang="en-US" sz="2000"/>
          </a:p>
          <a:p>
            <a:pPr lvl="1"/>
            <a:endParaRPr lang="en-IN" alt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604520"/>
            <a:ext cx="10515600" cy="5572760"/>
          </a:xfrm>
        </p:spPr>
        <p:txBody>
          <a:bodyPr>
            <a:normAutofit lnSpcReduction="10000"/>
          </a:bodyPr>
          <a:p>
            <a:pPr marL="0" indent="0">
              <a:buNone/>
            </a:pPr>
            <a:r>
              <a:rPr lang="en-IN" altLang="en-US" sz="2000" b="1">
                <a:sym typeface="+mn-ea"/>
              </a:rPr>
              <a:t>High-level design (improved) </a:t>
            </a:r>
            <a:endParaRPr lang="en-IN" altLang="en-US" sz="2000"/>
          </a:p>
          <a:p>
            <a:pPr marL="0" indent="0">
              <a:buNone/>
            </a:pPr>
            <a:r>
              <a:rPr lang="en-IN" altLang="en-US" sz="2000">
                <a:sym typeface="+mn-ea"/>
              </a:rPr>
              <a:t>After enumerating challenges in the initial design, we improve the design as listed below: </a:t>
            </a:r>
            <a:endParaRPr lang="en-IN" altLang="en-US" sz="2000">
              <a:sym typeface="+mn-ea"/>
            </a:endParaRPr>
          </a:p>
          <a:p>
            <a:r>
              <a:rPr lang="en-IN" altLang="en-US" sz="2000">
                <a:sym typeface="+mn-ea"/>
              </a:rPr>
              <a:t>Add more notification servers and set up automatic horizontal scaling. </a:t>
            </a:r>
            <a:endParaRPr lang="en-IN" altLang="en-US" sz="2000">
              <a:sym typeface="+mn-ea"/>
            </a:endParaRPr>
          </a:p>
          <a:p>
            <a:r>
              <a:rPr lang="en-IN" altLang="en-US" sz="2000">
                <a:sym typeface="+mn-ea"/>
              </a:rPr>
              <a:t>Add a Load Balancer infront of the notification servers.</a:t>
            </a:r>
            <a:endParaRPr lang="en-IN" altLang="en-US" sz="2000">
              <a:sym typeface="+mn-ea"/>
            </a:endParaRPr>
          </a:p>
          <a:p>
            <a:r>
              <a:rPr lang="en-IN" altLang="en-US" sz="2000">
                <a:sym typeface="+mn-ea"/>
              </a:rPr>
              <a:t>Move the database and cache out of the notification server. </a:t>
            </a:r>
            <a:endParaRPr lang="en-IN" altLang="en-US" sz="2000">
              <a:sym typeface="+mn-ea"/>
            </a:endParaRPr>
          </a:p>
          <a:p>
            <a:r>
              <a:rPr lang="en-IN" altLang="en-US" sz="2000">
                <a:sym typeface="+mn-ea"/>
              </a:rPr>
              <a:t>Introduce message queues to decouple the system components.</a:t>
            </a:r>
            <a:endParaRPr lang="en-IN" altLang="en-US" sz="2000">
              <a:sym typeface="+mn-ea"/>
            </a:endParaRPr>
          </a:p>
          <a:p>
            <a:r>
              <a:rPr lang="en-IN" altLang="en-US" sz="2000">
                <a:sym typeface="+mn-ea"/>
              </a:rPr>
              <a:t>Create an Auth Service to authenticate requests</a:t>
            </a:r>
            <a:endParaRPr lang="en-IN" altLang="en-US" sz="2000">
              <a:sym typeface="+mn-ea"/>
            </a:endParaRPr>
          </a:p>
          <a:p>
            <a:endParaRPr lang="en-IN" altLang="en-US" sz="2000"/>
          </a:p>
          <a:p>
            <a:pPr lvl="1"/>
            <a:endParaRPr lang="en-IN" altLang="en-US" sz="2000"/>
          </a:p>
          <a:p>
            <a:pPr lvl="1"/>
            <a:endParaRPr lang="en-IN" alt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p:cNvPicPr>
            <a:picLocks noChangeAspect="1"/>
          </p:cNvPicPr>
          <p:nvPr>
            <p:ph idx="1"/>
          </p:nvPr>
        </p:nvPicPr>
        <p:blipFill>
          <a:blip r:embed="rId1"/>
          <a:srcRect l="5483" t="22692" r="10350" b="12618"/>
          <a:stretch>
            <a:fillRect/>
          </a:stretch>
        </p:blipFill>
        <p:spPr>
          <a:xfrm>
            <a:off x="42545" y="2225675"/>
            <a:ext cx="12106910" cy="379857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847725"/>
            <a:ext cx="10515600" cy="5329555"/>
          </a:xfrm>
        </p:spPr>
        <p:txBody>
          <a:bodyPr>
            <a:normAutofit fontScale="70000"/>
          </a:bodyPr>
          <a:p>
            <a:pPr marL="457200" indent="-457200">
              <a:buAutoNum type="arabicPeriod"/>
            </a:pPr>
            <a:r>
              <a:rPr lang="en-US"/>
              <a:t>Your code calls the POST /send endpoint. The request contains the recipient's userId, the type of notification, and the notification contents for every supported channel.</a:t>
            </a:r>
            <a:endParaRPr lang="en-US"/>
          </a:p>
          <a:p>
            <a:pPr marL="457200" indent="-457200">
              <a:buAutoNum type="arabicPeriod"/>
            </a:pPr>
            <a:r>
              <a:rPr lang="en-US"/>
              <a:t>The /send end-point authenticates the request using OAuth2's </a:t>
            </a:r>
            <a:r>
              <a:rPr lang="en-US" b="1"/>
              <a:t>Client Credentials Flow </a:t>
            </a:r>
            <a:r>
              <a:rPr lang="en-IN" altLang="en-US"/>
              <a:t>(involves an application exchanging its application credentials, such as client ID and client secret, for an access token.)</a:t>
            </a:r>
            <a:endParaRPr lang="en-US"/>
          </a:p>
          <a:p>
            <a:pPr marL="457200" indent="-457200">
              <a:buAutoNum type="arabicPeriod"/>
            </a:pPr>
            <a:r>
              <a:rPr lang="en-US"/>
              <a:t>It then requests the user's notification preferences from the database. The preferences indicate whether the user is subscribed to a particular notification and channel or not.</a:t>
            </a:r>
            <a:endParaRPr lang="en-US"/>
          </a:p>
          <a:p>
            <a:pPr marL="457200" indent="-457200">
              <a:buAutoNum type="arabicPeriod"/>
            </a:pPr>
            <a:r>
              <a:rPr lang="en-US"/>
              <a:t>It will read the user attributes such as email address or phone number from the database.</a:t>
            </a:r>
            <a:endParaRPr lang="en-US"/>
          </a:p>
          <a:p>
            <a:pPr marL="457200" indent="-457200">
              <a:buAutoNum type="arabicPeriod"/>
            </a:pPr>
            <a:r>
              <a:rPr lang="en-US"/>
              <a:t>This end-point will form a message object containing user attributes from step (4), along with the channels and content for each channel. However, it will exclude disabled channels based on step (3). Finally, the message is sent to a fan out service</a:t>
            </a:r>
            <a:r>
              <a:rPr lang="en-IN" altLang="en-US"/>
              <a:t>.</a:t>
            </a:r>
            <a:endParaRPr lang="en-US"/>
          </a:p>
          <a:p>
            <a:pPr marL="457200" indent="-457200">
              <a:buAutoNum type="arabicPeriod"/>
            </a:pPr>
            <a:r>
              <a:rPr lang="en-US"/>
              <a:t>The fanout service is configured to broadcast incoming messages to job queues. However, there is filtering in place to ignore job queues related to channels that are not listed inside the message.</a:t>
            </a:r>
            <a:endParaRPr lang="en-US"/>
          </a:p>
          <a:p>
            <a:pPr marL="457200" indent="-457200">
              <a:buAutoNum type="arabicPeriod"/>
            </a:pPr>
            <a:r>
              <a:rPr lang="en-US"/>
              <a:t>There is a job queue and processor per channel. The processor picks up the job and requests the appropriate service, e.g., a transactional email or SMS service.</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t>4. Database Design</a:t>
            </a:r>
            <a:endParaRPr lang="en-IN" altLang="en-US" b="1"/>
          </a:p>
        </p:txBody>
      </p:sp>
      <p:sp>
        <p:nvSpPr>
          <p:cNvPr id="3" name="Content Placeholder 2"/>
          <p:cNvSpPr>
            <a:spLocks noGrp="1"/>
          </p:cNvSpPr>
          <p:nvPr>
            <p:ph sz="half" idx="1"/>
          </p:nvPr>
        </p:nvSpPr>
        <p:spPr>
          <a:xfrm>
            <a:off x="838200" y="1825625"/>
            <a:ext cx="10419715" cy="4351655"/>
          </a:xfrm>
        </p:spPr>
        <p:txBody>
          <a:bodyPr>
            <a:normAutofit fontScale="70000"/>
          </a:bodyPr>
          <a:p>
            <a:r>
              <a:rPr lang="en-IN" altLang="en-US" sz="2000" b="1"/>
              <a:t>Users Db (SQL)</a:t>
            </a:r>
            <a:endParaRPr lang="en-IN" altLang="en-US" sz="2000"/>
          </a:p>
          <a:p>
            <a:pPr marL="0" indent="0">
              <a:buNone/>
            </a:pPr>
            <a:r>
              <a:rPr lang="en-IN" altLang="en-US" sz="2000"/>
              <a:t>Email addresses and phone numbers are stored in the user table, whereas device tokens are stored in the device table. A</a:t>
            </a:r>
            <a:endParaRPr lang="en-IN" altLang="en-US" sz="2000"/>
          </a:p>
          <a:p>
            <a:pPr marL="0" indent="0">
              <a:buNone/>
            </a:pPr>
            <a:r>
              <a:rPr lang="en-IN" altLang="en-US" sz="2000"/>
              <a:t>user can have multiple devices, indicating that a push notification can be sent to all the user devices.</a:t>
            </a:r>
            <a:endParaRPr lang="en-IN" altLang="en-US" sz="2000"/>
          </a:p>
          <a:p>
            <a:pPr marL="0" indent="0">
              <a:buNone/>
            </a:pPr>
            <a:endParaRPr lang="en-IN" altLang="en-US" sz="2000"/>
          </a:p>
          <a:p>
            <a:pPr marL="0" indent="0">
              <a:buNone/>
            </a:pPr>
            <a:endParaRPr lang="en-IN" altLang="en-US" sz="2000"/>
          </a:p>
          <a:p>
            <a:pPr marL="0" indent="0">
              <a:buNone/>
            </a:pPr>
            <a:endParaRPr lang="en-IN" altLang="en-US" sz="2000"/>
          </a:p>
          <a:p>
            <a:pPr marL="0" indent="0">
              <a:buNone/>
            </a:pPr>
            <a:endParaRPr lang="en-IN" altLang="en-US" sz="2000"/>
          </a:p>
          <a:p>
            <a:pPr marL="0" indent="0">
              <a:buNone/>
            </a:pPr>
            <a:endParaRPr lang="en-IN" altLang="en-US" sz="2000"/>
          </a:p>
          <a:p>
            <a:r>
              <a:rPr lang="en-IN" altLang="en-US" sz="2000" b="1">
                <a:sym typeface="+mn-ea"/>
              </a:rPr>
              <a:t>Users Preference Db (Key Value Store)</a:t>
            </a:r>
            <a:endParaRPr lang="en-IN" altLang="en-US" sz="2000">
              <a:sym typeface="+mn-ea"/>
            </a:endParaRPr>
          </a:p>
          <a:p>
            <a:pPr marL="0" indent="0">
              <a:buNone/>
            </a:pPr>
            <a:r>
              <a:rPr lang="en-IN" altLang="en-US" sz="2000">
                <a:sym typeface="+mn-ea"/>
              </a:rPr>
              <a:t>KEY: user_id:notification_type, </a:t>
            </a:r>
            <a:endParaRPr lang="en-IN" altLang="en-US" sz="2000"/>
          </a:p>
          <a:p>
            <a:pPr marL="0" indent="0">
              <a:buNone/>
            </a:pPr>
            <a:r>
              <a:rPr lang="en-IN" altLang="en-US" sz="2000">
                <a:sym typeface="+mn-ea"/>
              </a:rPr>
              <a:t>VALUE: [ {channel: "email", opt_in: true}, </a:t>
            </a:r>
            <a:endParaRPr lang="en-IN" altLang="en-US" sz="2000"/>
          </a:p>
          <a:p>
            <a:pPr marL="0" indent="0">
              <a:buNone/>
            </a:pPr>
            <a:r>
              <a:rPr lang="en-IN" altLang="en-US" sz="2000">
                <a:sym typeface="+mn-ea"/>
              </a:rPr>
              <a:t>	{channel: "sms", opt_in: false}</a:t>
            </a:r>
            <a:endParaRPr lang="en-IN" altLang="en-US" sz="2000"/>
          </a:p>
          <a:p>
            <a:pPr marL="0" indent="0">
              <a:buNone/>
            </a:pPr>
            <a:r>
              <a:rPr lang="en-IN" altLang="en-US" sz="2000">
                <a:sym typeface="+mn-ea"/>
              </a:rPr>
              <a:t>              ]‍</a:t>
            </a:r>
            <a:endParaRPr lang="en-IN" altLang="en-US" sz="2000"/>
          </a:p>
        </p:txBody>
      </p:sp>
      <p:pic>
        <p:nvPicPr>
          <p:cNvPr id="4" name="Content Placeholder 3"/>
          <p:cNvPicPr>
            <a:picLocks noChangeAspect="1"/>
          </p:cNvPicPr>
          <p:nvPr>
            <p:ph sz="half" idx="2"/>
          </p:nvPr>
        </p:nvPicPr>
        <p:blipFill>
          <a:blip r:embed="rId1"/>
          <a:stretch>
            <a:fillRect/>
          </a:stretch>
        </p:blipFill>
        <p:spPr>
          <a:xfrm>
            <a:off x="3860165" y="2733675"/>
            <a:ext cx="5181600" cy="168465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normAutofit/>
          </a:bodyPr>
          <a:p>
            <a:r>
              <a:rPr lang="en-IN" altLang="en-US" b="1">
                <a:sym typeface="+mn-ea"/>
              </a:rPr>
              <a:t>5. Design Deep Dive</a:t>
            </a:r>
            <a:endParaRPr lang="en-US"/>
          </a:p>
        </p:txBody>
      </p:sp>
      <p:sp>
        <p:nvSpPr>
          <p:cNvPr id="3" name="Content Placeholder 2"/>
          <p:cNvSpPr>
            <a:spLocks noGrp="1"/>
          </p:cNvSpPr>
          <p:nvPr>
            <p:ph sz="half" idx="1"/>
          </p:nvPr>
        </p:nvSpPr>
        <p:spPr/>
        <p:txBody>
          <a:bodyPr>
            <a:normAutofit fontScale="90000" lnSpcReduction="10000"/>
          </a:bodyPr>
          <a:p>
            <a:pPr marL="0" indent="0">
              <a:buNone/>
            </a:pPr>
            <a:r>
              <a:rPr lang="en-IN" altLang="en-US" sz="2000" b="1"/>
              <a:t>1. POST /sent</a:t>
            </a:r>
            <a:endParaRPr lang="en-IN" altLang="en-US" sz="2000"/>
          </a:p>
          <a:p>
            <a:pPr marL="0" indent="0">
              <a:buNone/>
            </a:pPr>
            <a:r>
              <a:rPr lang="en-IN" altLang="en-US" sz="2000"/>
              <a:t>The end-point is behind a load balancer to ensure scalability.</a:t>
            </a:r>
            <a:endParaRPr lang="en-IN" altLang="en-US" sz="2000"/>
          </a:p>
          <a:p>
            <a:pPr marL="0" indent="0" algn="just">
              <a:buNone/>
            </a:pPr>
            <a:r>
              <a:rPr lang="en-IN" altLang="en-US" sz="2000"/>
              <a:t>The end-point is not protected with your regular user-facing authentication. </a:t>
            </a:r>
            <a:endParaRPr lang="en-IN" altLang="en-US" sz="2000"/>
          </a:p>
          <a:p>
            <a:pPr marL="0" indent="0" algn="just">
              <a:buNone/>
            </a:pPr>
            <a:r>
              <a:rPr lang="en-IN" altLang="en-US" sz="2000"/>
              <a:t>Since the service that makes the request is a "program" itself, you need to use a different authentication mechanism known as the OAuth2 </a:t>
            </a:r>
            <a:r>
              <a:rPr lang="en-IN" altLang="en-US" sz="2000" b="1"/>
              <a:t>Client Credential Flow</a:t>
            </a:r>
            <a:r>
              <a:rPr lang="en-IN" altLang="en-US" sz="2000"/>
              <a:t> used for server-to-server communication.</a:t>
            </a:r>
            <a:endParaRPr lang="en-IN" altLang="en-US" sz="2000"/>
          </a:p>
          <a:p>
            <a:pPr marL="0" indent="0" algn="just">
              <a:buNone/>
            </a:pPr>
            <a:r>
              <a:rPr lang="en-IN" altLang="en-US" sz="2000"/>
              <a:t>You notice that the request to this end-point only contains the userId and not the email or phone number. </a:t>
            </a:r>
            <a:endParaRPr lang="en-IN" altLang="en-US" sz="2000"/>
          </a:p>
          <a:p>
            <a:pPr marL="0" indent="0" algn="just">
              <a:buNone/>
            </a:pPr>
            <a:r>
              <a:rPr lang="en-IN" altLang="en-US" sz="2000"/>
              <a:t>This allows the services that send notifications to have no knowledge of your users.</a:t>
            </a:r>
            <a:endParaRPr lang="en-IN" altLang="en-US" sz="2000"/>
          </a:p>
          <a:p>
            <a:pPr marL="0" indent="0">
              <a:buNone/>
            </a:pPr>
            <a:endParaRPr lang="en-IN" altLang="en-US" sz="2000"/>
          </a:p>
        </p:txBody>
      </p:sp>
      <p:pic>
        <p:nvPicPr>
          <p:cNvPr id="4" name="Content Placeholder 3"/>
          <p:cNvPicPr>
            <a:picLocks noChangeAspect="1"/>
          </p:cNvPicPr>
          <p:nvPr>
            <p:ph sz="half" idx="2"/>
          </p:nvPr>
        </p:nvPicPr>
        <p:blipFill>
          <a:blip r:embed="rId1"/>
          <a:stretch>
            <a:fillRect/>
          </a:stretch>
        </p:blipFill>
        <p:spPr>
          <a:xfrm>
            <a:off x="7215505" y="1825625"/>
            <a:ext cx="3094355" cy="43516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734060" y="414020"/>
            <a:ext cx="5588000" cy="5969635"/>
          </a:xfrm>
        </p:spPr>
        <p:txBody>
          <a:bodyPr>
            <a:normAutofit lnSpcReduction="20000"/>
          </a:bodyPr>
          <a:p>
            <a:pPr marL="0" indent="0">
              <a:buNone/>
            </a:pPr>
            <a:r>
              <a:rPr lang="en-IN" altLang="en-US" sz="2000" b="1"/>
              <a:t>User Preferences Service</a:t>
            </a:r>
            <a:endParaRPr lang="en-IN" altLang="en-US" sz="2000" b="1"/>
          </a:p>
          <a:p>
            <a:pPr marL="0" indent="0">
              <a:buNone/>
            </a:pPr>
            <a:endParaRPr lang="en-IN" altLang="en-US" sz="2000" b="1"/>
          </a:p>
          <a:p>
            <a:pPr marL="0" indent="0">
              <a:buNone/>
            </a:pPr>
            <a:r>
              <a:rPr lang="en-IN" altLang="en-US" sz="2000"/>
              <a:t>Use a highly scalable NoSQL or key/value pair database. Structure the records as: </a:t>
            </a:r>
            <a:endParaRPr lang="en-IN" altLang="en-US" sz="2000"/>
          </a:p>
          <a:p>
            <a:pPr marL="0" indent="0">
              <a:buNone/>
            </a:pPr>
            <a:r>
              <a:rPr lang="en-IN" altLang="en-US" sz="2000"/>
              <a:t>KEY: user_id:notification_type, </a:t>
            </a:r>
            <a:endParaRPr lang="en-IN" altLang="en-US" sz="2000"/>
          </a:p>
          <a:p>
            <a:pPr marL="0" indent="0">
              <a:buNone/>
            </a:pPr>
            <a:r>
              <a:rPr lang="en-IN" altLang="en-US" sz="2000"/>
              <a:t>VALUE: [ {channel: "email", </a:t>
            </a:r>
            <a:r>
              <a:rPr lang="en-IN" altLang="en-US" sz="2000">
                <a:sym typeface="+mn-ea"/>
              </a:rPr>
              <a:t>opt_in</a:t>
            </a:r>
            <a:r>
              <a:rPr lang="en-IN" altLang="en-US" sz="2000"/>
              <a:t>: true}, </a:t>
            </a:r>
            <a:endParaRPr lang="en-IN" altLang="en-US" sz="2000"/>
          </a:p>
          <a:p>
            <a:pPr marL="0" indent="0">
              <a:buNone/>
            </a:pPr>
            <a:r>
              <a:rPr lang="en-IN" altLang="en-US" sz="2000"/>
              <a:t>	{channel: "sms", opt_in: false}</a:t>
            </a:r>
            <a:endParaRPr lang="en-IN" altLang="en-US" sz="2000"/>
          </a:p>
          <a:p>
            <a:pPr marL="0" indent="0">
              <a:buNone/>
            </a:pPr>
            <a:r>
              <a:rPr lang="en-IN" altLang="en-US" sz="2000"/>
              <a:t>              ]‍</a:t>
            </a:r>
            <a:endParaRPr lang="en-IN" altLang="en-US" sz="2000"/>
          </a:p>
          <a:p>
            <a:pPr marL="0" indent="0">
              <a:buNone/>
            </a:pPr>
            <a:endParaRPr lang="en-IN" altLang="en-US" sz="2000"/>
          </a:p>
          <a:p>
            <a:pPr marL="0" indent="0">
              <a:buNone/>
            </a:pPr>
            <a:r>
              <a:rPr lang="en-IN" altLang="en-US" sz="2000"/>
              <a:t>When the send end-point sees "false" values in the records, it will remove the related channel from the message sent to the fanout. If a record for a channel does not exist, it means the user has not explicitly set their preferences. In this case, you need to agree to a default.</a:t>
            </a:r>
            <a:endParaRPr lang="en-IN" altLang="en-US" sz="2000"/>
          </a:p>
          <a:p>
            <a:pPr marL="0" indent="0">
              <a:buNone/>
            </a:pPr>
            <a:endParaRPr lang="en-IN" altLang="en-US" sz="2000"/>
          </a:p>
          <a:p>
            <a:pPr marL="0" indent="0">
              <a:buNone/>
            </a:pPr>
            <a:r>
              <a:rPr lang="en-IN" altLang="en-US" sz="2000"/>
              <a:t>The information in the user_preferences table is updated by the user through your UI, through a normal end-point protected by your common authentication mechanisms.</a:t>
            </a:r>
            <a:endParaRPr lang="en-IN" altLang="en-US" sz="2000"/>
          </a:p>
        </p:txBody>
      </p:sp>
      <p:pic>
        <p:nvPicPr>
          <p:cNvPr id="4" name="Content Placeholder 3"/>
          <p:cNvPicPr>
            <a:picLocks noChangeAspect="1"/>
          </p:cNvPicPr>
          <p:nvPr>
            <p:ph sz="half" idx="2"/>
          </p:nvPr>
        </p:nvPicPr>
        <p:blipFill>
          <a:blip r:embed="rId1"/>
          <a:stretch>
            <a:fillRect/>
          </a:stretch>
        </p:blipFill>
        <p:spPr>
          <a:xfrm>
            <a:off x="6502400" y="1825625"/>
            <a:ext cx="4519930" cy="435165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61975"/>
            <a:ext cx="10593705" cy="5615305"/>
          </a:xfrm>
        </p:spPr>
        <p:txBody>
          <a:bodyPr>
            <a:normAutofit/>
          </a:bodyPr>
          <a:p>
            <a:pPr marL="0" lvl="0" indent="0">
              <a:buNone/>
            </a:pPr>
            <a:r>
              <a:rPr lang="en-IN" altLang="en-US" sz="2000" b="1">
                <a:sym typeface="+mn-ea"/>
              </a:rPr>
              <a:t>User Preference Db Consideration</a:t>
            </a:r>
            <a:endParaRPr lang="en-IN" altLang="en-US" sz="2000">
              <a:sym typeface="+mn-ea"/>
            </a:endParaRPr>
          </a:p>
          <a:p>
            <a:pPr lvl="0"/>
            <a:r>
              <a:rPr lang="en-IN" altLang="en-US" sz="2000">
                <a:sym typeface="+mn-ea"/>
              </a:rPr>
              <a:t>We dont need ACID transactions</a:t>
            </a:r>
            <a:endParaRPr lang="en-IN" altLang="en-US" sz="2000"/>
          </a:p>
          <a:p>
            <a:pPr lvl="0"/>
            <a:r>
              <a:rPr lang="en-IN" altLang="en-US" sz="2000">
                <a:sym typeface="+mn-ea"/>
              </a:rPr>
              <a:t>We dont need to run complex queries</a:t>
            </a:r>
            <a:endParaRPr lang="en-IN" altLang="en-US" sz="2000"/>
          </a:p>
          <a:p>
            <a:pPr lvl="0"/>
            <a:r>
              <a:rPr lang="en-IN" altLang="en-US" sz="2000">
                <a:sym typeface="+mn-ea"/>
              </a:rPr>
              <a:t>We donot want to use the storage for data analytics and warehousing.</a:t>
            </a:r>
            <a:endParaRPr lang="en-IN" altLang="en-US" sz="2000"/>
          </a:p>
          <a:p>
            <a:pPr lvl="0"/>
            <a:r>
              <a:rPr lang="en-IN" altLang="en-US" sz="2000">
                <a:sym typeface="+mn-ea"/>
              </a:rPr>
              <a:t>We need a db that is scalable, highly available and tolerate network partitions.</a:t>
            </a:r>
            <a:endParaRPr lang="en-IN" altLang="en-US" sz="2000"/>
          </a:p>
          <a:p>
            <a:pPr lvl="0"/>
            <a:r>
              <a:rPr lang="en-IN" altLang="en-US" sz="2000" b="1">
                <a:sym typeface="+mn-ea"/>
              </a:rPr>
              <a:t>So SQL or NoSQL?</a:t>
            </a:r>
            <a:r>
              <a:rPr lang="en-IN" altLang="en-US" sz="2000">
                <a:sym typeface="+mn-ea"/>
              </a:rPr>
              <a:t> - ans: above requirements are met by NoSQL.</a:t>
            </a:r>
            <a:endParaRPr lang="en-IN" altLang="en-US" sz="2000"/>
          </a:p>
          <a:p>
            <a:pPr lvl="0"/>
            <a:r>
              <a:rPr lang="en-IN" altLang="en-US" sz="2000" b="1">
                <a:sym typeface="+mn-ea"/>
              </a:rPr>
              <a:t>Type of NoSQL?</a:t>
            </a:r>
            <a:endParaRPr lang="en-IN" altLang="en-US" sz="2000" b="1"/>
          </a:p>
          <a:p>
            <a:pPr lvl="1"/>
            <a:r>
              <a:rPr lang="en-IN" altLang="en-US" sz="2000">
                <a:sym typeface="+mn-ea"/>
              </a:rPr>
              <a:t>Messages have a limited size like 1MB. So we donot need a document store.</a:t>
            </a:r>
            <a:endParaRPr lang="en-IN" altLang="en-US" sz="2000"/>
          </a:p>
          <a:p>
            <a:pPr lvl="1"/>
            <a:r>
              <a:rPr lang="en-IN" altLang="en-US" sz="2000">
                <a:sym typeface="+mn-ea"/>
              </a:rPr>
              <a:t>There is no specific relationship between messages. So we donot need graph dbs</a:t>
            </a:r>
            <a:endParaRPr lang="en-IN" altLang="en-US" sz="2000"/>
          </a:p>
          <a:p>
            <a:pPr lvl="1"/>
            <a:r>
              <a:rPr lang="en-IN" altLang="en-US" sz="2000">
                <a:sym typeface="+mn-ea"/>
              </a:rPr>
              <a:t>So we can use either column or key - value dbs.</a:t>
            </a:r>
            <a:endParaRPr lang="en-IN" altLang="en-US" sz="2000"/>
          </a:p>
          <a:p>
            <a:pPr lvl="2"/>
            <a:r>
              <a:rPr lang="en-IN" altLang="en-US" sz="2000">
                <a:sym typeface="+mn-ea"/>
              </a:rPr>
              <a:t>Ex - Apache Cassandra, Amazon DynamoDb</a:t>
            </a:r>
            <a:endParaRPr lang="en-IN" altLang="en-US" sz="2220"/>
          </a:p>
          <a:p>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09270"/>
            <a:ext cx="10462895" cy="5668010"/>
          </a:xfrm>
        </p:spPr>
        <p:txBody>
          <a:bodyPr>
            <a:normAutofit/>
          </a:bodyPr>
          <a:p>
            <a:pPr marL="0" indent="0">
              <a:buNone/>
            </a:pPr>
            <a:r>
              <a:rPr lang="en-US" sz="2000" b="1"/>
              <a:t>Fan Out</a:t>
            </a:r>
            <a:endParaRPr lang="en-US" sz="2000" b="1"/>
          </a:p>
          <a:p>
            <a:r>
              <a:rPr lang="en-US" sz="2000"/>
              <a:t>Fanout takes a message and duplicates it to various places. They are cheap and highly scalable. In AWS, use SNS. In Google Cloud Platform, use Pub/Sub, and in Azure, use topics and subscriptions.</a:t>
            </a:r>
            <a:endParaRPr lang="en-US" sz="2000"/>
          </a:p>
          <a:p>
            <a:endParaRPr lang="en-US" sz="2000"/>
          </a:p>
          <a:p>
            <a:r>
              <a:rPr lang="en-US" sz="2000"/>
              <a:t>You can </a:t>
            </a:r>
            <a:r>
              <a:rPr lang="en-US" sz="2000" b="1"/>
              <a:t>configure filtering between the fanout and job queues</a:t>
            </a:r>
            <a:r>
              <a:rPr lang="en-US" sz="2000"/>
              <a:t> to avoid sending unnecessary messages to job queues of channels that have been excluded. For example, in AWS SNS, you can specify that the email job queue should only receive the fanout message if the message contains the "email" property inside the "channels" property.</a:t>
            </a:r>
            <a:endParaRPr lang="en-US" sz="2000"/>
          </a:p>
          <a:p>
            <a:endParaRPr lang="en-US" sz="2000"/>
          </a:p>
          <a:p>
            <a:endParaRPr lang="en-US" sz="2000"/>
          </a:p>
          <a:p>
            <a:pPr marL="0" indent="0">
              <a:buNone/>
            </a:pPr>
            <a:r>
              <a:rPr lang="en-US" sz="2000" b="1"/>
              <a:t>Why do we need a fanout? </a:t>
            </a:r>
            <a:endParaRPr lang="en-US" sz="2000"/>
          </a:p>
          <a:p>
            <a:r>
              <a:rPr lang="en-US" sz="2000"/>
              <a:t>You could write code that puts the same message into the necessary job queues, but fanout is cheaper, and writing less code is good. Another benefit of fanout is being able to easily add/remove queues, thus allowing you to refactor and extend your channels.</a:t>
            </a:r>
            <a:endParaRPr lang="en-US" sz="2000"/>
          </a:p>
          <a:p>
            <a:pPr marL="0" indent="0">
              <a:buNone/>
            </a:pPr>
            <a:endParaRPr lang="en-IN" altLang="en-US" sz="2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09270"/>
            <a:ext cx="10645775" cy="5668010"/>
          </a:xfrm>
        </p:spPr>
        <p:txBody>
          <a:bodyPr>
            <a:normAutofit lnSpcReduction="10000"/>
          </a:bodyPr>
          <a:p>
            <a:pPr marL="0" indent="0">
              <a:buNone/>
            </a:pPr>
            <a:r>
              <a:rPr lang="en-US" sz="2000" b="1"/>
              <a:t>Job Processing</a:t>
            </a:r>
            <a:endParaRPr lang="en-US" sz="2000"/>
          </a:p>
          <a:p>
            <a:r>
              <a:rPr lang="en-US" sz="2000"/>
              <a:t>Queues hold on to messages until your job processors process them. They are also cheap and highly scalable. Job processors are code that takes messages from the job queues and processes them. They can scale based on the number of messages in the queue.</a:t>
            </a:r>
            <a:endParaRPr lang="en-US" sz="2000"/>
          </a:p>
          <a:p>
            <a:endParaRPr lang="en-US" sz="2000"/>
          </a:p>
          <a:p>
            <a:r>
              <a:rPr lang="en-US" sz="2000"/>
              <a:t>In our case, the job processor should make an API call to the appropriate service to send out the notification through a transactional email service.</a:t>
            </a:r>
            <a:endParaRPr lang="en-US" sz="2000"/>
          </a:p>
          <a:p>
            <a:endParaRPr lang="en-US" sz="2000"/>
          </a:p>
          <a:p>
            <a:pPr marL="0" indent="0">
              <a:buNone/>
            </a:pPr>
            <a:r>
              <a:rPr lang="en-US" sz="2000" b="1"/>
              <a:t>Why do we need job queues and processors?</a:t>
            </a:r>
            <a:endParaRPr lang="en-US" sz="2000"/>
          </a:p>
          <a:p>
            <a:pPr marL="0" indent="0">
              <a:buNone/>
            </a:pPr>
            <a:endParaRPr lang="en-US" sz="2000"/>
          </a:p>
          <a:p>
            <a:pPr marL="0" indent="0">
              <a:buNone/>
            </a:pPr>
            <a:r>
              <a:rPr lang="en-US" sz="2000"/>
              <a:t>Multiple reasons: </a:t>
            </a:r>
            <a:endParaRPr lang="en-US" sz="2000"/>
          </a:p>
          <a:p>
            <a:pPr marL="457200" lvl="1" indent="0">
              <a:buNone/>
            </a:pPr>
            <a:r>
              <a:rPr lang="en-US" sz="1710"/>
              <a:t>A) External delivery services are generally slow. The queue mechanism allows you to process these dead jobs asynchronously from the rest of your code. </a:t>
            </a:r>
            <a:endParaRPr lang="en-US" sz="1710"/>
          </a:p>
          <a:p>
            <a:pPr marL="457200" lvl="1" indent="0">
              <a:buNone/>
            </a:pPr>
            <a:endParaRPr lang="en-US" sz="1710"/>
          </a:p>
          <a:p>
            <a:pPr marL="457200" lvl="1" indent="0">
              <a:buNone/>
            </a:pPr>
            <a:r>
              <a:rPr lang="en-US" sz="1710"/>
              <a:t>B) The queue mechanism allows you to control the rate of your jobs, thus avoiding getting throttled. </a:t>
            </a:r>
            <a:endParaRPr lang="en-US" sz="1710"/>
          </a:p>
          <a:p>
            <a:pPr marL="457200" lvl="1" indent="0">
              <a:buNone/>
            </a:pPr>
            <a:endParaRPr lang="en-US" sz="1710"/>
          </a:p>
          <a:p>
            <a:pPr marL="457200" lvl="1" indent="0">
              <a:buNone/>
            </a:pPr>
            <a:r>
              <a:rPr lang="en-US" sz="1710"/>
              <a:t>C) These external services could face outages. A job queue mechanism lets you decide what to do in cases of job failure without a single line of code, e.g., retry the job every 30 minutes for a maximum of 3 times.</a:t>
            </a:r>
            <a:endParaRPr lang="en-US" sz="171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Content Placeholder 3"/>
          <p:cNvPicPr>
            <a:picLocks noChangeAspect="1"/>
          </p:cNvPicPr>
          <p:nvPr>
            <p:ph sz="half" idx="1"/>
          </p:nvPr>
        </p:nvPicPr>
        <p:blipFill>
          <a:blip r:embed="rId1"/>
          <a:stretch>
            <a:fillRect/>
          </a:stretch>
        </p:blipFill>
        <p:spPr>
          <a:xfrm>
            <a:off x="3565525" y="544195"/>
            <a:ext cx="4575175" cy="585914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543560"/>
            <a:ext cx="10549890" cy="5633720"/>
          </a:xfrm>
        </p:spPr>
        <p:txBody>
          <a:bodyPr>
            <a:normAutofit/>
          </a:bodyPr>
          <a:p>
            <a:pPr marL="0" indent="0">
              <a:buNone/>
            </a:pPr>
            <a:r>
              <a:rPr lang="en-US" sz="2000" b="1"/>
              <a:t>Websockets &amp; Webhooks</a:t>
            </a:r>
            <a:endParaRPr lang="en-US" sz="2000"/>
          </a:p>
          <a:p>
            <a:r>
              <a:rPr lang="en-US" sz="2000"/>
              <a:t>Websockets are similar to API, but have a key difference - they stay live, so servers can constantly send information through them, instead of relying on clients sending requests to the API. </a:t>
            </a:r>
            <a:endParaRPr lang="en-US" sz="2000"/>
          </a:p>
          <a:p>
            <a:r>
              <a:rPr lang="en-US" sz="2000"/>
              <a:t>This makes websockets a go-to solution when handling in-app notifications or other services that require live updates. Effective in-app notifications require a websocket connection to ensure new notifications are delivered to users without the need to refresh the web page.</a:t>
            </a:r>
            <a:endParaRPr lang="en-US" sz="2000"/>
          </a:p>
          <a:p>
            <a:endParaRPr lang="en-US" sz="2000"/>
          </a:p>
          <a:p>
            <a:r>
              <a:rPr lang="en-US" sz="2000"/>
              <a:t>Also very similar to API, webhooks differ because they wait for events to happen. Your email provider can call a webhook to inform you that an email was delivered or bounced and the contents of that request can be logged for deliverability records.</a:t>
            </a:r>
            <a:endParaRPr 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475615"/>
            <a:ext cx="5181600" cy="5701665"/>
          </a:xfrm>
        </p:spPr>
        <p:txBody>
          <a:bodyPr>
            <a:normAutofit/>
          </a:bodyPr>
          <a:p>
            <a:pPr marL="0" indent="0">
              <a:buNone/>
            </a:pPr>
            <a:r>
              <a:rPr lang="en-US" sz="2000" b="1"/>
              <a:t>Reliability</a:t>
            </a:r>
            <a:endParaRPr lang="en-US" sz="2000" b="1"/>
          </a:p>
          <a:p>
            <a:r>
              <a:rPr lang="en-US" sz="2000"/>
              <a:t>How to prevent data loss? </a:t>
            </a:r>
            <a:endParaRPr lang="en-US" sz="2000"/>
          </a:p>
          <a:p>
            <a:r>
              <a:rPr lang="en-US" sz="2000"/>
              <a:t>One of the most important requirements in a notification system is that it cannot lose data. Notifications can usually be delayed or re-ordered, but never lost. </a:t>
            </a:r>
            <a:endParaRPr lang="en-US" sz="2000"/>
          </a:p>
          <a:p>
            <a:r>
              <a:rPr lang="en-US" sz="2000"/>
              <a:t>To satisfy this requirement, the notification system persists notification data in a database and implements a retry mechanism. </a:t>
            </a:r>
            <a:endParaRPr lang="en-US" sz="2000"/>
          </a:p>
          <a:p>
            <a:r>
              <a:rPr lang="en-US" sz="2000"/>
              <a:t>The notification log database is included for data persistence</a:t>
            </a:r>
            <a:endParaRPr lang="en-US" sz="2000"/>
          </a:p>
        </p:txBody>
      </p:sp>
      <p:pic>
        <p:nvPicPr>
          <p:cNvPr id="5" name="Content Placeholder 4"/>
          <p:cNvPicPr>
            <a:picLocks noChangeAspect="1"/>
          </p:cNvPicPr>
          <p:nvPr>
            <p:ph sz="half" idx="2"/>
          </p:nvPr>
        </p:nvPicPr>
        <p:blipFill>
          <a:blip r:embed="rId1"/>
          <a:stretch>
            <a:fillRect/>
          </a:stretch>
        </p:blipFill>
        <p:spPr>
          <a:xfrm>
            <a:off x="6172200" y="2630805"/>
            <a:ext cx="5181600" cy="274066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sz="half" idx="1"/>
          </p:nvPr>
        </p:nvSpPr>
        <p:spPr>
          <a:xfrm>
            <a:off x="838200" y="665480"/>
            <a:ext cx="10516235" cy="5511800"/>
          </a:xfrm>
        </p:spPr>
        <p:txBody>
          <a:bodyPr>
            <a:normAutofit/>
          </a:bodyPr>
          <a:p>
            <a:pPr marL="0" indent="0">
              <a:buNone/>
            </a:pPr>
            <a:r>
              <a:rPr lang="en-IN" altLang="en-US" sz="2000" b="1"/>
              <a:t>Atleast Once Delivery</a:t>
            </a:r>
            <a:endParaRPr lang="en-US" sz="2000"/>
          </a:p>
          <a:p>
            <a:pPr marL="0" indent="0">
              <a:buNone/>
            </a:pPr>
            <a:r>
              <a:rPr lang="en-US" sz="2000"/>
              <a:t>Will recipients receive a notification exactly once? </a:t>
            </a:r>
            <a:endParaRPr lang="en-US" sz="2000"/>
          </a:p>
          <a:p>
            <a:r>
              <a:rPr lang="en-US" sz="2000"/>
              <a:t>The short answer is no. Although notification is delivered exactly once most of the time, the distributed nature could result in duplicate notifications. To reduce the duplication occurrence, we introduce a dedupe mechanism and handle each failure case carefully. </a:t>
            </a:r>
            <a:endParaRPr lang="en-US" sz="2000"/>
          </a:p>
          <a:p>
            <a:r>
              <a:rPr lang="en-US" sz="2000"/>
              <a:t>Here is a simple dedupe logic: When a notification event first arrives, we check if it is seen before by checking the event ID. If it is seen before, it is discarded. Otherwise, we will send out the notification.</a:t>
            </a:r>
            <a:endParaRPr lang="en-US" sz="2000"/>
          </a:p>
          <a:p>
            <a:endParaRPr lang="en-US" sz="2000"/>
          </a:p>
          <a:p>
            <a:pPr marL="0" indent="0">
              <a:buNone/>
            </a:pPr>
            <a:r>
              <a:rPr lang="en-IN" altLang="en-US" sz="2000" b="1"/>
              <a:t>Observability</a:t>
            </a:r>
            <a:endParaRPr lang="en-IN" altLang="en-US" sz="2000"/>
          </a:p>
          <a:p>
            <a:pPr marL="0" indent="0">
              <a:buNone/>
            </a:pPr>
            <a:r>
              <a:rPr lang="en-IN" altLang="en-US" sz="2000"/>
              <a:t>Monitor queued notifications. A key metric to monitor is the total number of queued notifications. If the number is large, the notification events are not processed fast enough by workers. To avoid delay in the notification delivery, more workers are needed. </a:t>
            </a:r>
            <a:endParaRPr lang="en-IN" altLang="en-US" sz="2000"/>
          </a:p>
        </p:txBody>
      </p:sp>
      <p:pic>
        <p:nvPicPr>
          <p:cNvPr id="5" name="Picture 4"/>
          <p:cNvPicPr>
            <a:picLocks noChangeAspect="1"/>
          </p:cNvPicPr>
          <p:nvPr/>
        </p:nvPicPr>
        <p:blipFill>
          <a:blip r:embed="rId1"/>
          <a:stretch>
            <a:fillRect/>
          </a:stretch>
        </p:blipFill>
        <p:spPr>
          <a:xfrm>
            <a:off x="4033520" y="5100320"/>
            <a:ext cx="4124960" cy="15055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11431</Words>
  <Application>WPS Presentation</Application>
  <PresentationFormat>Widescreen</PresentationFormat>
  <Paragraphs>192</Paragraphs>
  <Slides>23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23</vt:i4>
      </vt:variant>
    </vt:vector>
  </HeadingPairs>
  <TitlesOfParts>
    <vt:vector size="31" baseType="lpstr">
      <vt:lpstr>Arial</vt:lpstr>
      <vt:lpstr>SimSun</vt:lpstr>
      <vt:lpstr>Wingdings</vt:lpstr>
      <vt:lpstr>Calibri Light</vt:lpstr>
      <vt:lpstr>Calibri</vt:lpstr>
      <vt:lpstr>Microsoft YaHei</vt:lpstr>
      <vt:lpstr>Arial Unicode MS</vt:lpstr>
      <vt:lpstr>Office Theme</vt:lpstr>
      <vt:lpstr>Distributed Notification System</vt:lpstr>
      <vt:lpstr>Contents</vt:lpstr>
      <vt:lpstr>1. Requirement Gathering</vt:lpstr>
      <vt:lpstr>PowerPoint 演示文稿</vt:lpstr>
      <vt:lpstr>2. Capacity Estimation</vt:lpstr>
      <vt:lpstr>3. High Level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4. Database Design</vt:lpstr>
      <vt:lpstr>5. Design Deep Dive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avish</cp:lastModifiedBy>
  <cp:revision>67</cp:revision>
  <dcterms:created xsi:type="dcterms:W3CDTF">2025-01-15T18:06:00Z</dcterms:created>
  <dcterms:modified xsi:type="dcterms:W3CDTF">2025-01-17T05:33:46Z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1033-11.2.0.9327</vt:lpwstr>
  </property>
</Properties>
</file>