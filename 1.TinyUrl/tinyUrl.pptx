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3" r:id="rId9"/>
    <p:sldId id="262" r:id="rId10"/>
    <p:sldId id="264" r:id="rId11"/>
    <p:sldId id="265" r:id="rId12"/>
    <p:sldId id="266" r:id="rId13"/>
    <p:sldId id="270" r:id="rId14"/>
    <p:sldId id="267" r:id="rId15"/>
    <p:sldId id="269" r:id="rId16"/>
    <p:sldId id="271" r:id="rId17"/>
    <p:sldId id="272" r:id="rId18"/>
    <p:sldId id="273" r:id="rId19"/>
    <p:sldId id="274" r:id="rId20"/>
    <p:sldId id="275" r:id="rId21"/>
    <p:sldId id="276" r:id="rId22"/>
    <p:sldId id="277" r:id="rId23"/>
    <p:sldId id="280" r:id="rId24"/>
    <p:sldId id="281" r:id="rId25"/>
    <p:sldId id="28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ltLang="en-US" b="1" dirty="0"/>
              <a:t>Design TinyURL</a:t>
            </a:r>
            <a:endParaRPr lang="en-IN" altLang="en-US" b="1"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IN" altLang="en-US" b="1"/>
              <a:t>Introduction</a:t>
            </a:r>
            <a:endParaRPr lang="en-IN" altLang="en-US" b="1"/>
          </a:p>
        </p:txBody>
      </p:sp>
      <p:sp>
        <p:nvSpPr>
          <p:cNvPr id="3" name="Content Placeholder 2"/>
          <p:cNvSpPr>
            <a:spLocks noGrp="1"/>
          </p:cNvSpPr>
          <p:nvPr>
            <p:ph sz="half" idx="1"/>
          </p:nvPr>
        </p:nvSpPr>
        <p:spPr>
          <a:xfrm>
            <a:off x="838200" y="1825625"/>
            <a:ext cx="10515600" cy="4351655"/>
          </a:xfrm>
        </p:spPr>
        <p:txBody>
          <a:bodyPr/>
          <a:p>
            <a:r>
              <a:rPr lang="en-US" sz="1800">
                <a:latin typeface="Segoe UI" panose="020B0502040204020203" charset="0"/>
                <a:cs typeface="Segoe UI" panose="020B0502040204020203" charset="0"/>
              </a:rPr>
              <a:t>URL shortening is used to create shorter aliases for long URLs. </a:t>
            </a:r>
            <a:endParaRPr lang="en-US" sz="1800">
              <a:latin typeface="Segoe UI" panose="020B0502040204020203" charset="0"/>
              <a:cs typeface="Segoe UI" panose="020B0502040204020203" charset="0"/>
            </a:endParaRPr>
          </a:p>
          <a:p>
            <a:endParaRPr lang="en-US" sz="1800">
              <a:latin typeface="Segoe UI" panose="020B0502040204020203" charset="0"/>
              <a:cs typeface="Segoe UI" panose="020B0502040204020203" charset="0"/>
            </a:endParaRPr>
          </a:p>
        </p:txBody>
      </p:sp>
      <p:pic>
        <p:nvPicPr>
          <p:cNvPr id="4" name="Content Placeholder 3"/>
          <p:cNvPicPr>
            <a:picLocks noChangeAspect="1"/>
          </p:cNvPicPr>
          <p:nvPr>
            <p:ph sz="half" idx="2"/>
          </p:nvPr>
        </p:nvPicPr>
        <p:blipFill>
          <a:blip r:embed="rId1"/>
          <a:stretch>
            <a:fillRect/>
          </a:stretch>
        </p:blipFill>
        <p:spPr>
          <a:xfrm>
            <a:off x="2786380" y="2392680"/>
            <a:ext cx="6619240" cy="20720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Requirements and Goals of the system</a:t>
            </a:r>
            <a:endParaRPr lang="en-IN" altLang="en-US" b="1"/>
          </a:p>
        </p:txBody>
      </p:sp>
      <p:sp>
        <p:nvSpPr>
          <p:cNvPr id="3" name="Content Placeholder 2"/>
          <p:cNvSpPr>
            <a:spLocks noGrp="1"/>
          </p:cNvSpPr>
          <p:nvPr>
            <p:ph sz="half" idx="1"/>
          </p:nvPr>
        </p:nvSpPr>
        <p:spPr>
          <a:xfrm>
            <a:off x="838200" y="1825625"/>
            <a:ext cx="10516235" cy="4351655"/>
          </a:xfrm>
        </p:spPr>
        <p:txBody>
          <a:bodyPr>
            <a:normAutofit fontScale="60000"/>
          </a:bodyPr>
          <a:p>
            <a:pPr marL="0" indent="0" algn="just">
              <a:buNone/>
            </a:pPr>
            <a:r>
              <a:rPr lang="en-IN" altLang="en-US" sz="1800" b="1">
                <a:latin typeface="Segoe UI" panose="020B0502040204020203" charset="0"/>
                <a:cs typeface="Segoe UI" panose="020B0502040204020203" charset="0"/>
              </a:rPr>
              <a:t>F</a:t>
            </a:r>
            <a:r>
              <a:rPr lang="en-US" sz="1800" b="1">
                <a:latin typeface="Segoe UI" panose="020B0502040204020203" charset="0"/>
                <a:cs typeface="Segoe UI" panose="020B0502040204020203" charset="0"/>
              </a:rPr>
              <a:t>unctional Requirements:</a:t>
            </a:r>
            <a:endParaRPr lang="en-US" sz="1800">
              <a:latin typeface="Segoe UI" panose="020B0502040204020203" charset="0"/>
              <a:cs typeface="Segoe UI" panose="020B0502040204020203" charset="0"/>
            </a:endParaRPr>
          </a:p>
          <a:p>
            <a:pPr algn="just"/>
            <a:r>
              <a:rPr lang="en-US" sz="1800">
                <a:latin typeface="Segoe UI" panose="020B0502040204020203" charset="0"/>
                <a:cs typeface="Segoe UI" panose="020B0502040204020203" charset="0"/>
              </a:rPr>
              <a:t>Given a URL, our service should generate a shorter and unique alias of it. This is called a short link. This link should be short enough to be easily copied and pasted into applications.</a:t>
            </a:r>
            <a:endParaRPr lang="en-US" sz="1800">
              <a:latin typeface="Segoe UI" panose="020B0502040204020203" charset="0"/>
              <a:cs typeface="Segoe UI" panose="020B0502040204020203" charset="0"/>
            </a:endParaRPr>
          </a:p>
          <a:p>
            <a:pPr algn="just"/>
            <a:r>
              <a:rPr lang="en-US" sz="1800">
                <a:latin typeface="Segoe UI" panose="020B0502040204020203" charset="0"/>
                <a:cs typeface="Segoe UI" panose="020B0502040204020203" charset="0"/>
              </a:rPr>
              <a:t>When users access a short link, our service should redirect them to the original link.</a:t>
            </a:r>
            <a:endParaRPr lang="en-US" sz="1800">
              <a:latin typeface="Segoe UI" panose="020B0502040204020203" charset="0"/>
              <a:cs typeface="Segoe UI" panose="020B0502040204020203" charset="0"/>
            </a:endParaRPr>
          </a:p>
          <a:p>
            <a:pPr algn="just"/>
            <a:r>
              <a:rPr lang="en-US" sz="1800">
                <a:latin typeface="Segoe UI" panose="020B0502040204020203" charset="0"/>
                <a:cs typeface="Segoe UI" panose="020B0502040204020203" charset="0"/>
              </a:rPr>
              <a:t>Users should optionally be able to pick a custom short link for their URL.</a:t>
            </a:r>
            <a:endParaRPr lang="en-US" sz="1800">
              <a:latin typeface="Segoe UI" panose="020B0502040204020203" charset="0"/>
              <a:cs typeface="Segoe UI" panose="020B0502040204020203" charset="0"/>
            </a:endParaRPr>
          </a:p>
          <a:p>
            <a:pPr algn="just"/>
            <a:r>
              <a:rPr lang="en-US" sz="1800">
                <a:latin typeface="Segoe UI" panose="020B0502040204020203" charset="0"/>
                <a:cs typeface="Segoe UI" panose="020B0502040204020203" charset="0"/>
              </a:rPr>
              <a:t>Links will expire after a standard default timespan. Users should be able to specify the expiration time.</a:t>
            </a:r>
            <a:endParaRPr lang="en-US" sz="1800">
              <a:latin typeface="Segoe UI" panose="020B0502040204020203" charset="0"/>
              <a:cs typeface="Segoe UI" panose="020B0502040204020203" charset="0"/>
            </a:endParaRPr>
          </a:p>
          <a:p>
            <a:pPr algn="just"/>
            <a:endParaRPr lang="en-US" sz="1800">
              <a:latin typeface="Segoe UI" panose="020B0502040204020203" charset="0"/>
              <a:cs typeface="Segoe UI" panose="020B0502040204020203" charset="0"/>
            </a:endParaRPr>
          </a:p>
          <a:p>
            <a:pPr marL="0" indent="0" algn="just">
              <a:buNone/>
            </a:pPr>
            <a:r>
              <a:rPr lang="en-US" sz="1800" b="1">
                <a:latin typeface="Segoe UI" panose="020B0502040204020203" charset="0"/>
                <a:cs typeface="Segoe UI" panose="020B0502040204020203" charset="0"/>
              </a:rPr>
              <a:t>Non-Functional Requirements:</a:t>
            </a:r>
            <a:endParaRPr lang="en-US" sz="1800">
              <a:latin typeface="Segoe UI" panose="020B0502040204020203" charset="0"/>
              <a:cs typeface="Segoe UI" panose="020B0502040204020203" charset="0"/>
            </a:endParaRPr>
          </a:p>
          <a:p>
            <a:pPr algn="just"/>
            <a:r>
              <a:rPr lang="en-US" sz="1800">
                <a:latin typeface="Segoe UI" panose="020B0502040204020203" charset="0"/>
                <a:cs typeface="Segoe UI" panose="020B0502040204020203" charset="0"/>
              </a:rPr>
              <a:t>The system should be highly available. This is required because, if our service is down, all the URL redirections will start failing.</a:t>
            </a:r>
            <a:endParaRPr lang="en-US" sz="1800">
              <a:latin typeface="Segoe UI" panose="020B0502040204020203" charset="0"/>
              <a:cs typeface="Segoe UI" panose="020B0502040204020203" charset="0"/>
            </a:endParaRPr>
          </a:p>
          <a:p>
            <a:pPr algn="just"/>
            <a:r>
              <a:rPr lang="en-US" sz="1800">
                <a:latin typeface="Segoe UI" panose="020B0502040204020203" charset="0"/>
                <a:cs typeface="Segoe UI" panose="020B0502040204020203" charset="0"/>
              </a:rPr>
              <a:t>URL redirection should happen in real-time with minimal latency.</a:t>
            </a:r>
            <a:endParaRPr lang="en-US" sz="1800">
              <a:latin typeface="Segoe UI" panose="020B0502040204020203" charset="0"/>
              <a:cs typeface="Segoe UI" panose="020B0502040204020203" charset="0"/>
            </a:endParaRPr>
          </a:p>
          <a:p>
            <a:pPr algn="just"/>
            <a:r>
              <a:rPr lang="en-US" sz="1800">
                <a:latin typeface="Segoe UI" panose="020B0502040204020203" charset="0"/>
                <a:cs typeface="Segoe UI" panose="020B0502040204020203" charset="0"/>
              </a:rPr>
              <a:t>Shortened links should not be guessable (not predictable).</a:t>
            </a:r>
            <a:endParaRPr lang="en-US" sz="1800">
              <a:latin typeface="Segoe UI" panose="020B0502040204020203" charset="0"/>
              <a:cs typeface="Segoe UI" panose="020B0502040204020203" charset="0"/>
            </a:endParaRPr>
          </a:p>
          <a:p>
            <a:pPr algn="just"/>
            <a:endParaRPr lang="en-US" sz="1800">
              <a:latin typeface="Segoe UI" panose="020B0502040204020203" charset="0"/>
              <a:cs typeface="Segoe UI" panose="020B0502040204020203" charset="0"/>
            </a:endParaRPr>
          </a:p>
          <a:p>
            <a:pPr marL="0" indent="0" algn="just">
              <a:buNone/>
            </a:pPr>
            <a:r>
              <a:rPr lang="en-US" sz="1800" b="1">
                <a:latin typeface="Segoe UI" panose="020B0502040204020203" charset="0"/>
                <a:cs typeface="Segoe UI" panose="020B0502040204020203" charset="0"/>
              </a:rPr>
              <a:t>Extended Requirements:</a:t>
            </a:r>
            <a:endParaRPr lang="en-US" sz="1800">
              <a:latin typeface="Segoe UI" panose="020B0502040204020203" charset="0"/>
              <a:cs typeface="Segoe UI" panose="020B0502040204020203" charset="0"/>
            </a:endParaRPr>
          </a:p>
          <a:p>
            <a:pPr algn="just"/>
            <a:r>
              <a:rPr lang="en-US" sz="1800">
                <a:latin typeface="Segoe UI" panose="020B0502040204020203" charset="0"/>
                <a:cs typeface="Segoe UI" panose="020B0502040204020203" charset="0"/>
              </a:rPr>
              <a:t>Analytics; e.g., how many times a redirection happened?</a:t>
            </a:r>
            <a:endParaRPr lang="en-US" sz="1800">
              <a:latin typeface="Segoe UI" panose="020B0502040204020203" charset="0"/>
              <a:cs typeface="Segoe UI" panose="020B0502040204020203" charset="0"/>
            </a:endParaRPr>
          </a:p>
          <a:p>
            <a:pPr algn="just"/>
            <a:r>
              <a:rPr lang="en-US" sz="1800">
                <a:latin typeface="Segoe UI" panose="020B0502040204020203" charset="0"/>
                <a:cs typeface="Segoe UI" panose="020B0502040204020203" charset="0"/>
              </a:rPr>
              <a:t>Our service should also be accessible through REST APIs by other services.</a:t>
            </a:r>
            <a:endParaRPr lang="en-US" sz="1800">
              <a:latin typeface="Segoe UI" panose="020B0502040204020203" charset="0"/>
              <a:cs typeface="Segoe UI" panose="020B0502040204020203"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Capacity Estimation and Constraints</a:t>
            </a:r>
            <a:endParaRPr lang="en-US" b="1"/>
          </a:p>
        </p:txBody>
      </p:sp>
      <p:sp>
        <p:nvSpPr>
          <p:cNvPr id="3" name="Content Placeholder 2"/>
          <p:cNvSpPr>
            <a:spLocks noGrp="1"/>
          </p:cNvSpPr>
          <p:nvPr>
            <p:ph sz="half" idx="1"/>
          </p:nvPr>
        </p:nvSpPr>
        <p:spPr>
          <a:xfrm>
            <a:off x="838200" y="1866265"/>
            <a:ext cx="10516235" cy="4351655"/>
          </a:xfrm>
        </p:spPr>
        <p:txBody>
          <a:bodyPr>
            <a:normAutofit lnSpcReduction="10000"/>
          </a:bodyPr>
          <a:p>
            <a:r>
              <a:rPr lang="en-US" sz="2000"/>
              <a:t>Our system will be read-heavy. There will be lots of redirection requests compared to new URL shortenings. Let’s assume a 100:1 ratio between read and write.</a:t>
            </a:r>
            <a:endParaRPr lang="en-US" sz="2000"/>
          </a:p>
          <a:p>
            <a:r>
              <a:rPr lang="en-IN" altLang="en-US" sz="2000" b="1"/>
              <a:t>Traffic estimates - </a:t>
            </a:r>
            <a:endParaRPr lang="en-IN" altLang="en-US" sz="2000" b="1"/>
          </a:p>
          <a:p>
            <a:pPr marL="457200" lvl="1" indent="0">
              <a:buNone/>
            </a:pPr>
            <a:r>
              <a:rPr lang="en-IN" altLang="en-US" sz="2000"/>
              <a:t>Queries Per Second - Lets assume we create 1000 new short urls per sec. </a:t>
            </a:r>
            <a:endParaRPr lang="en-IN" altLang="en-US" sz="2000"/>
          </a:p>
          <a:p>
            <a:pPr marL="457200" lvl="1" indent="0">
              <a:buNone/>
            </a:pPr>
            <a:r>
              <a:rPr lang="en-IN" altLang="en-US" sz="2000"/>
              <a:t>		               Since read write ratio is 100:1 so we will have 1000*100 = 1,00,000 read 		               requests per second.</a:t>
            </a:r>
            <a:endParaRPr lang="en-IN" altLang="en-US" sz="2000"/>
          </a:p>
          <a:p>
            <a:pPr marL="457200" lvl="1" indent="0">
              <a:buNone/>
            </a:pPr>
            <a:r>
              <a:rPr lang="en-IN" altLang="en-US" sz="2000"/>
              <a:t>Total number of new urls in a sec  = 1000</a:t>
            </a:r>
            <a:endParaRPr lang="en-IN" altLang="en-US" sz="2000"/>
          </a:p>
          <a:p>
            <a:pPr marL="457200" lvl="1" indent="0">
              <a:buNone/>
            </a:pPr>
            <a:r>
              <a:rPr lang="en-IN" altLang="en-US" sz="2000"/>
              <a:t>Total number of </a:t>
            </a:r>
            <a:r>
              <a:rPr lang="en-IN" altLang="en-US" sz="2000">
                <a:sym typeface="+mn-ea"/>
              </a:rPr>
              <a:t>new urls </a:t>
            </a:r>
            <a:r>
              <a:rPr lang="en-IN" altLang="en-US" sz="2000"/>
              <a:t>in a min = 1000 * 60</a:t>
            </a:r>
            <a:endParaRPr lang="en-IN" altLang="en-US" sz="2000"/>
          </a:p>
          <a:p>
            <a:pPr marL="457200" lvl="1" indent="0">
              <a:buNone/>
            </a:pPr>
            <a:r>
              <a:rPr lang="en-IN" altLang="en-US" sz="2000">
                <a:sym typeface="+mn-ea"/>
              </a:rPr>
              <a:t>Total number of new urls </a:t>
            </a:r>
            <a:r>
              <a:rPr lang="en-IN" altLang="en-US" sz="2000">
                <a:sym typeface="+mn-ea"/>
              </a:rPr>
              <a:t>in 1 hr    = 1000 * 60 * 60</a:t>
            </a:r>
            <a:endParaRPr lang="en-IN" altLang="en-US" sz="2000"/>
          </a:p>
          <a:p>
            <a:pPr marL="457200" lvl="1" indent="0">
              <a:buNone/>
            </a:pPr>
            <a:r>
              <a:rPr lang="en-IN" altLang="en-US" sz="2000">
                <a:sym typeface="+mn-ea"/>
              </a:rPr>
              <a:t>Total number of new urls </a:t>
            </a:r>
            <a:r>
              <a:rPr lang="en-IN" altLang="en-US" sz="2000">
                <a:sym typeface="+mn-ea"/>
              </a:rPr>
              <a:t>in 1 day  = 1000 * 60 * 60 * 24</a:t>
            </a:r>
            <a:endParaRPr lang="en-IN" altLang="en-US" sz="2000">
              <a:sym typeface="+mn-ea"/>
            </a:endParaRPr>
          </a:p>
          <a:p>
            <a:pPr marL="0" lvl="1" indent="0">
              <a:buNone/>
            </a:pPr>
            <a:r>
              <a:rPr lang="en-IN" altLang="en-US" sz="2000">
                <a:sym typeface="+mn-ea"/>
              </a:rPr>
              <a:t>        Total number of </a:t>
            </a:r>
            <a:r>
              <a:rPr lang="en-IN" altLang="en-US" sz="2000">
                <a:sym typeface="+mn-ea"/>
              </a:rPr>
              <a:t>new urls </a:t>
            </a:r>
            <a:r>
              <a:rPr lang="en-IN" altLang="en-US" sz="2000">
                <a:sym typeface="+mn-ea"/>
              </a:rPr>
              <a:t>in 1 month = 1000 * 60 * 60 * 24 * 30 </a:t>
            </a:r>
            <a:endParaRPr lang="en-IN" altLang="en-US" sz="2000">
              <a:sym typeface="+mn-ea"/>
            </a:endParaRPr>
          </a:p>
          <a:p>
            <a:pPr marL="0" lvl="1" indent="0">
              <a:buNone/>
            </a:pPr>
            <a:r>
              <a:rPr lang="en-IN" altLang="en-US" sz="2000">
                <a:sym typeface="+mn-ea"/>
              </a:rPr>
              <a:t>				          = 2,59,20,00,000</a:t>
            </a:r>
            <a:endParaRPr lang="en-IN" altLang="en-US" sz="2000">
              <a:sym typeface="+mn-ea"/>
            </a:endParaRPr>
          </a:p>
          <a:p>
            <a:pPr marL="0" lvl="1" indent="0">
              <a:buNone/>
            </a:pPr>
            <a:r>
              <a:rPr lang="en-IN" altLang="en-US" sz="2000">
                <a:sym typeface="+mn-ea"/>
              </a:rPr>
              <a:t>                                                                          ~ 2*10^9</a:t>
            </a:r>
            <a:endParaRPr lang="en-IN" altLang="en-US" sz="2000">
              <a:sym typeface="+mn-ea"/>
            </a:endParaRPr>
          </a:p>
          <a:p>
            <a:pPr marL="0" lvl="1" indent="0">
              <a:buNone/>
            </a:pPr>
            <a:r>
              <a:rPr lang="en-IN" altLang="en-US" sz="2000">
                <a:sym typeface="+mn-ea"/>
              </a:rPr>
              <a:t>				          = 2 Billion</a:t>
            </a:r>
            <a:endParaRPr lang="en-IN" altLang="en-US" sz="2000">
              <a:sym typeface="+mn-ea"/>
            </a:endParaRPr>
          </a:p>
          <a:p>
            <a:pPr marL="457200" lvl="1" indent="0">
              <a:buNone/>
            </a:pPr>
            <a:endParaRPr lang="en-IN" altLang="en-US" sz="2000"/>
          </a:p>
          <a:p>
            <a:pPr marL="457200" lvl="1" indent="0">
              <a:buNone/>
            </a:pPr>
            <a:endParaRPr lang="en-IN" altLang="en-US" sz="2000"/>
          </a:p>
          <a:p>
            <a:pPr marL="457200" lvl="1" indent="0">
              <a:buNone/>
            </a:pPr>
            <a:endParaRPr lang="en-IN" altLang="en-US" sz="2000"/>
          </a:p>
          <a:p>
            <a:pPr marL="457200" lvl="1" indent="0">
              <a:buNone/>
            </a:pPr>
            <a:endParaRPr lang="en-IN"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35305"/>
            <a:ext cx="10516235" cy="5641975"/>
          </a:xfrm>
        </p:spPr>
        <p:txBody>
          <a:bodyPr>
            <a:normAutofit lnSpcReduction="20000"/>
          </a:bodyPr>
          <a:p>
            <a:r>
              <a:rPr lang="en-US" sz="2000" b="1"/>
              <a:t>Storage estimates:</a:t>
            </a:r>
            <a:endParaRPr lang="en-US" sz="1710" b="1"/>
          </a:p>
          <a:p>
            <a:pPr marL="0" indent="0">
              <a:buNone/>
            </a:pPr>
            <a:r>
              <a:rPr lang="en-IN" altLang="en-US" sz="2000"/>
              <a:t>	Long URL - 2 KB (2048 chars)</a:t>
            </a:r>
            <a:endParaRPr lang="en-IN" altLang="en-US" sz="2000"/>
          </a:p>
          <a:p>
            <a:pPr marL="0" indent="0">
              <a:buNone/>
            </a:pPr>
            <a:r>
              <a:rPr lang="en-IN" altLang="en-US" sz="2000" b="1"/>
              <a:t>	</a:t>
            </a:r>
            <a:r>
              <a:rPr lang="en-IN" altLang="en-US" sz="2000"/>
              <a:t>Short URL - 7 Bytes (7 chars)  [</a:t>
            </a:r>
            <a:r>
              <a:rPr lang="en-IN" altLang="en-US" sz="2000" b="1"/>
              <a:t>Why 7 chars? will discuss later</a:t>
            </a:r>
            <a:r>
              <a:rPr lang="en-IN" altLang="en-US" sz="2000"/>
              <a:t>]</a:t>
            </a:r>
            <a:endParaRPr lang="en-IN" altLang="en-US" sz="2000"/>
          </a:p>
          <a:p>
            <a:pPr marL="0" indent="0">
              <a:buNone/>
            </a:pPr>
            <a:r>
              <a:rPr lang="en-IN" altLang="en-US" sz="2000"/>
              <a:t>	Created_at - 8 bytes (19 positions. in Sql server the size is 8bytes).</a:t>
            </a:r>
            <a:endParaRPr lang="en-IN" altLang="en-US" sz="2000"/>
          </a:p>
          <a:p>
            <a:pPr marL="0" indent="0">
              <a:buNone/>
            </a:pPr>
            <a:r>
              <a:rPr lang="en-IN" altLang="en-US" sz="2000"/>
              <a:t>	Expired_at  - 8 bytes</a:t>
            </a:r>
            <a:endParaRPr lang="en-IN" altLang="en-US" sz="2000"/>
          </a:p>
          <a:p>
            <a:pPr marL="0" indent="0">
              <a:buNone/>
            </a:pPr>
            <a:r>
              <a:rPr lang="en-IN" altLang="en-US" sz="2000"/>
              <a:t>	UserId - 4 bytes</a:t>
            </a:r>
            <a:endParaRPr lang="en-IN" altLang="en-US" sz="2000"/>
          </a:p>
          <a:p>
            <a:pPr marL="0" indent="0">
              <a:buNone/>
            </a:pPr>
            <a:r>
              <a:rPr lang="en-IN" altLang="en-US" sz="2000"/>
              <a:t>	</a:t>
            </a:r>
            <a:r>
              <a:rPr lang="en-IN" altLang="en-US" sz="2000" b="1"/>
              <a:t>Total size of an object = 2075 bytes</a:t>
            </a:r>
            <a:endParaRPr lang="en-IN" altLang="en-US" sz="2000" b="1"/>
          </a:p>
          <a:p>
            <a:pPr marL="0" indent="0">
              <a:buNone/>
            </a:pPr>
            <a:r>
              <a:rPr lang="en-IN" altLang="en-US" sz="2000"/>
              <a:t>Let’s assume we store every URL shortening request (and associated shortened link) for 5 years. Since we expect to have 2 Billion new URLs every month, the total number of objects we expect to store will be:</a:t>
            </a:r>
            <a:endParaRPr lang="en-IN" altLang="en-US" sz="2000"/>
          </a:p>
          <a:p>
            <a:pPr marL="0" indent="0">
              <a:buNone/>
            </a:pPr>
            <a:r>
              <a:rPr lang="en-IN" altLang="en-US" sz="2000"/>
              <a:t>	(2 * 10^9)  *  (5 years * 12 months) = 120 billion</a:t>
            </a:r>
            <a:endParaRPr lang="en-IN" altLang="en-US" sz="2000"/>
          </a:p>
          <a:p>
            <a:pPr marL="0" indent="0">
              <a:buNone/>
            </a:pPr>
            <a:endParaRPr lang="en-IN" altLang="en-US" sz="2000"/>
          </a:p>
          <a:p>
            <a:pPr marL="0" indent="0">
              <a:buNone/>
            </a:pPr>
            <a:r>
              <a:rPr lang="en-IN" altLang="en-US" sz="2000"/>
              <a:t>Total storage needed in 5 years :</a:t>
            </a:r>
            <a:endParaRPr lang="en-IN" altLang="en-US" sz="2000"/>
          </a:p>
          <a:p>
            <a:pPr marL="0" indent="0">
              <a:buNone/>
            </a:pPr>
            <a:r>
              <a:rPr lang="en-IN" altLang="en-US" sz="2000"/>
              <a:t>	120 billion * 2075 bytes = 120*10^9 * 2075 bytes</a:t>
            </a:r>
            <a:endParaRPr lang="en-IN" altLang="en-US" sz="2000"/>
          </a:p>
          <a:p>
            <a:pPr marL="0" indent="0">
              <a:buNone/>
            </a:pPr>
            <a:r>
              <a:rPr lang="en-IN" altLang="en-US" sz="2000"/>
              <a:t>			            = 2,49,000‬ * 10^9  = 249 * 10^12 bytes</a:t>
            </a:r>
            <a:endParaRPr lang="en-IN" altLang="en-US" sz="2000"/>
          </a:p>
          <a:p>
            <a:pPr marL="0" indent="0">
              <a:buNone/>
            </a:pPr>
            <a:r>
              <a:rPr lang="en-IN" altLang="en-US" sz="2000"/>
              <a:t>			            = 249 * (10^3 KB) * (10^3MB) * (10^3GB) * (10^3TB)</a:t>
            </a:r>
            <a:endParaRPr lang="en-IN" altLang="en-US" sz="2000"/>
          </a:p>
          <a:p>
            <a:pPr marL="0" indent="0">
              <a:buNone/>
            </a:pPr>
            <a:r>
              <a:rPr lang="en-IN" altLang="en-US" sz="2000"/>
              <a:t>			            = 249 TB</a:t>
            </a:r>
            <a:endParaRPr lang="en-IN" alt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88010"/>
            <a:ext cx="10515600" cy="5589270"/>
          </a:xfrm>
        </p:spPr>
        <p:txBody>
          <a:bodyPr>
            <a:normAutofit lnSpcReduction="20000"/>
          </a:bodyPr>
          <a:p>
            <a:r>
              <a:rPr lang="en-US" sz="2000" b="1"/>
              <a:t>Bandwidth estimate</a:t>
            </a:r>
            <a:r>
              <a:rPr lang="en-IN" altLang="en-US" sz="2000" b="1"/>
              <a:t>s</a:t>
            </a:r>
            <a:endParaRPr lang="en-IN" altLang="en-US" sz="2000" b="1"/>
          </a:p>
          <a:p>
            <a:pPr marL="0" indent="0">
              <a:buNone/>
            </a:pPr>
            <a:r>
              <a:rPr lang="en-IN" altLang="en-US" sz="2000" b="1"/>
              <a:t>     </a:t>
            </a:r>
            <a:r>
              <a:rPr lang="en-IN" altLang="en-US" sz="2000"/>
              <a:t>Since we expect 1000 new URLs per second, total incoming data for our service will be:</a:t>
            </a:r>
            <a:endParaRPr lang="en-IN" altLang="en-US" sz="2000"/>
          </a:p>
          <a:p>
            <a:pPr marL="0" indent="0">
              <a:buNone/>
            </a:pPr>
            <a:r>
              <a:rPr lang="en-IN" altLang="en-US" sz="2000"/>
              <a:t>     2074 bytes * 1000 = 2074 KB/s</a:t>
            </a:r>
            <a:endParaRPr lang="en-IN" altLang="en-US" sz="2000"/>
          </a:p>
          <a:p>
            <a:pPr marL="0" indent="0">
              <a:buNone/>
            </a:pPr>
            <a:r>
              <a:rPr lang="en-IN" altLang="en-US" sz="2000"/>
              <a:t>		       ~ 2 MB/s</a:t>
            </a:r>
            <a:endParaRPr lang="en-IN" altLang="en-US" sz="2000"/>
          </a:p>
          <a:p>
            <a:pPr marL="0" indent="0">
              <a:buNone/>
            </a:pPr>
            <a:r>
              <a:rPr lang="en-IN" altLang="en-US" sz="2000"/>
              <a:t>     For read requests since every second we expect 1,00,000 url redirections total outgoing data will   be: 2074 bytes * 1,00,000 = 2* 10^8 bytes</a:t>
            </a:r>
            <a:endParaRPr lang="en-IN" altLang="en-US" sz="2000"/>
          </a:p>
          <a:p>
            <a:pPr marL="0" indent="0">
              <a:buNone/>
            </a:pPr>
            <a:r>
              <a:rPr lang="en-IN" altLang="en-US" sz="2000"/>
              <a:t>                                                ~ 200 MB/s</a:t>
            </a:r>
            <a:endParaRPr lang="en-IN" altLang="en-US" sz="2000"/>
          </a:p>
          <a:p>
            <a:pPr marL="0" indent="0">
              <a:buNone/>
            </a:pPr>
            <a:endParaRPr lang="en-IN" altLang="en-US" sz="2000"/>
          </a:p>
          <a:p>
            <a:r>
              <a:rPr lang="en-IN" altLang="en-US" sz="2000" b="1">
                <a:sym typeface="+mn-ea"/>
              </a:rPr>
              <a:t>Memory </a:t>
            </a:r>
            <a:r>
              <a:rPr lang="en-US" sz="2000" b="1">
                <a:sym typeface="+mn-ea"/>
              </a:rPr>
              <a:t>estimate</a:t>
            </a:r>
            <a:r>
              <a:rPr lang="en-IN" altLang="en-US" sz="2000" b="1">
                <a:sym typeface="+mn-ea"/>
              </a:rPr>
              <a:t>s</a:t>
            </a:r>
            <a:endParaRPr lang="en-IN" altLang="en-US" sz="2000" b="1">
              <a:sym typeface="+mn-ea"/>
            </a:endParaRPr>
          </a:p>
          <a:p>
            <a:pPr marL="0" indent="0">
              <a:buNone/>
            </a:pPr>
            <a:r>
              <a:rPr lang="en-IN" altLang="en-US" sz="2000"/>
              <a:t>    If we want to cache some of the hot URLs that are frequently accessed, how much memory will    we need to store them? If we follow the 80-20 rule, meaning 20% of URLs generate 80% of traffic, we would like to cache these 20% hot URLs.</a:t>
            </a:r>
            <a:endParaRPr lang="en-IN" altLang="en-US" sz="2000"/>
          </a:p>
          <a:p>
            <a:pPr marL="0" indent="0">
              <a:buNone/>
            </a:pPr>
            <a:r>
              <a:rPr lang="en-IN" altLang="en-US" sz="2000"/>
              <a:t>	Url redirections we have in a day : 100K * 60sec * 60min * 24hr = 864 * 10^7 = 8.6 billion</a:t>
            </a:r>
            <a:endParaRPr lang="en-IN" altLang="en-US" sz="2000"/>
          </a:p>
          <a:p>
            <a:pPr marL="0" indent="0">
              <a:buNone/>
            </a:pPr>
            <a:r>
              <a:rPr lang="en-IN" altLang="en-US" sz="2000"/>
              <a:t>To cache 20% of these requests, we will need</a:t>
            </a:r>
            <a:endParaRPr lang="en-IN" altLang="en-US" sz="2000"/>
          </a:p>
          <a:p>
            <a:pPr marL="0" indent="0">
              <a:buNone/>
            </a:pPr>
            <a:r>
              <a:rPr lang="en-IN" altLang="en-US" sz="2000"/>
              <a:t>	0.2 * 8.6 billion * 2074 bytes ~ 3.5 TB</a:t>
            </a:r>
            <a:endParaRPr lang="en-IN" altLang="en-US" sz="2000"/>
          </a:p>
          <a:p>
            <a:pPr marL="0" indent="0">
              <a:buNone/>
            </a:pPr>
            <a:r>
              <a:rPr lang="en-IN" altLang="en-US" sz="2000"/>
              <a:t>One thing to note here is that since there will be a lot of duplicate requests (of the same URL), therefore, our actual memory usage will be less than 3.5 TB.</a:t>
            </a:r>
            <a:endParaRPr lang="en-IN" alt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608330"/>
            <a:ext cx="10515600" cy="5568950"/>
          </a:xfrm>
        </p:spPr>
        <p:txBody>
          <a:bodyPr/>
          <a:p>
            <a:r>
              <a:rPr lang="en-IN" altLang="en-US" sz="2000" b="1"/>
              <a:t>High level estimates</a:t>
            </a:r>
            <a:endParaRPr lang="en-IN" altLang="en-US" sz="2000"/>
          </a:p>
          <a:p>
            <a:pPr marL="0" indent="0" algn="l">
              <a:buClrTx/>
              <a:buSzTx/>
              <a:buNone/>
            </a:pPr>
            <a:r>
              <a:rPr lang="en-IN" altLang="en-US" sz="2000"/>
              <a:t>Assuming 2 billion new URLs per month and 100:1 read:write ratio, following is the summary of the high level estimates for our service:</a:t>
            </a:r>
            <a:endParaRPr lang="en-IN" altLang="en-US" sz="2000"/>
          </a:p>
          <a:p>
            <a:pPr marL="0" indent="0" algn="l">
              <a:buClrTx/>
              <a:buSzTx/>
              <a:buNone/>
            </a:pPr>
            <a:endParaRPr lang="en-IN" altLang="en-US" sz="2000"/>
          </a:p>
          <a:p>
            <a:pPr marL="0" indent="0" algn="l">
              <a:buClrTx/>
              <a:buSzTx/>
              <a:buNone/>
            </a:pPr>
            <a:endParaRPr lang="en-IN" altLang="en-US" sz="2000"/>
          </a:p>
        </p:txBody>
      </p:sp>
      <p:graphicFrame>
        <p:nvGraphicFramePr>
          <p:cNvPr id="5" name="Table 4"/>
          <p:cNvGraphicFramePr/>
          <p:nvPr/>
        </p:nvGraphicFramePr>
        <p:xfrm>
          <a:off x="950595" y="1884045"/>
          <a:ext cx="10184130" cy="2286000"/>
        </p:xfrm>
        <a:graphic>
          <a:graphicData uri="http://schemas.openxmlformats.org/drawingml/2006/table">
            <a:tbl>
              <a:tblPr firstRow="1" bandRow="1">
                <a:tableStyleId>{5C22544A-7EE6-4342-B048-85BDC9FD1C3A}</a:tableStyleId>
              </a:tblPr>
              <a:tblGrid>
                <a:gridCol w="5092065"/>
                <a:gridCol w="5092065"/>
              </a:tblGrid>
              <a:tr h="381000">
                <a:tc>
                  <a:txBody>
                    <a:bodyPr/>
                    <a:p>
                      <a:pPr>
                        <a:buNone/>
                      </a:pPr>
                      <a:r>
                        <a:rPr lang="en-IN" altLang="en-US"/>
                        <a:t>New URLs </a:t>
                      </a:r>
                      <a:endParaRPr lang="en-IN" altLang="en-US"/>
                    </a:p>
                  </a:txBody>
                  <a:tcPr/>
                </a:tc>
                <a:tc>
                  <a:txBody>
                    <a:bodyPr/>
                    <a:p>
                      <a:pPr>
                        <a:buNone/>
                      </a:pPr>
                      <a:r>
                        <a:rPr lang="en-IN" altLang="en-US"/>
                        <a:t>1000/s</a:t>
                      </a:r>
                      <a:endParaRPr lang="en-IN" altLang="en-US"/>
                    </a:p>
                  </a:txBody>
                  <a:tcPr/>
                </a:tc>
              </a:tr>
              <a:tr h="381000">
                <a:tc>
                  <a:txBody>
                    <a:bodyPr/>
                    <a:p>
                      <a:pPr>
                        <a:buNone/>
                      </a:pPr>
                      <a:r>
                        <a:rPr lang="en-IN" altLang="en-US"/>
                        <a:t>URL Redirections</a:t>
                      </a:r>
                      <a:endParaRPr lang="en-IN" altLang="en-US"/>
                    </a:p>
                  </a:txBody>
                  <a:tcPr/>
                </a:tc>
                <a:tc>
                  <a:txBody>
                    <a:bodyPr/>
                    <a:p>
                      <a:pPr>
                        <a:buNone/>
                      </a:pPr>
                      <a:r>
                        <a:rPr lang="en-IN" altLang="en-US"/>
                        <a:t>100K/s</a:t>
                      </a:r>
                      <a:endParaRPr lang="en-IN" altLang="en-US"/>
                    </a:p>
                  </a:txBody>
                  <a:tcPr/>
                </a:tc>
              </a:tr>
              <a:tr h="381000">
                <a:tc>
                  <a:txBody>
                    <a:bodyPr/>
                    <a:p>
                      <a:pPr>
                        <a:buNone/>
                      </a:pPr>
                      <a:r>
                        <a:rPr lang="en-IN" altLang="en-US"/>
                        <a:t>Incoming data</a:t>
                      </a:r>
                      <a:endParaRPr lang="en-IN" altLang="en-US"/>
                    </a:p>
                  </a:txBody>
                  <a:tcPr/>
                </a:tc>
                <a:tc>
                  <a:txBody>
                    <a:bodyPr/>
                    <a:p>
                      <a:pPr>
                        <a:buNone/>
                      </a:pPr>
                      <a:r>
                        <a:rPr lang="en-IN" altLang="en-US"/>
                        <a:t>200MB/s</a:t>
                      </a:r>
                      <a:endParaRPr lang="en-IN" altLang="en-US"/>
                    </a:p>
                  </a:txBody>
                  <a:tcPr/>
                </a:tc>
              </a:tr>
              <a:tr h="381000">
                <a:tc>
                  <a:txBody>
                    <a:bodyPr/>
                    <a:p>
                      <a:pPr>
                        <a:buNone/>
                      </a:pPr>
                      <a:r>
                        <a:rPr lang="en-IN" altLang="en-US"/>
                        <a:t>Outgoing data</a:t>
                      </a:r>
                      <a:endParaRPr lang="en-IN" altLang="en-US"/>
                    </a:p>
                  </a:txBody>
                  <a:tcPr/>
                </a:tc>
                <a:tc>
                  <a:txBody>
                    <a:bodyPr/>
                    <a:p>
                      <a:pPr>
                        <a:buNone/>
                      </a:pPr>
                      <a:r>
                        <a:rPr lang="en-IN" altLang="en-US"/>
                        <a:t>2MB/s</a:t>
                      </a:r>
                      <a:endParaRPr lang="en-IN" altLang="en-US"/>
                    </a:p>
                  </a:txBody>
                  <a:tcPr/>
                </a:tc>
              </a:tr>
              <a:tr h="381000">
                <a:tc>
                  <a:txBody>
                    <a:bodyPr/>
                    <a:p>
                      <a:pPr>
                        <a:buNone/>
                      </a:pPr>
                      <a:r>
                        <a:rPr lang="en-IN" altLang="en-US"/>
                        <a:t>Storage for 5 years</a:t>
                      </a:r>
                      <a:endParaRPr lang="en-IN" altLang="en-US"/>
                    </a:p>
                  </a:txBody>
                  <a:tcPr/>
                </a:tc>
                <a:tc>
                  <a:txBody>
                    <a:bodyPr/>
                    <a:p>
                      <a:pPr>
                        <a:buNone/>
                      </a:pPr>
                      <a:r>
                        <a:rPr lang="en-IN" altLang="en-US"/>
                        <a:t>249 TB</a:t>
                      </a:r>
                      <a:endParaRPr lang="en-IN" altLang="en-US"/>
                    </a:p>
                  </a:txBody>
                  <a:tcPr/>
                </a:tc>
              </a:tr>
              <a:tr h="381000">
                <a:tc>
                  <a:txBody>
                    <a:bodyPr/>
                    <a:p>
                      <a:pPr>
                        <a:buNone/>
                      </a:pPr>
                      <a:r>
                        <a:rPr lang="en-IN" altLang="en-US"/>
                        <a:t>Memory for cache</a:t>
                      </a:r>
                      <a:endParaRPr lang="en-IN" altLang="en-US"/>
                    </a:p>
                  </a:txBody>
                  <a:tcPr/>
                </a:tc>
                <a:tc>
                  <a:txBody>
                    <a:bodyPr/>
                    <a:p>
                      <a:pPr>
                        <a:buNone/>
                      </a:pPr>
                      <a:r>
                        <a:rPr lang="en-IN" altLang="en-US"/>
                        <a:t>3.5 TB</a:t>
                      </a:r>
                      <a:endParaRPr lang="en-IN" altLang="en-US"/>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APIs</a:t>
            </a:r>
            <a:endParaRPr lang="en-IN" altLang="en-US" b="1"/>
          </a:p>
        </p:txBody>
      </p:sp>
      <p:sp>
        <p:nvSpPr>
          <p:cNvPr id="3" name="Content Placeholder 2"/>
          <p:cNvSpPr>
            <a:spLocks noGrp="1"/>
          </p:cNvSpPr>
          <p:nvPr>
            <p:ph sz="half" idx="1"/>
          </p:nvPr>
        </p:nvSpPr>
        <p:spPr>
          <a:xfrm>
            <a:off x="838200" y="1540510"/>
            <a:ext cx="10515600" cy="4636770"/>
          </a:xfrm>
        </p:spPr>
        <p:txBody>
          <a:bodyPr>
            <a:normAutofit fontScale="60000"/>
          </a:bodyPr>
          <a:p>
            <a:pPr marL="0" indent="0">
              <a:buNone/>
            </a:pPr>
            <a:r>
              <a:rPr lang="en-US"/>
              <a:t>We can have SOAP or REST APIs to expose the functionality of our service. Following could be the definitions of the APIs for creating and deleting URLs:</a:t>
            </a:r>
            <a:endParaRPr lang="en-US"/>
          </a:p>
          <a:p>
            <a:pPr marL="0" indent="0">
              <a:buNone/>
            </a:pPr>
            <a:endParaRPr lang="en-US"/>
          </a:p>
          <a:p>
            <a:pPr marL="0" indent="0">
              <a:buNone/>
            </a:pPr>
            <a:r>
              <a:rPr lang="en-US" b="1"/>
              <a:t>createURL(api_dev_key, original_url, custom_alias=None, user_name=None, expire_date=None)</a:t>
            </a:r>
            <a:endParaRPr lang="en-US" b="1"/>
          </a:p>
          <a:p>
            <a:pPr marL="0" indent="0">
              <a:buNone/>
            </a:pPr>
            <a:endParaRPr lang="en-US"/>
          </a:p>
          <a:p>
            <a:r>
              <a:rPr lang="en-US"/>
              <a:t>api_dev_key (string): The API developer key of a registered account. This will be used to, among other things, throttle users based on their allocated quota.</a:t>
            </a:r>
            <a:endParaRPr lang="en-US"/>
          </a:p>
          <a:p>
            <a:r>
              <a:rPr lang="en-US"/>
              <a:t>original_url (string): Original URL to be shortened.</a:t>
            </a:r>
            <a:endParaRPr lang="en-US"/>
          </a:p>
          <a:p>
            <a:r>
              <a:rPr lang="en-US"/>
              <a:t>custom_alias (string): Optional custom key for the URL.</a:t>
            </a:r>
            <a:endParaRPr lang="en-US"/>
          </a:p>
          <a:p>
            <a:r>
              <a:rPr lang="en-US"/>
              <a:t>user_name (string): Optional user name to be used in the encoding.</a:t>
            </a:r>
            <a:endParaRPr lang="en-US"/>
          </a:p>
          <a:p>
            <a:r>
              <a:rPr lang="en-US"/>
              <a:t>expire_date (string): Optional expiration date for the shortened URL.</a:t>
            </a:r>
            <a:endParaRPr lang="en-US"/>
          </a:p>
          <a:p>
            <a:pPr marL="0" indent="0">
              <a:buNone/>
            </a:pPr>
            <a:r>
              <a:rPr lang="en-US" b="1"/>
              <a:t>Returns:</a:t>
            </a:r>
            <a:r>
              <a:rPr lang="en-US"/>
              <a:t> (string)</a:t>
            </a:r>
            <a:endParaRPr lang="en-US"/>
          </a:p>
          <a:p>
            <a:r>
              <a:rPr lang="en-US"/>
              <a:t>A successful insertion returns the shortened URL; otherwise, it returns an error code.</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77850"/>
            <a:ext cx="10515600" cy="5599430"/>
          </a:xfrm>
        </p:spPr>
        <p:txBody>
          <a:bodyPr/>
          <a:p>
            <a:pPr marL="0" indent="0" algn="just">
              <a:buNone/>
            </a:pPr>
            <a:r>
              <a:rPr lang="en-IN" altLang="en-US" sz="2000" b="1"/>
              <a:t>get</a:t>
            </a:r>
            <a:r>
              <a:rPr lang="en-US" sz="2000" b="1"/>
              <a:t>URL(api_dev_key, url_key)</a:t>
            </a:r>
            <a:endParaRPr lang="en-US" sz="2000" b="1"/>
          </a:p>
          <a:p>
            <a:pPr marL="0" indent="0" algn="just">
              <a:buNone/>
            </a:pPr>
            <a:r>
              <a:rPr lang="en-US" sz="2000"/>
              <a:t>Where “url_key” is a string representing the shortened URL to be retrieved. A successful </a:t>
            </a:r>
            <a:r>
              <a:rPr lang="en-IN" altLang="en-US" sz="2000"/>
              <a:t>retrieval </a:t>
            </a:r>
            <a:r>
              <a:rPr lang="en-US" sz="2000"/>
              <a:t>returns ‘</a:t>
            </a:r>
            <a:r>
              <a:rPr lang="en-IN" altLang="en-US" sz="2000"/>
              <a:t>OK</a:t>
            </a:r>
            <a:r>
              <a:rPr lang="en-US" sz="2000"/>
              <a:t>’.</a:t>
            </a:r>
            <a:endParaRPr lang="en-US" sz="2000"/>
          </a:p>
          <a:p>
            <a:pPr marL="0" indent="0" algn="just">
              <a:buNone/>
            </a:pPr>
            <a:endParaRPr lang="en-US" sz="2000"/>
          </a:p>
          <a:p>
            <a:pPr marL="0" indent="0" algn="just">
              <a:buNone/>
            </a:pPr>
            <a:r>
              <a:rPr lang="en-US" sz="2000" b="1"/>
              <a:t>How do we detect and prevent abuse?</a:t>
            </a:r>
            <a:r>
              <a:rPr lang="en-US" sz="2000"/>
              <a:t> </a:t>
            </a:r>
            <a:endParaRPr lang="en-US" sz="2000"/>
          </a:p>
          <a:p>
            <a:pPr marL="0" indent="0" algn="just">
              <a:buNone/>
            </a:pPr>
            <a:r>
              <a:rPr lang="en-US" sz="2000"/>
              <a:t>A malicious user can put us out of business by consuming all URL keys in the current design. To prevent abuse, we can limit users via their api_dev_key. Each api_dev_key can be limited to a certain number of URL creations and redirections per some time period (which may be set to a different duration per developer key).</a:t>
            </a:r>
            <a:endParaRPr 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Basic System Design and Algorithm</a:t>
            </a:r>
            <a:endParaRPr lang="en-IN" altLang="en-US" b="1"/>
          </a:p>
        </p:txBody>
      </p:sp>
      <p:sp>
        <p:nvSpPr>
          <p:cNvPr id="3" name="Content Placeholder 2"/>
          <p:cNvSpPr>
            <a:spLocks noGrp="1"/>
          </p:cNvSpPr>
          <p:nvPr>
            <p:ph sz="half" idx="1"/>
          </p:nvPr>
        </p:nvSpPr>
        <p:spPr>
          <a:xfrm>
            <a:off x="838200" y="1825625"/>
            <a:ext cx="10516235" cy="4351655"/>
          </a:xfrm>
        </p:spPr>
        <p:txBody>
          <a:bodyPr/>
          <a:p>
            <a:pPr algn="just"/>
            <a:r>
              <a:rPr lang="en-US"/>
              <a:t>The problem we are solving here is, how to generate a short and unique key for a given URL.</a:t>
            </a:r>
            <a:endParaRPr lang="en-US"/>
          </a:p>
          <a:p>
            <a:pPr algn="just"/>
            <a:endParaRPr lang="en-US"/>
          </a:p>
          <a:p>
            <a:pPr algn="just"/>
            <a:r>
              <a:rPr lang="en-US"/>
              <a:t>In the TinyURL example in Section 1, the shortened URL is “http://tinyurl.com/jlg8zpc”. The last seven characters of this URL is the short key we want to generate.</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471805"/>
            <a:ext cx="10516235" cy="5705475"/>
          </a:xfrm>
        </p:spPr>
        <p:txBody>
          <a:bodyPr/>
          <a:p>
            <a:r>
              <a:rPr lang="en-IN" altLang="en-US" sz="2000" b="1"/>
              <a:t>What should be the length of our shortUrl?</a:t>
            </a:r>
            <a:endParaRPr lang="en-IN" altLang="en-US" sz="2000"/>
          </a:p>
          <a:p>
            <a:pPr marL="0" indent="0">
              <a:buNone/>
            </a:pPr>
            <a:r>
              <a:rPr lang="en-IN" altLang="en-US" sz="2000"/>
              <a:t>It depends. If we encode the short url, we can use base62 or base64 encoding. If we want our short url to have characters [a-z],[A-Z],[0-9] we will have 26+26+10 = 62 possible characters. This makes it base62. If we want to have base64, we will add +,/ and = to our character set (= is used for padding).</a:t>
            </a:r>
            <a:endParaRPr lang="en-IN" altLang="en-US" sz="2000"/>
          </a:p>
          <a:p>
            <a:pPr marL="0" indent="0">
              <a:buNone/>
            </a:pPr>
            <a:endParaRPr lang="en-IN" altLang="en-US" sz="2000"/>
          </a:p>
          <a:p>
            <a:pPr marL="0" indent="0">
              <a:buNone/>
            </a:pPr>
            <a:r>
              <a:rPr lang="en-IN" altLang="en-US" sz="2000"/>
              <a:t>Let us assume, the length of the short url is 7 characters. </a:t>
            </a:r>
            <a:endParaRPr lang="en-IN" altLang="en-US" sz="2000"/>
          </a:p>
          <a:p>
            <a:pPr marL="0" indent="0">
              <a:buNone/>
            </a:pPr>
            <a:r>
              <a:rPr lang="en-IN" altLang="en-US" sz="2000"/>
              <a:t>With base62 encoding, we can have 62^7 = 3.5 trillion possibilities.</a:t>
            </a:r>
            <a:endParaRPr lang="en-IN" altLang="en-US" sz="2000"/>
          </a:p>
          <a:p>
            <a:pPr marL="0" indent="0">
              <a:buNone/>
            </a:pPr>
            <a:r>
              <a:rPr lang="en-IN" altLang="en-US" sz="2000"/>
              <a:t>With base64 encoding, we can have 64^7 = 4.3 trillion possibilities.</a:t>
            </a:r>
            <a:endParaRPr lang="en-IN" altLang="en-US" sz="2000"/>
          </a:p>
          <a:p>
            <a:pPr marL="0" indent="0">
              <a:buNone/>
            </a:pPr>
            <a:endParaRPr lang="en-IN" altLang="en-US" sz="2000"/>
          </a:p>
          <a:p>
            <a:pPr marL="0" indent="0">
              <a:buNone/>
            </a:pPr>
            <a:r>
              <a:rPr lang="en-IN" altLang="en-US" sz="2000"/>
              <a:t>With 3.5 trillion possibilities and 1000 urls/sec, we will exhaust the set in </a:t>
            </a:r>
            <a:endParaRPr lang="en-IN" altLang="en-US" sz="2000"/>
          </a:p>
          <a:p>
            <a:pPr marL="0" indent="0">
              <a:buNone/>
            </a:pPr>
            <a:r>
              <a:rPr lang="en-IN" altLang="en-US" sz="2000"/>
              <a:t>(4.3*10^12) / (1000*3600*24*365) = 139years.</a:t>
            </a:r>
            <a:endParaRPr lang="en-IN" altLang="en-US" sz="2000"/>
          </a:p>
          <a:p>
            <a:pPr marL="0" indent="0">
              <a:buNone/>
            </a:pPr>
            <a:endParaRPr lang="en-IN" altLang="en-US" sz="2000"/>
          </a:p>
          <a:p>
            <a:pPr marL="0" indent="0">
              <a:buNone/>
            </a:pPr>
            <a:r>
              <a:rPr lang="en-IN" altLang="en-US" sz="2000"/>
              <a:t>Hence we will use 7 characters for our short url and have base64 as the encoding algorithm.</a:t>
            </a:r>
            <a:endParaRPr lang="en-IN" altLang="en-US" sz="2000"/>
          </a:p>
          <a:p>
            <a:pPr marL="0" indent="0">
              <a:buNone/>
            </a:pPr>
            <a:r>
              <a:rPr lang="en-IN" altLang="en-US" sz="2000"/>
              <a:t>What is base64? In base64, we take a block of 6 bits and convert it to a character from the character set. Why 6 bits? 64 = 2^6. </a:t>
            </a:r>
            <a:endParaRPr lang="en-IN" alt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Base62 code.</a:t>
            </a:r>
            <a:endParaRPr lang="en-IN" altLang="en-US"/>
          </a:p>
        </p:txBody>
      </p:sp>
      <p:sp>
        <p:nvSpPr>
          <p:cNvPr id="4" name="Content Placeholder 3"/>
          <p:cNvSpPr>
            <a:spLocks noGrp="1"/>
          </p:cNvSpPr>
          <p:nvPr>
            <p:ph sz="half" idx="2"/>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2330450" y="2430145"/>
            <a:ext cx="8525510" cy="26600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55625"/>
            <a:ext cx="10515600" cy="5621655"/>
          </a:xfrm>
        </p:spPr>
        <p:txBody>
          <a:bodyPr>
            <a:normAutofit lnSpcReduction="20000"/>
          </a:bodyPr>
          <a:p>
            <a:r>
              <a:rPr lang="en-IN" altLang="en-US" sz="2000" b="1"/>
              <a:t>How to generate the 7 character short url?</a:t>
            </a:r>
            <a:endParaRPr lang="en-IN" altLang="en-US" sz="2000" b="1"/>
          </a:p>
          <a:p>
            <a:pPr marL="0" indent="0">
              <a:buNone/>
            </a:pPr>
            <a:r>
              <a:rPr lang="en-IN" altLang="en-US" sz="2000" b="1"/>
              <a:t>Approach1: Generate random tiny url and check db.</a:t>
            </a:r>
            <a:endParaRPr lang="en-IN" altLang="en-US" sz="2000" b="1"/>
          </a:p>
          <a:p>
            <a:pPr marL="0" indent="0">
              <a:buNone/>
            </a:pPr>
            <a:r>
              <a:rPr lang="en-IN" altLang="en-US" sz="2000"/>
              <a:t>Step 1: Request comes to the worker process.</a:t>
            </a:r>
            <a:endParaRPr lang="en-IN" altLang="en-US" sz="2000"/>
          </a:p>
          <a:p>
            <a:pPr marL="0" indent="0">
              <a:buNone/>
            </a:pPr>
            <a:r>
              <a:rPr lang="en-IN" altLang="en-US" sz="2000"/>
              <a:t>Step 2: It generates a random number and then encodes it with base62 and takes only first 7 characters. </a:t>
            </a:r>
            <a:endParaRPr lang="en-IN" altLang="en-US" sz="2000"/>
          </a:p>
          <a:p>
            <a:pPr marL="0" indent="0">
              <a:buNone/>
            </a:pPr>
            <a:r>
              <a:rPr lang="en-IN" altLang="en-US" sz="2000"/>
              <a:t>Step 3: After the url generation, the process can do one of the following things here:</a:t>
            </a:r>
            <a:endParaRPr lang="en-IN" altLang="en-US" sz="2000"/>
          </a:p>
          <a:p>
            <a:pPr marL="0" indent="0">
              <a:buNone/>
            </a:pPr>
            <a:r>
              <a:rPr lang="en-IN" altLang="en-US" sz="2000"/>
              <a:t>	</a:t>
            </a:r>
            <a:r>
              <a:rPr lang="en-IN" altLang="en-US" sz="2000" b="1"/>
              <a:t>1. G</a:t>
            </a:r>
            <a:r>
              <a:rPr lang="en-IN" altLang="en-US" sz="2000" b="1"/>
              <a:t>et then Put</a:t>
            </a:r>
            <a:endParaRPr lang="en-IN" altLang="en-US" sz="2000"/>
          </a:p>
          <a:p>
            <a:pPr marL="0" indent="0">
              <a:buNone/>
            </a:pPr>
            <a:r>
              <a:rPr lang="en-IN" altLang="en-US" sz="2000"/>
              <a:t>		a. Get(tinyUrl) from DB</a:t>
            </a:r>
            <a:endParaRPr lang="en-IN" altLang="en-US" sz="2000"/>
          </a:p>
          <a:p>
            <a:pPr marL="0" indent="0">
              <a:buNone/>
            </a:pPr>
            <a:r>
              <a:rPr lang="en-IN" altLang="en-US" sz="2000"/>
              <a:t>		b. If it doesnot exist in DB, it puts(tinyUrl, longUrl). If it exists in DB then 			regenerate another tinyUrl. </a:t>
            </a:r>
            <a:endParaRPr lang="en-IN" altLang="en-US" sz="2000" b="1"/>
          </a:p>
          <a:p>
            <a:pPr marL="0" indent="0">
              <a:buNone/>
            </a:pPr>
            <a:r>
              <a:rPr lang="en-IN" altLang="en-US" sz="2000" b="1"/>
              <a:t>	</a:t>
            </a:r>
            <a:r>
              <a:rPr lang="en-IN" altLang="en-US" sz="2000"/>
              <a:t>What is the problem with this approach? - While the process get(), another process for 	another request can also get() and try to write the value, thus causing an error.</a:t>
            </a:r>
            <a:endParaRPr lang="en-IN" altLang="en-US" sz="2000"/>
          </a:p>
          <a:p>
            <a:pPr marL="0" indent="0">
              <a:buNone/>
            </a:pPr>
            <a:r>
              <a:rPr lang="en-IN" altLang="en-US" sz="2000"/>
              <a:t>	</a:t>
            </a:r>
            <a:r>
              <a:rPr lang="en-IN" altLang="en-US" sz="2000" b="1"/>
              <a:t>2. Put if absent</a:t>
            </a:r>
            <a:endParaRPr lang="en-IN" altLang="en-US" sz="2000"/>
          </a:p>
          <a:p>
            <a:pPr marL="0" indent="0">
              <a:buNone/>
            </a:pPr>
            <a:r>
              <a:rPr lang="en-IN" altLang="en-US" sz="2000"/>
              <a:t>	This requires support from the database. For dbs like mysql, mssql, oracle which supports 	ACID properties, this is trivial. For nosql dbs they might or mightnot support this feature.</a:t>
            </a:r>
            <a:endParaRPr lang="en-IN" altLang="en-US" sz="2000"/>
          </a:p>
          <a:p>
            <a:pPr marL="0" indent="0">
              <a:buNone/>
            </a:pPr>
            <a:r>
              <a:rPr lang="en-IN" altLang="en-US" sz="2000"/>
              <a:t>	</a:t>
            </a:r>
            <a:r>
              <a:rPr lang="en-IN" altLang="en-US" sz="2000" b="1"/>
              <a:t>3. Put - Get - Put</a:t>
            </a:r>
            <a:endParaRPr lang="en-IN" altLang="en-US" sz="2000"/>
          </a:p>
          <a:p>
            <a:pPr marL="0" indent="0">
              <a:buNone/>
            </a:pPr>
            <a:r>
              <a:rPr lang="en-IN" altLang="en-US" sz="2000"/>
              <a:t>	First Put(tinyUrl, longUrl). Then get(tinyUrl) and check if the longUrl attached to this tinyUrl 	is same to this longUrl. If not then regenerate a new tinyUrl and put it again.</a:t>
            </a:r>
            <a:endParaRPr lang="en-IN"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77850"/>
            <a:ext cx="10515600" cy="5599430"/>
          </a:xfrm>
        </p:spPr>
        <p:txBody>
          <a:bodyPr>
            <a:normAutofit fontScale="70000"/>
          </a:bodyPr>
          <a:p>
            <a:pPr algn="just"/>
            <a:r>
              <a:rPr lang="en-IN" altLang="en-US" sz="2000" b="1"/>
              <a:t>Approach2: Using a hash function like MD5</a:t>
            </a:r>
            <a:endParaRPr lang="en-IN" altLang="en-US" sz="2000" b="1"/>
          </a:p>
          <a:p>
            <a:pPr marL="0" indent="0" algn="just">
              <a:buNone/>
            </a:pPr>
            <a:r>
              <a:rPr lang="en-IN" altLang="en-US" sz="2000"/>
              <a:t>If we use the MD5 algorithm as our hash function, it’ll produce a 128-bit hash value. After base64 encoding, we’ll get a string having more than 21 characters (since each base64 character encodes 6 bits of the hash value). From this 21 characters, we choose the first 7 characters as our tinyUrl.</a:t>
            </a:r>
            <a:endParaRPr lang="en-IN" altLang="en-US" sz="2000"/>
          </a:p>
          <a:p>
            <a:pPr marL="0" indent="0" algn="just">
              <a:buNone/>
            </a:pPr>
            <a:endParaRPr lang="en-IN" altLang="en-US" sz="2000"/>
          </a:p>
          <a:p>
            <a:pPr marL="0" indent="0" algn="just">
              <a:buNone/>
            </a:pPr>
            <a:r>
              <a:rPr lang="en-IN" altLang="en-US" sz="2000"/>
              <a:t>This could result in key duplication, to resolve that, we can choose some other characters out of the encoding string or swap some characters.</a:t>
            </a:r>
            <a:endParaRPr lang="en-IN" altLang="en-US" sz="2000"/>
          </a:p>
          <a:p>
            <a:pPr marL="0" indent="0" algn="just">
              <a:buNone/>
            </a:pPr>
            <a:endParaRPr lang="en-IN" altLang="en-US" sz="2000"/>
          </a:p>
          <a:p>
            <a:pPr marL="0" indent="0" algn="just">
              <a:buNone/>
            </a:pPr>
            <a:r>
              <a:rPr lang="en-IN" altLang="en-US" sz="2000"/>
              <a:t>What are the different issues with our solution? We have the following couple of problems with our encoding scheme:</a:t>
            </a:r>
            <a:endParaRPr lang="en-IN" altLang="en-US" sz="2000"/>
          </a:p>
          <a:p>
            <a:pPr marL="0" indent="0" algn="just">
              <a:buNone/>
            </a:pPr>
            <a:endParaRPr lang="en-IN" altLang="en-US" sz="2000"/>
          </a:p>
          <a:p>
            <a:pPr marL="0" indent="0" algn="just">
              <a:buNone/>
            </a:pPr>
            <a:r>
              <a:rPr lang="en-IN" altLang="en-US" sz="2000"/>
              <a:t>If multiple users enter the same URL, they can get the same shortened URL, which is not acceptable.</a:t>
            </a:r>
            <a:endParaRPr lang="en-IN" altLang="en-US" sz="2000"/>
          </a:p>
          <a:p>
            <a:pPr marL="0" indent="0" algn="just">
              <a:buNone/>
            </a:pPr>
            <a:r>
              <a:rPr lang="en-IN" altLang="en-US" sz="2000"/>
              <a:t>What if parts of the URL are URL-encoded? e.g., http://www.educative.io/distributed.php?id=design, and </a:t>
            </a:r>
            <a:endParaRPr lang="en-IN" altLang="en-US" sz="2000"/>
          </a:p>
          <a:p>
            <a:pPr marL="0" indent="0" algn="just">
              <a:buNone/>
            </a:pPr>
            <a:r>
              <a:rPr lang="en-IN" altLang="en-US" sz="2000"/>
              <a:t>http://www.educative.io/distributed.php%3Fid%3Ddesign are identical except for the URL encoding.</a:t>
            </a:r>
            <a:endParaRPr lang="en-IN" altLang="en-US" sz="2000"/>
          </a:p>
          <a:p>
            <a:pPr marL="0" indent="0" algn="just">
              <a:buNone/>
            </a:pPr>
            <a:r>
              <a:rPr lang="en-IN" altLang="en-US" sz="2000"/>
              <a:t>Workaround for the issues: We can append an increasing sequence number to each input URL to make it unique, and then generate a hash of it. We don’t need to store this sequence number in the databases, though. Possible problems with this approach could be an ever-increasing sequence number. Can it overflow? Appending an increasing sequence number will also impact the performance of the service.</a:t>
            </a:r>
            <a:endParaRPr lang="en-IN" altLang="en-US" sz="2000"/>
          </a:p>
          <a:p>
            <a:pPr marL="0" indent="0" algn="just">
              <a:buNone/>
            </a:pPr>
            <a:endParaRPr lang="en-IN" altLang="en-US" sz="2000"/>
          </a:p>
          <a:p>
            <a:pPr marL="0" indent="0" algn="just">
              <a:buNone/>
            </a:pPr>
            <a:r>
              <a:rPr lang="en-IN" altLang="en-US" sz="2000"/>
              <a:t>Another solution could be to append user id (which should be unique) to the input URL. However, if the user has not signed in, we would have to ask the user to choose a uniqueness key. Even after this, if we have a conflict, we have to keep generating a key until we get a unique one.</a:t>
            </a:r>
            <a:endParaRPr lang="en-IN" altLang="en-US" sz="2000"/>
          </a:p>
          <a:p>
            <a:pPr marL="0" indent="0" algn="just">
              <a:buNone/>
            </a:pPr>
            <a:endParaRPr lang="en-IN"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4" name="Content Placeholder 3"/>
          <p:cNvSpPr>
            <a:spLocks noGrp="1"/>
          </p:cNvSpPr>
          <p:nvPr>
            <p:ph sz="half" idx="2"/>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2287905" y="1245235"/>
            <a:ext cx="8077200" cy="43675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471805"/>
            <a:ext cx="10516235" cy="5705475"/>
          </a:xfrm>
        </p:spPr>
        <p:txBody>
          <a:bodyPr/>
          <a:p>
            <a:r>
              <a:rPr lang="en-IN" altLang="en-US" sz="2000" b="1"/>
              <a:t>Approach 3 - Counter</a:t>
            </a:r>
            <a:endParaRPr lang="en-IN" altLang="en-US" sz="2000" b="1"/>
          </a:p>
          <a:p>
            <a:pPr marL="0" indent="0">
              <a:buNone/>
            </a:pPr>
            <a:r>
              <a:rPr lang="en-IN" altLang="en-US" sz="2000"/>
              <a:t>Lets have a counter which is thread protected and pass it to Base64 to get a tinyUrl and insert into DB. This works really well until we scale.</a:t>
            </a:r>
            <a:endParaRPr lang="en-IN" altLang="en-US" sz="2000"/>
          </a:p>
          <a:p>
            <a:pPr marL="0" indent="0">
              <a:buNone/>
            </a:pPr>
            <a:endParaRPr lang="en-IN" altLang="en-US" sz="2000" b="1"/>
          </a:p>
          <a:p>
            <a:pPr marL="0" indent="0">
              <a:buNone/>
            </a:pPr>
            <a:r>
              <a:rPr lang="en-IN" altLang="en-US" sz="2000"/>
              <a:t>This is because 1 counter doesnot work well with multiple app servers. It becomes a single pointe of failure. Also if the app servers are in different data centers, then we need to have different counters, one for each data center. Each counter will have a bounded limit[lowerlimt and upperlimit]. The problem here is how what will we do if the limit of one DC is exhausted. How to find another limit?</a:t>
            </a:r>
            <a:endParaRPr lang="en-IN" altLang="en-US" sz="2000"/>
          </a:p>
          <a:p>
            <a:pPr marL="0" indent="0">
              <a:buNone/>
            </a:pPr>
            <a:endParaRPr lang="en-IN" altLang="en-US" sz="2000" b="1"/>
          </a:p>
          <a:p>
            <a:pPr marL="0" indent="0">
              <a:buNone/>
            </a:pPr>
            <a:r>
              <a:rPr lang="en-IN" altLang="en-US" sz="2000"/>
              <a:t>To overcome this issue, we need a coordination service. We can have Zookeeper as our coordination service. The zookeeper will hold the metadata of the counter ranges and assign them to the app servers. When a new app server is added to the cluster, it first registers itself with the zk and asks for a counter range. After a range is assigned, if the server dies, we will not reuse the range.</a:t>
            </a:r>
            <a:endParaRPr lang="en-IN" altLang="en-US" sz="2000"/>
          </a:p>
          <a:p>
            <a:pPr marL="0" indent="0">
              <a:buNone/>
            </a:pPr>
            <a:endParaRPr lang="en-IN" altLang="en-US"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4" name="Content Placeholder 3"/>
          <p:cNvSpPr>
            <a:spLocks noGrp="1"/>
          </p:cNvSpPr>
          <p:nvPr>
            <p:ph sz="half" idx="2"/>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3477260" y="1232535"/>
            <a:ext cx="5236845" cy="55384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482600"/>
            <a:ext cx="10515600" cy="5694680"/>
          </a:xfrm>
        </p:spPr>
        <p:txBody>
          <a:bodyPr>
            <a:noAutofit/>
          </a:bodyPr>
          <a:p>
            <a:pPr marL="0" indent="0">
              <a:buNone/>
            </a:pPr>
            <a:r>
              <a:rPr lang="en-IN" altLang="en-US" sz="1600" b="1"/>
              <a:t>Caching</a:t>
            </a:r>
            <a:endParaRPr lang="en-US" sz="1600"/>
          </a:p>
          <a:p>
            <a:r>
              <a:rPr lang="en-US" sz="1600"/>
              <a:t>We can cache URLs that are frequently accessed. We can use some off-the-shelf solution like Memcached, which can store full URLs with their respective hashes. The application servers, before hitting backend storage, can quickly check if the cache has the desired URL.</a:t>
            </a:r>
            <a:endParaRPr lang="en-US" sz="1600"/>
          </a:p>
          <a:p>
            <a:endParaRPr lang="en-US" sz="1600"/>
          </a:p>
          <a:p>
            <a:r>
              <a:rPr lang="en-US" sz="1600"/>
              <a:t>How much cache memory should we have? We can start with 20% of daily traffic and, based on clients’ usage pattern, we can adjust how many cache servers we need. As estimated above, we need 170GB memory to cache 20% of daily traffic. Since a modern-day server can have 256GB memory, we can easily fit all the cache into one machine. Alternatively, we can use a couple of smaller servers to store all these hot URLs.</a:t>
            </a:r>
            <a:endParaRPr lang="en-US" sz="1600"/>
          </a:p>
          <a:p>
            <a:endParaRPr lang="en-US" sz="1600"/>
          </a:p>
          <a:p>
            <a:r>
              <a:rPr lang="en-US" sz="1600"/>
              <a:t>Which cache eviction policy would best fit our needs? When the cache is full, and we want to replace a link with a newer/hotter URL, how would we choose? Least Recently Used (LRU) can be a reasonable policy for our system. Under this policy, we discard the least recently used URL first. We can use a Linked Hash Map or a similar data structure to store our URLs and Hashes, which will also keep track of the URLs that have been accessed recently.</a:t>
            </a:r>
            <a:endParaRPr lang="en-US" sz="1600"/>
          </a:p>
          <a:p>
            <a:endParaRPr lang="en-US" sz="1600"/>
          </a:p>
          <a:p>
            <a:r>
              <a:rPr lang="en-US" sz="1600"/>
              <a:t>To further increase the efficiency, we can replicate our caching servers to distribute the load between them.</a:t>
            </a:r>
            <a:endParaRPr lang="en-US" sz="1600"/>
          </a:p>
          <a:p>
            <a:endParaRPr lang="en-US" sz="1600"/>
          </a:p>
          <a:p>
            <a:r>
              <a:rPr lang="en-US" sz="1600"/>
              <a:t>How can each cache replica be updated? Whenever there is a cache miss, our servers would be hitting a backend database. Whenever this happens, we can update the cache and pass the new entry to all the cache replicas. Each replica can update its cache by adding the new entry. If a replica already has that entry, it can simply ignore it.</a:t>
            </a:r>
            <a:endParaRPr lang="en-US"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4" name="Content Placeholder 3"/>
          <p:cNvSpPr>
            <a:spLocks noGrp="1"/>
          </p:cNvSpPr>
          <p:nvPr>
            <p:ph sz="half" idx="2"/>
          </p:nvPr>
        </p:nvSpPr>
        <p:spPr/>
        <p:txBody>
          <a:bodyPr/>
          <a:p>
            <a:endParaRPr lang="en-US"/>
          </a:p>
        </p:txBody>
      </p:sp>
      <p:pic>
        <p:nvPicPr>
          <p:cNvPr id="5" name="Content Placeholder 4"/>
          <p:cNvPicPr>
            <a:picLocks noChangeAspect="1"/>
          </p:cNvPicPr>
          <p:nvPr>
            <p:ph sz="half" idx="1"/>
          </p:nvPr>
        </p:nvPicPr>
        <p:blipFill>
          <a:blip r:embed="rId1"/>
          <a:stretch>
            <a:fillRect/>
          </a:stretch>
        </p:blipFill>
        <p:spPr>
          <a:xfrm>
            <a:off x="1774825" y="1248410"/>
            <a:ext cx="8642350" cy="43611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67055"/>
            <a:ext cx="10515600" cy="5610225"/>
          </a:xfrm>
        </p:spPr>
        <p:txBody>
          <a:bodyPr>
            <a:normAutofit lnSpcReduction="10000"/>
          </a:bodyPr>
          <a:p>
            <a:pPr marL="0" indent="0">
              <a:buNone/>
            </a:pPr>
            <a:r>
              <a:rPr lang="en-US" sz="2000" b="1"/>
              <a:t>Load Balancer (LB)</a:t>
            </a:r>
            <a:endParaRPr lang="en-US" sz="2000" b="1"/>
          </a:p>
          <a:p>
            <a:r>
              <a:rPr lang="en-US" sz="2000"/>
              <a:t>We can add a Load balancing layer at three places in our system:</a:t>
            </a:r>
            <a:endParaRPr lang="en-US" sz="2000"/>
          </a:p>
          <a:p>
            <a:pPr lvl="1"/>
            <a:r>
              <a:rPr lang="en-US" sz="2000"/>
              <a:t>Between Clients and Application servers</a:t>
            </a:r>
            <a:endParaRPr lang="en-US" sz="2000"/>
          </a:p>
          <a:p>
            <a:pPr lvl="1"/>
            <a:r>
              <a:rPr lang="en-US" sz="2000"/>
              <a:t>Between Application Servers and database servers</a:t>
            </a:r>
            <a:endParaRPr lang="en-US" sz="2000"/>
          </a:p>
          <a:p>
            <a:pPr lvl="1"/>
            <a:r>
              <a:rPr lang="en-US" sz="2000"/>
              <a:t>Between Application Servers and Cache servers</a:t>
            </a:r>
            <a:endParaRPr lang="en-US" sz="2000"/>
          </a:p>
          <a:p>
            <a:r>
              <a:rPr lang="en-US" sz="2000"/>
              <a:t>Initially, we could use a simple Round Robin approach that distributes incoming requests equally among backend servers. This LB is simple to implement and does not introduce any overhead. Another benefit of this approach is that if a server is dead, LB will take it out of the rotation and will stop sending any traffic to it.</a:t>
            </a:r>
            <a:endParaRPr lang="en-US" sz="2000"/>
          </a:p>
          <a:p>
            <a:endParaRPr lang="en-US" sz="2000"/>
          </a:p>
          <a:p>
            <a:r>
              <a:rPr lang="en-US" sz="2000"/>
              <a:t>A problem with Round Robin LB is that we don’t take the server load into consideration. If a server is overloaded or slow, the LB will not stop sending new requests to that server. To handle this, a more intelligent LB solution can be placed that periodically queries the backend server about its load and adjusts traffic based on that.</a:t>
            </a:r>
            <a:endParaRPr lang="en-US"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376555"/>
            <a:ext cx="10547350" cy="5800725"/>
          </a:xfrm>
        </p:spPr>
        <p:txBody>
          <a:bodyPr>
            <a:normAutofit fontScale="60000"/>
          </a:bodyPr>
          <a:p>
            <a:pPr marL="0" indent="0">
              <a:buNone/>
            </a:pPr>
            <a:r>
              <a:rPr lang="en-US" b="1"/>
              <a:t>Purging or DB cleanup</a:t>
            </a:r>
            <a:endParaRPr lang="en-US"/>
          </a:p>
          <a:p>
            <a:pPr marL="0" indent="0">
              <a:buNone/>
            </a:pPr>
            <a:r>
              <a:rPr lang="en-US"/>
              <a:t>Should entries stick around forever or should they be purged? If a user-specified expiration time is reached, what should happen to the link?</a:t>
            </a:r>
            <a:endParaRPr lang="en-US"/>
          </a:p>
          <a:p>
            <a:endParaRPr lang="en-US"/>
          </a:p>
          <a:p>
            <a:pPr marL="0" indent="0">
              <a:buNone/>
            </a:pPr>
            <a:r>
              <a:rPr lang="en-US"/>
              <a:t>If we chose to actively search for expired links to remove them, it would put a lot of pressure on our database. Instead, we can slowly remove expired links and do a lazy cleanup. Our service will make sure that only expired links will be deleted, although some expired links can live longer but will never be returned to users.</a:t>
            </a:r>
            <a:endParaRPr lang="en-US"/>
          </a:p>
          <a:p>
            <a:endParaRPr lang="en-US"/>
          </a:p>
          <a:p>
            <a:r>
              <a:rPr lang="en-US"/>
              <a:t>Whenever a user tries to access an expired link, we can delete the link and return an error to the user.</a:t>
            </a:r>
            <a:endParaRPr lang="en-US"/>
          </a:p>
          <a:p>
            <a:r>
              <a:rPr lang="en-US"/>
              <a:t>A separate Cleanup service can run periodically to remove expired links from our storage and cache. This service should be very lightweight and can be scheduled to run only when the user traffic is expected to be low.</a:t>
            </a:r>
            <a:endParaRPr lang="en-US"/>
          </a:p>
          <a:p>
            <a:r>
              <a:rPr lang="en-US"/>
              <a:t>We can have a default expiration time for each link (e.g., two years).</a:t>
            </a:r>
            <a:endParaRPr lang="en-US"/>
          </a:p>
          <a:p>
            <a:r>
              <a:rPr lang="en-US"/>
              <a:t>After removing an expired link, we can put the key back in the key-DB to be reused.</a:t>
            </a:r>
            <a:endParaRPr lang="en-US"/>
          </a:p>
          <a:p>
            <a:r>
              <a:rPr lang="en-US"/>
              <a:t>Should we remove links that haven’t been visited in some length of time, say six months? This could be tricky. Since storage is getting cheap, we can decide to keep links forever.</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Content Placeholder 6"/>
          <p:cNvPicPr>
            <a:picLocks noChangeAspect="1"/>
          </p:cNvPicPr>
          <p:nvPr>
            <p:ph sz="half" idx="1"/>
          </p:nvPr>
        </p:nvPicPr>
        <p:blipFill>
          <a:blip r:embed="rId1"/>
          <a:stretch>
            <a:fillRect/>
          </a:stretch>
        </p:blipFill>
        <p:spPr>
          <a:xfrm>
            <a:off x="1006475" y="1453515"/>
            <a:ext cx="10178415" cy="47136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DataBase</a:t>
            </a:r>
            <a:endParaRPr lang="en-IN" altLang="en-US" b="1"/>
          </a:p>
        </p:txBody>
      </p:sp>
      <p:sp>
        <p:nvSpPr>
          <p:cNvPr id="3" name="Content Placeholder 2"/>
          <p:cNvSpPr>
            <a:spLocks noGrp="1"/>
          </p:cNvSpPr>
          <p:nvPr>
            <p:ph sz="half" idx="1"/>
          </p:nvPr>
        </p:nvSpPr>
        <p:spPr>
          <a:xfrm>
            <a:off x="838200" y="1825625"/>
            <a:ext cx="10516235" cy="4351655"/>
          </a:xfrm>
        </p:spPr>
        <p:txBody>
          <a:bodyPr/>
          <a:p>
            <a:pPr algn="just"/>
            <a:r>
              <a:rPr lang="en-US"/>
              <a:t>A few observations about the nature of the data we will store:</a:t>
            </a:r>
            <a:endParaRPr lang="en-US"/>
          </a:p>
          <a:p>
            <a:pPr lvl="1" algn="just"/>
            <a:r>
              <a:rPr lang="en-US"/>
              <a:t>We need to store billions of records.</a:t>
            </a:r>
            <a:endParaRPr lang="en-US"/>
          </a:p>
          <a:p>
            <a:pPr lvl="1" algn="just"/>
            <a:r>
              <a:rPr lang="en-US"/>
              <a:t>Each object we store is small (approx 2KB).</a:t>
            </a:r>
            <a:endParaRPr lang="en-US"/>
          </a:p>
          <a:p>
            <a:pPr lvl="1" algn="just"/>
            <a:r>
              <a:rPr lang="en-US"/>
              <a:t>There are no relationships between records—other than storing which user created a URL.</a:t>
            </a:r>
            <a:endParaRPr lang="en-US"/>
          </a:p>
          <a:p>
            <a:pPr lvl="1" algn="just"/>
            <a:r>
              <a:rPr lang="en-US"/>
              <a:t>Our service is read-heavy.</a:t>
            </a:r>
            <a:endParaRPr lang="en-US"/>
          </a:p>
          <a:p>
            <a:pPr algn="just"/>
            <a:r>
              <a:rPr lang="en-US"/>
              <a:t>Database Schema: #</a:t>
            </a:r>
            <a:endParaRPr lang="en-US"/>
          </a:p>
          <a:p>
            <a:pPr algn="just"/>
            <a:r>
              <a:rPr lang="en-US"/>
              <a:t>We would need two tables: one for storing information about the URL mappings, and one for the user’s data who created the short link.</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1825625"/>
            <a:ext cx="10516235" cy="4221480"/>
          </a:xfrm>
        </p:spPr>
        <p:txBody>
          <a:bodyPr>
            <a:normAutofit lnSpcReduction="10000"/>
          </a:bodyPr>
          <a:p>
            <a:pPr algn="just"/>
            <a:endParaRPr lang="en-US"/>
          </a:p>
          <a:p>
            <a:pPr algn="just"/>
            <a:endParaRPr lang="en-US"/>
          </a:p>
          <a:p>
            <a:pPr algn="just"/>
            <a:endParaRPr lang="en-US"/>
          </a:p>
          <a:p>
            <a:pPr algn="just"/>
            <a:endParaRPr lang="en-US"/>
          </a:p>
          <a:p>
            <a:pPr algn="just"/>
            <a:endParaRPr lang="en-US"/>
          </a:p>
          <a:p>
            <a:pPr algn="just"/>
            <a:r>
              <a:rPr lang="en-US"/>
              <a:t>What kind of database should we use? Since we anticipate storing billions of rows, and we don’t need to use relationships between objects – a NoSQL store like DynamoDB, Cassandra or Riak is a better choice. A NoSQL choice would also be easier to scale. Please see SQL vs NoSQL for more details.</a:t>
            </a:r>
            <a:endParaRPr lang="en-US"/>
          </a:p>
        </p:txBody>
      </p:sp>
      <p:pic>
        <p:nvPicPr>
          <p:cNvPr id="6" name="Content Placeholder 5"/>
          <p:cNvPicPr>
            <a:picLocks noChangeAspect="1"/>
          </p:cNvPicPr>
          <p:nvPr>
            <p:ph sz="half" idx="2"/>
          </p:nvPr>
        </p:nvPicPr>
        <p:blipFill>
          <a:blip r:embed="rId1"/>
          <a:stretch>
            <a:fillRect/>
          </a:stretch>
        </p:blipFill>
        <p:spPr>
          <a:xfrm>
            <a:off x="2178685" y="1470660"/>
            <a:ext cx="7833995" cy="17214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14131</Words>
  <Application>WPS Presentation</Application>
  <PresentationFormat>Widescreen</PresentationFormat>
  <Paragraphs>227</Paragraphs>
  <Slides>24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24</vt:i4>
      </vt:variant>
    </vt:vector>
  </HeadingPairs>
  <TitlesOfParts>
    <vt:vector size="33" baseType="lpstr">
      <vt:lpstr>Arial</vt:lpstr>
      <vt:lpstr>SimSun</vt:lpstr>
      <vt:lpstr>Wingdings</vt:lpstr>
      <vt:lpstr>Segoe UI</vt:lpstr>
      <vt:lpstr>Calibri Light</vt:lpstr>
      <vt:lpstr>Calibri</vt:lpstr>
      <vt:lpstr>Microsoft YaHei</vt:lpstr>
      <vt:lpstr>Arial Unicode MS</vt:lpstr>
      <vt:lpstr>Office Theme</vt:lpstr>
      <vt:lpstr>PowerPoint 演示文稿</vt:lpstr>
      <vt:lpstr>Introduction</vt:lpstr>
      <vt:lpstr>Requirements and Goals of the system</vt:lpstr>
      <vt:lpstr>Capacity Estimation and Constraints</vt:lpstr>
      <vt:lpstr>PowerPoint 演示文稿</vt:lpstr>
      <vt:lpstr>PowerPoint 演示文稿</vt:lpstr>
      <vt:lpstr>PowerPoint 演示文稿</vt:lpstr>
      <vt:lpstr>APIs</vt:lpstr>
      <vt:lpstr>PowerPoint 演示文稿</vt:lpstr>
      <vt:lpstr>Basic System Design and Algorithm</vt:lpstr>
      <vt:lpstr>PowerPoint 演示文稿</vt:lpstr>
      <vt:lpstr>Base62 code.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DataBase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avish</cp:lastModifiedBy>
  <cp:revision>6</cp:revision>
  <dcterms:created xsi:type="dcterms:W3CDTF">2020-04-19T03:45:00Z</dcterms:created>
  <dcterms:modified xsi:type="dcterms:W3CDTF">2020-04-24T10:10:13Z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1033-11.2.0.9281</vt:lpwstr>
  </property>
</Properties>
</file>