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altLang="en-US" b="1" dirty="0"/>
              <a:t>Distributed Cache</a:t>
            </a:r>
            <a:endParaRPr lang="en-IN" altLang="en-US" b="1"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Problem Statement</a:t>
            </a:r>
            <a:endParaRPr lang="en-IN" altLang="en-US" b="1"/>
          </a:p>
        </p:txBody>
      </p:sp>
      <p:pic>
        <p:nvPicPr>
          <p:cNvPr id="4" name="Content Placeholder 3"/>
          <p:cNvPicPr>
            <a:picLocks noChangeAspect="1"/>
          </p:cNvPicPr>
          <p:nvPr>
            <p:ph idx="1"/>
          </p:nvPr>
        </p:nvPicPr>
        <p:blipFill>
          <a:blip r:embed="rId1"/>
          <a:srcRect t="7267"/>
          <a:stretch>
            <a:fillRect/>
          </a:stretch>
        </p:blipFill>
        <p:spPr>
          <a:xfrm>
            <a:off x="988695" y="1247775"/>
            <a:ext cx="10669905" cy="55664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Requirements</a:t>
            </a:r>
            <a:endParaRPr lang="en-IN" altLang="en-US" b="1"/>
          </a:p>
        </p:txBody>
      </p:sp>
      <p:pic>
        <p:nvPicPr>
          <p:cNvPr id="4" name="Content Placeholder 3"/>
          <p:cNvPicPr>
            <a:picLocks noChangeAspect="1"/>
          </p:cNvPicPr>
          <p:nvPr>
            <p:ph idx="1"/>
          </p:nvPr>
        </p:nvPicPr>
        <p:blipFill>
          <a:blip r:embed="rId1"/>
          <a:srcRect t="8770"/>
          <a:stretch>
            <a:fillRect/>
          </a:stretch>
        </p:blipFill>
        <p:spPr>
          <a:xfrm>
            <a:off x="838200" y="1945640"/>
            <a:ext cx="7735570" cy="39700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One Step : Local Cache</a:t>
            </a:r>
            <a:endParaRPr lang="en-IN" altLang="en-US" b="1"/>
          </a:p>
        </p:txBody>
      </p:sp>
      <p:pic>
        <p:nvPicPr>
          <p:cNvPr id="4" name="Content Placeholder 3"/>
          <p:cNvPicPr>
            <a:picLocks noChangeAspect="1"/>
          </p:cNvPicPr>
          <p:nvPr>
            <p:ph idx="1"/>
          </p:nvPr>
        </p:nvPicPr>
        <p:blipFill>
          <a:blip r:embed="rId1"/>
          <a:srcRect l="29011" t="10950" r="20013" b="10334"/>
          <a:stretch>
            <a:fillRect/>
          </a:stretch>
        </p:blipFill>
        <p:spPr>
          <a:xfrm>
            <a:off x="3129280" y="1691005"/>
            <a:ext cx="5934075" cy="51549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494030" y="276860"/>
            <a:ext cx="11204575" cy="63036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69850" y="38735"/>
            <a:ext cx="12052300" cy="67805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IN" altLang="en-US" b="1"/>
              <a:t>Distributed Approach 1: Sharding Cache cluster</a:t>
            </a:r>
            <a:endParaRPr lang="en-IN" altLang="en-US" b="1"/>
          </a:p>
        </p:txBody>
      </p:sp>
      <p:pic>
        <p:nvPicPr>
          <p:cNvPr id="4" name="Content Placeholder 3"/>
          <p:cNvPicPr>
            <a:picLocks noChangeAspect="1"/>
          </p:cNvPicPr>
          <p:nvPr>
            <p:ph idx="1"/>
          </p:nvPr>
        </p:nvPicPr>
        <p:blipFill>
          <a:blip r:embed="rId1"/>
          <a:srcRect t="13038" b="4019"/>
          <a:stretch>
            <a:fillRect/>
          </a:stretch>
        </p:blipFill>
        <p:spPr>
          <a:xfrm>
            <a:off x="881380" y="1353185"/>
            <a:ext cx="10472420" cy="4886325"/>
          </a:xfrm>
          <a:prstGeom prst="rect">
            <a:avLst/>
          </a:prstGeom>
        </p:spPr>
      </p:pic>
      <p:sp>
        <p:nvSpPr>
          <p:cNvPr id="6" name="Text Box 5"/>
          <p:cNvSpPr txBox="1"/>
          <p:nvPr/>
        </p:nvSpPr>
        <p:spPr>
          <a:xfrm>
            <a:off x="1807210" y="6239510"/>
            <a:ext cx="9262110" cy="368300"/>
          </a:xfrm>
          <a:prstGeom prst="rect">
            <a:avLst/>
          </a:prstGeom>
          <a:noFill/>
        </p:spPr>
        <p:txBody>
          <a:bodyPr wrap="square" rtlCol="0">
            <a:spAutoFit/>
          </a:bodyPr>
          <a:p>
            <a:r>
              <a:rPr lang="en-IN" altLang="en-US"/>
              <a:t>Cache client process running in each service host communicate with cache hosts using UDP/TCP. </a:t>
            </a:r>
            <a:endParaRPr lang="en-I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Choosing a cache host : Naive Approach</a:t>
            </a:r>
            <a:endParaRPr lang="en-IN" altLang="en-US" b="1"/>
          </a:p>
        </p:txBody>
      </p:sp>
      <p:pic>
        <p:nvPicPr>
          <p:cNvPr id="8" name="Content Placeholder 7"/>
          <p:cNvPicPr>
            <a:picLocks noChangeAspect="1"/>
          </p:cNvPicPr>
          <p:nvPr>
            <p:ph idx="1"/>
          </p:nvPr>
        </p:nvPicPr>
        <p:blipFill>
          <a:blip r:embed="rId1"/>
          <a:srcRect l="3251" t="19408" b="33285"/>
          <a:stretch>
            <a:fillRect/>
          </a:stretch>
        </p:blipFill>
        <p:spPr>
          <a:xfrm>
            <a:off x="1741170" y="2670175"/>
            <a:ext cx="8710295" cy="23958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IN" altLang="en-US" b="1"/>
              <a:t>Choosing a cache host: Naive Approach Problem</a:t>
            </a:r>
            <a:endParaRPr lang="en-IN" altLang="en-US" b="1"/>
          </a:p>
        </p:txBody>
      </p:sp>
      <p:pic>
        <p:nvPicPr>
          <p:cNvPr id="4" name="Content Placeholder 3"/>
          <p:cNvPicPr>
            <a:picLocks noChangeAspect="1"/>
          </p:cNvPicPr>
          <p:nvPr>
            <p:ph idx="1"/>
          </p:nvPr>
        </p:nvPicPr>
        <p:blipFill>
          <a:blip r:embed="rId1"/>
          <a:srcRect l="3251" t="18707" b="32351"/>
          <a:stretch>
            <a:fillRect/>
          </a:stretch>
        </p:blipFill>
        <p:spPr>
          <a:xfrm>
            <a:off x="1558925" y="2138045"/>
            <a:ext cx="9074785" cy="2582545"/>
          </a:xfrm>
          <a:prstGeom prst="rect">
            <a:avLst/>
          </a:prstGeom>
        </p:spPr>
      </p:pic>
      <p:sp>
        <p:nvSpPr>
          <p:cNvPr id="5" name="Text Box 4"/>
          <p:cNvSpPr txBox="1"/>
          <p:nvPr/>
        </p:nvSpPr>
        <p:spPr>
          <a:xfrm>
            <a:off x="1283970" y="5037455"/>
            <a:ext cx="10565765" cy="645160"/>
          </a:xfrm>
          <a:prstGeom prst="rect">
            <a:avLst/>
          </a:prstGeom>
          <a:noFill/>
        </p:spPr>
        <p:txBody>
          <a:bodyPr wrap="none" rtlCol="0">
            <a:spAutoFit/>
          </a:bodyPr>
          <a:p>
            <a:r>
              <a:rPr lang="en-IN" altLang="en-US"/>
              <a:t>When the number of cache hosts increases or decreases, the hash MOD N produces different results resulting in</a:t>
            </a:r>
            <a:endParaRPr lang="en-IN" altLang="en-US"/>
          </a:p>
          <a:p>
            <a:r>
              <a:rPr lang="en-IN" altLang="en-US"/>
              <a:t>high rates of cache miss.</a:t>
            </a:r>
            <a:endParaRPr lang="en-I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Choosing a cache host: Consistent Hashing</a:t>
            </a:r>
            <a:endParaRPr lang="en-IN" altLang="en-US" b="1"/>
          </a:p>
        </p:txBody>
      </p:sp>
      <p:sp>
        <p:nvSpPr>
          <p:cNvPr id="3" name="Content Placeholder 2"/>
          <p:cNvSpPr>
            <a:spLocks noGrp="1"/>
          </p:cNvSpPr>
          <p:nvPr>
            <p:ph idx="1"/>
          </p:nvPr>
        </p:nvSpPr>
        <p:spPr/>
        <p:txBody>
          <a:bodyPr/>
          <a:p>
            <a:r>
              <a:rPr lang="en-IN" altLang="en-US"/>
              <a:t>Cache clients use consistent hashing to pick a shard for storing/retrieving a key.</a:t>
            </a:r>
            <a:endParaRPr lang="en-I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Cache Client</a:t>
            </a:r>
            <a:endParaRPr lang="en-IN" altLang="en-US" b="1"/>
          </a:p>
        </p:txBody>
      </p:sp>
      <p:pic>
        <p:nvPicPr>
          <p:cNvPr id="4" name="Content Placeholder 3"/>
          <p:cNvPicPr>
            <a:picLocks noChangeAspect="1"/>
          </p:cNvPicPr>
          <p:nvPr>
            <p:ph idx="1"/>
          </p:nvPr>
        </p:nvPicPr>
        <p:blipFill>
          <a:blip r:embed="rId1"/>
          <a:srcRect t="21027" r="3768" b="7398"/>
          <a:stretch>
            <a:fillRect/>
          </a:stretch>
        </p:blipFill>
        <p:spPr>
          <a:xfrm>
            <a:off x="515620" y="1691005"/>
            <a:ext cx="11029315" cy="46145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Maintaining a list of servers</a:t>
            </a:r>
            <a:endParaRPr lang="en-IN" altLang="en-US" b="1"/>
          </a:p>
        </p:txBody>
      </p:sp>
      <p:pic>
        <p:nvPicPr>
          <p:cNvPr id="4" name="Content Placeholder 3"/>
          <p:cNvPicPr>
            <a:picLocks noChangeAspect="1"/>
          </p:cNvPicPr>
          <p:nvPr>
            <p:ph idx="1"/>
          </p:nvPr>
        </p:nvPicPr>
        <p:blipFill>
          <a:blip r:embed="rId1"/>
          <a:srcRect l="2602" t="15015" b="14548"/>
          <a:stretch>
            <a:fillRect/>
          </a:stretch>
        </p:blipFill>
        <p:spPr>
          <a:xfrm>
            <a:off x="838200" y="1755140"/>
            <a:ext cx="10516235" cy="42779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417830"/>
            <a:ext cx="10515600" cy="5759450"/>
          </a:xfrm>
        </p:spPr>
        <p:txBody>
          <a:bodyPr/>
          <a:p>
            <a:r>
              <a:rPr lang="en-IN" altLang="en-US"/>
              <a:t>To store more data in memory we partition data into shards and put each shard into its own server.</a:t>
            </a:r>
            <a:endParaRPr lang="en-IN" altLang="en-US"/>
          </a:p>
          <a:p>
            <a:r>
              <a:rPr lang="en-IN" altLang="en-US"/>
              <a:t>Every cache client knows about every cache shard. Cache client uses consistent hashing to store/retrieve a particular cache key.</a:t>
            </a:r>
            <a:endParaRPr lang="en-IN" altLang="en-US"/>
          </a:p>
          <a:p>
            <a:r>
              <a:rPr lang="en-IN" altLang="en-US"/>
              <a:t>Is the system fast, available and scalable? </a:t>
            </a:r>
            <a:endParaRPr lang="en-IN" altLang="en-US"/>
          </a:p>
          <a:p>
            <a:pPr lvl="1"/>
            <a:r>
              <a:rPr lang="en-IN" altLang="en-US"/>
              <a:t>fast - Yes. LRU implementation uses O(1) time. Cache client picks cache server in O(log n) time. Connection between cache client and cache server is done using TCP/UDP which is also fast.</a:t>
            </a:r>
            <a:endParaRPr lang="en-IN" altLang="en-US"/>
          </a:p>
          <a:p>
            <a:pPr lvl="1"/>
            <a:r>
              <a:rPr lang="en-IN" altLang="en-US"/>
              <a:t>scalability - Yes. We can easily create more shards.</a:t>
            </a:r>
            <a:endParaRPr lang="en-IN" altLang="en-US"/>
          </a:p>
          <a:p>
            <a:pPr lvl="1"/>
            <a:r>
              <a:rPr lang="en-IN" altLang="en-US"/>
              <a:t>highly available - No. In the current design if a shard dies or becomes unavailable due to network partition, the data in the shard is lost and all request to that shard will result in a cache miss until keys are rehashed.</a:t>
            </a:r>
            <a:endParaRPr lang="en-I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Achieving High Availability</a:t>
            </a:r>
            <a:endParaRPr lang="en-IN" altLang="en-US" b="1"/>
          </a:p>
        </p:txBody>
      </p:sp>
      <p:pic>
        <p:nvPicPr>
          <p:cNvPr id="4" name="Content Placeholder 3"/>
          <p:cNvPicPr>
            <a:picLocks noChangeAspect="1"/>
          </p:cNvPicPr>
          <p:nvPr>
            <p:ph idx="1"/>
          </p:nvPr>
        </p:nvPicPr>
        <p:blipFill>
          <a:blip r:embed="rId1"/>
          <a:srcRect l="18092" t="51758" r="4950" b="11178"/>
          <a:stretch>
            <a:fillRect/>
          </a:stretch>
        </p:blipFill>
        <p:spPr>
          <a:xfrm>
            <a:off x="838200" y="1784985"/>
            <a:ext cx="5953125" cy="1612900"/>
          </a:xfrm>
          <a:prstGeom prst="rect">
            <a:avLst/>
          </a:prstGeom>
        </p:spPr>
      </p:pic>
      <p:sp>
        <p:nvSpPr>
          <p:cNvPr id="5" name="Text Box 4"/>
          <p:cNvSpPr txBox="1"/>
          <p:nvPr/>
        </p:nvSpPr>
        <p:spPr>
          <a:xfrm>
            <a:off x="838200" y="4493895"/>
            <a:ext cx="4556125" cy="1476375"/>
          </a:xfrm>
          <a:prstGeom prst="rect">
            <a:avLst/>
          </a:prstGeom>
          <a:noFill/>
        </p:spPr>
        <p:txBody>
          <a:bodyPr wrap="none" rtlCol="0">
            <a:spAutoFit/>
          </a:bodyPr>
          <a:p>
            <a:r>
              <a:rPr lang="en-IN" altLang="en-US"/>
              <a:t>How leaders are elected?</a:t>
            </a:r>
            <a:endParaRPr lang="en-IN" altLang="en-US"/>
          </a:p>
          <a:p>
            <a:r>
              <a:rPr lang="en-IN" altLang="en-US"/>
              <a:t>    option1: rely on a separate component </a:t>
            </a:r>
            <a:endParaRPr lang="en-IN" altLang="en-US"/>
          </a:p>
          <a:p>
            <a:r>
              <a:rPr lang="en-IN" altLang="en-US"/>
              <a:t>    option2: implement election in cache cluster.</a:t>
            </a:r>
            <a:endParaRPr lang="en-IN" altLang="en-US"/>
          </a:p>
          <a:p>
            <a:endParaRPr lang="en-IN" altLang="en-US"/>
          </a:p>
          <a:p>
            <a:r>
              <a:rPr lang="en-IN" altLang="en-US"/>
              <a:t>Candidates - Zookeeper, Redis sentinal</a:t>
            </a:r>
            <a:endParaRPr lang="en-IN" altLang="en-US"/>
          </a:p>
        </p:txBody>
      </p:sp>
      <p:pic>
        <p:nvPicPr>
          <p:cNvPr id="6" name="Picture 5"/>
          <p:cNvPicPr>
            <a:picLocks noChangeAspect="1"/>
          </p:cNvPicPr>
          <p:nvPr/>
        </p:nvPicPr>
        <p:blipFill>
          <a:blip r:embed="rId2"/>
          <a:srcRect l="19325" t="14646" r="4739" b="10257"/>
          <a:stretch>
            <a:fillRect/>
          </a:stretch>
        </p:blipFill>
        <p:spPr>
          <a:xfrm>
            <a:off x="5822315" y="3296920"/>
            <a:ext cx="6381750" cy="3550285"/>
          </a:xfrm>
          <a:prstGeom prst="rect">
            <a:avLst/>
          </a:prstGeom>
        </p:spPr>
      </p:pic>
      <p:sp>
        <p:nvSpPr>
          <p:cNvPr id="7" name="Text Box 6"/>
          <p:cNvSpPr txBox="1"/>
          <p:nvPr/>
        </p:nvSpPr>
        <p:spPr>
          <a:xfrm>
            <a:off x="7209790" y="1784985"/>
            <a:ext cx="5012055" cy="368300"/>
          </a:xfrm>
          <a:prstGeom prst="rect">
            <a:avLst/>
          </a:prstGeom>
          <a:noFill/>
        </p:spPr>
        <p:txBody>
          <a:bodyPr wrap="none" rtlCol="0">
            <a:spAutoFit/>
          </a:bodyPr>
          <a:p>
            <a:r>
              <a:rPr lang="en-IN" altLang="en-US"/>
              <a:t>High availability can be achieved using read replicas.</a:t>
            </a:r>
            <a:endParaRPr lang="en-I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457835"/>
            <a:ext cx="10515600" cy="5719445"/>
          </a:xfrm>
        </p:spPr>
        <p:txBody>
          <a:bodyPr/>
          <a:p>
            <a:pPr algn="just"/>
            <a:r>
              <a:rPr lang="en-IN" altLang="en-US"/>
              <a:t>The data between the leader and followers is replicated asynchronously. </a:t>
            </a:r>
            <a:endParaRPr lang="en-IN" altLang="en-US"/>
          </a:p>
          <a:p>
            <a:pPr algn="just"/>
            <a:r>
              <a:rPr lang="en-IN" altLang="en-US"/>
              <a:t>To achieve less latency, we dont want to wait until the leader has written the data to followers. </a:t>
            </a:r>
            <a:endParaRPr lang="en-IN" altLang="en-US"/>
          </a:p>
          <a:p>
            <a:pPr algn="just"/>
            <a:r>
              <a:rPr lang="en-IN" altLang="en-US"/>
              <a:t>This behaviour leads to eventual consistency.</a:t>
            </a:r>
            <a:endParaRPr lang="en-IN" altLang="en-US"/>
          </a:p>
          <a:p>
            <a:pPr algn="just"/>
            <a:r>
              <a:rPr lang="en-IN" altLang="en-US"/>
              <a:t>The leader may die before writing the data to the followers. The data in this case will be lost. </a:t>
            </a:r>
            <a:endParaRPr lang="en-IN" altLang="en-US"/>
          </a:p>
          <a:p>
            <a:pPr algn="just"/>
            <a:r>
              <a:rPr lang="en-IN" altLang="en-US"/>
              <a:t>This is acceptable.</a:t>
            </a:r>
            <a:endParaRPr lang="en-I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What else?</a:t>
            </a:r>
            <a:endParaRPr lang="en-IN" altLang="en-US" b="1"/>
          </a:p>
        </p:txBody>
      </p:sp>
      <p:sp>
        <p:nvSpPr>
          <p:cNvPr id="3" name="Content Placeholder 2"/>
          <p:cNvSpPr>
            <a:spLocks noGrp="1"/>
          </p:cNvSpPr>
          <p:nvPr>
            <p:ph idx="1"/>
          </p:nvPr>
        </p:nvSpPr>
        <p:spPr/>
        <p:txBody>
          <a:bodyPr>
            <a:normAutofit/>
          </a:bodyPr>
          <a:p>
            <a:pPr algn="just"/>
            <a:r>
              <a:rPr lang="en-IN" altLang="en-US" sz="2000" b="1"/>
              <a:t>Consistency - </a:t>
            </a:r>
            <a:r>
              <a:rPr lang="en-IN" altLang="en-US" sz="2000"/>
              <a:t>The system built till now has eventual consistency. To achieve strong consistency we need to have synchronous copy from leader to followers.</a:t>
            </a:r>
            <a:endParaRPr lang="en-IN" altLang="en-US" sz="2000"/>
          </a:p>
          <a:p>
            <a:pPr algn="just"/>
            <a:r>
              <a:rPr lang="en-IN" altLang="en-US" sz="2000" b="1"/>
              <a:t>Data Expiration - </a:t>
            </a:r>
            <a:r>
              <a:rPr lang="en-IN" altLang="en-US" sz="2000"/>
              <a:t>LRU automatically deletes items when the cache is full. But if the cache is not full then some items may sit in the cache for long time and become stale. To handle this case we might use TTL for each entry. There are 2 ways on how we purge the cache-</a:t>
            </a:r>
            <a:endParaRPr lang="en-IN" altLang="en-US" sz="2000"/>
          </a:p>
          <a:p>
            <a:pPr lvl="1" algn="just"/>
            <a:r>
              <a:rPr lang="en-IN" altLang="en-US" sz="2000"/>
              <a:t>When a client tries to access an expired entry then we delete the entry and return a not found status.</a:t>
            </a:r>
            <a:endParaRPr lang="en-IN" altLang="en-US" sz="2000"/>
          </a:p>
          <a:p>
            <a:pPr lvl="1" algn="just"/>
            <a:r>
              <a:rPr lang="en-US" sz="2000">
                <a:sym typeface="+mn-ea"/>
              </a:rPr>
              <a:t>A separate Cleanup service can run periodically to remove expired links from our storage and cache. This service should be very lightweight and can be scheduled to run only when the user traffic is expected to be low.</a:t>
            </a:r>
            <a:endParaRPr lang="en-US" sz="2000">
              <a:sym typeface="+mn-ea"/>
            </a:endParaRPr>
          </a:p>
          <a:p>
            <a:pPr lvl="1" algn="just"/>
            <a:r>
              <a:rPr lang="en-IN" altLang="en-US" sz="2000">
                <a:sym typeface="+mn-ea"/>
              </a:rPr>
              <a:t>As there might be billions of entries in cache, we cannot simply iterate over all the items. Some kind of probabilistic algorithms are used.</a:t>
            </a:r>
            <a:endParaRPr lang="en-US" sz="2000"/>
          </a:p>
          <a:p>
            <a:pPr lvl="1" algn="just"/>
            <a:endParaRPr lang="en-IN" altLang="en-US" sz="2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488315"/>
            <a:ext cx="10515600" cy="5688965"/>
          </a:xfrm>
        </p:spPr>
        <p:txBody>
          <a:bodyPr>
            <a:normAutofit/>
          </a:bodyPr>
          <a:p>
            <a:pPr algn="just"/>
            <a:r>
              <a:rPr lang="en-IN" altLang="en-US" sz="2000" b="1"/>
              <a:t>Local and remote cache </a:t>
            </a:r>
            <a:r>
              <a:rPr lang="en-IN" altLang="en-US" sz="2000"/>
              <a:t>- When a key is not present in local cache, then a call to the distributed cache is made. We can create a local cache in the cache client itself.</a:t>
            </a:r>
            <a:endParaRPr lang="en-IN" altLang="en-US" sz="2000"/>
          </a:p>
          <a:p>
            <a:pPr algn="just"/>
            <a:r>
              <a:rPr lang="en-IN" altLang="en-US" sz="2000" b="1"/>
              <a:t>Security </a:t>
            </a:r>
            <a:r>
              <a:rPr lang="en-IN" altLang="en-US" sz="2000"/>
              <a:t>- Caches are optimized for fast lookups and not for security. Caches are usually accessed by trusted clients inside trusted environments. </a:t>
            </a:r>
            <a:endParaRPr lang="en-IN" altLang="en-US" sz="2000"/>
          </a:p>
          <a:p>
            <a:pPr algn="just"/>
            <a:r>
              <a:rPr lang="en-IN" altLang="en-US" sz="2000" b="1"/>
              <a:t>Monitoring and logging - </a:t>
            </a:r>
            <a:r>
              <a:rPr lang="en-IN" altLang="en-US" sz="2000"/>
              <a:t> Metrics such as number of faults while calling the cache, latency, number of hits and misses, cpu and memory utilization of cache host, network i/o. For logging we can capture who and when accessed the cache, what was the key and the return status code.</a:t>
            </a:r>
            <a:endParaRPr lang="en-IN" altLang="en-US" sz="2000"/>
          </a:p>
          <a:p>
            <a:pPr algn="just"/>
            <a:r>
              <a:rPr lang="en-IN" altLang="en-US" sz="2000" b="1"/>
              <a:t>Cache client - </a:t>
            </a:r>
            <a:r>
              <a:rPr lang="en-IN" altLang="en-US" sz="2000"/>
              <a:t> The cache client should be simple and dumb. We can introduce a cache proxy that will sit between a cache client and cache cluster to pick a shard. ex - Twemproxy. Another approach can be - cache client randomly calls a cache shard. The cache server using some algorithm redirects the request to the destination shard. ex-Redis cluster.</a:t>
            </a:r>
            <a:endParaRPr lang="en-IN" altLang="en-US" sz="2000"/>
          </a:p>
          <a:p>
            <a:pPr algn="just"/>
            <a:endParaRPr lang="en-IN" altLang="en-US" sz="2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Content Placeholder 6"/>
          <p:cNvPicPr>
            <a:picLocks noChangeAspect="1"/>
          </p:cNvPicPr>
          <p:nvPr>
            <p:ph idx="1"/>
          </p:nvPr>
        </p:nvPicPr>
        <p:blipFill>
          <a:blip r:embed="rId1"/>
          <a:stretch>
            <a:fillRect/>
          </a:stretch>
        </p:blipFill>
        <p:spPr>
          <a:xfrm>
            <a:off x="-11430" y="-6985"/>
            <a:ext cx="12214860" cy="687133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3721</Words>
  <Application>WPS Presentation</Application>
  <PresentationFormat>Widescreen</PresentationFormat>
  <Paragraphs>65</Paragraphs>
  <Slides>18</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18</vt:i4>
      </vt:variant>
    </vt:vector>
  </HeadingPairs>
  <TitlesOfParts>
    <vt:vector size="26" baseType="lpstr">
      <vt:lpstr>Arial</vt:lpstr>
      <vt:lpstr>SimSun</vt:lpstr>
      <vt:lpstr>Wingdings</vt:lpstr>
      <vt:lpstr>Calibri Light</vt:lpstr>
      <vt:lpstr>Calibri</vt:lpstr>
      <vt:lpstr>Microsoft YaHei</vt:lpstr>
      <vt:lpstr>Arial Unicode MS</vt:lpstr>
      <vt:lpstr>Office Theme</vt:lpstr>
      <vt:lpstr>Distributed Cache</vt:lpstr>
      <vt:lpstr>Problem Statement</vt:lpstr>
      <vt:lpstr>Requirements</vt:lpstr>
      <vt:lpstr>One Step : Local Cache</vt:lpstr>
      <vt:lpstr>PowerPoint 演示文稿</vt:lpstr>
      <vt:lpstr>PowerPoint 演示文稿</vt:lpstr>
      <vt:lpstr>Distributed Approach 1: Sharding Cache cluster</vt:lpstr>
      <vt:lpstr>Choosing a cache host : Naive Approach</vt:lpstr>
      <vt:lpstr>Choosing a cache host: Naive Approach Problem</vt:lpstr>
      <vt:lpstr>Choosing a cache host: Consistent Hashing</vt:lpstr>
      <vt:lpstr>Cache Client</vt:lpstr>
      <vt:lpstr>Maintaining a list of servers</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Cache</dc:title>
  <dc:creator/>
  <cp:lastModifiedBy>avish</cp:lastModifiedBy>
  <cp:revision>14</cp:revision>
  <dcterms:created xsi:type="dcterms:W3CDTF">2020-04-25T17:41:00Z</dcterms:created>
  <dcterms:modified xsi:type="dcterms:W3CDTF">2020-04-26T10:02:18Z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1033-11.2.0.9281</vt:lpwstr>
  </property>
</Properties>
</file>