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2"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altLang="en-US" b="1" dirty="0"/>
              <a:t>Distributed Rate Limiter</a:t>
            </a:r>
            <a:endParaRPr lang="en-IN" altLang="en-US" b="1"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itle 5"/>
          <p:cNvSpPr>
            <a:spLocks noGrp="1"/>
          </p:cNvSpPr>
          <p:nvPr>
            <p:ph type="title"/>
          </p:nvPr>
        </p:nvSpPr>
        <p:spPr/>
        <p:txBody>
          <a:bodyPr/>
          <a:p>
            <a:endParaRPr lang="en-US"/>
          </a:p>
        </p:txBody>
      </p:sp>
      <p:pic>
        <p:nvPicPr>
          <p:cNvPr id="4" name="Content Placeholder 3"/>
          <p:cNvPicPr>
            <a:picLocks noChangeAspect="1"/>
          </p:cNvPicPr>
          <p:nvPr>
            <p:ph sz="half" idx="1"/>
          </p:nvPr>
        </p:nvPicPr>
        <p:blipFill>
          <a:blip r:embed="rId1"/>
          <a:stretch>
            <a:fillRect/>
          </a:stretch>
        </p:blipFill>
        <p:spPr>
          <a:xfrm>
            <a:off x="838200" y="2543810"/>
            <a:ext cx="5181600" cy="2914650"/>
          </a:xfrm>
          <a:prstGeom prst="rect">
            <a:avLst/>
          </a:prstGeom>
        </p:spPr>
      </p:pic>
      <p:pic>
        <p:nvPicPr>
          <p:cNvPr id="5" name="Content Placeholder 4"/>
          <p:cNvPicPr>
            <a:picLocks noChangeAspect="1"/>
          </p:cNvPicPr>
          <p:nvPr>
            <p:ph sz="half" idx="2"/>
          </p:nvPr>
        </p:nvPicPr>
        <p:blipFill>
          <a:blip r:embed="rId1"/>
          <a:stretch>
            <a:fillRect/>
          </a:stretch>
        </p:blipFill>
        <p:spPr>
          <a:xfrm>
            <a:off x="6172200" y="2543810"/>
            <a:ext cx="5181600" cy="2914650"/>
          </a:xfrm>
          <a:prstGeom prst="rect">
            <a:avLst/>
          </a:prstGeom>
        </p:spPr>
      </p:pic>
      <p:pic>
        <p:nvPicPr>
          <p:cNvPr id="7" name="Picture 6"/>
          <p:cNvPicPr>
            <a:picLocks noChangeAspect="1"/>
          </p:cNvPicPr>
          <p:nvPr/>
        </p:nvPicPr>
        <p:blipFill>
          <a:blip r:embed="rId1"/>
          <a:stretch>
            <a:fillRect/>
          </a:stretch>
        </p:blipFill>
        <p:spPr>
          <a:xfrm>
            <a:off x="0" y="0"/>
            <a:ext cx="12192000" cy="6858000"/>
          </a:xfrm>
          <a:prstGeom prst="rect">
            <a:avLst/>
          </a:prstGeom>
        </p:spPr>
      </p:pic>
      <p:pic>
        <p:nvPicPr>
          <p:cNvPr id="8" name="Picture 7"/>
          <p:cNvPicPr>
            <a:picLocks noChangeAspect="1"/>
          </p:cNvPicPr>
          <p:nvPr/>
        </p:nvPicPr>
        <p:blipFill>
          <a:blip r:embed="rId2"/>
          <a:stretch>
            <a:fillRect/>
          </a:stretch>
        </p:blipFill>
        <p:spPr>
          <a:xfrm>
            <a:off x="0" y="0"/>
            <a:ext cx="12192000" cy="6858000"/>
          </a:xfrm>
          <a:prstGeom prst="rect">
            <a:avLst/>
          </a:prstGeom>
        </p:spPr>
      </p:pic>
      <p:pic>
        <p:nvPicPr>
          <p:cNvPr id="9" name="Picture 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5" name="Content Placeholder 4"/>
          <p:cNvPicPr>
            <a:picLocks noChangeAspect="1"/>
          </p:cNvPicPr>
          <p:nvPr>
            <p:ph sz="half" idx="1"/>
          </p:nvPr>
        </p:nvPicPr>
        <p:blipFill>
          <a:blip r:embed="rId1"/>
          <a:stretch>
            <a:fillRect/>
          </a:stretch>
        </p:blipFill>
        <p:spPr>
          <a:xfrm>
            <a:off x="838200" y="2543810"/>
            <a:ext cx="5181600" cy="2914650"/>
          </a:xfrm>
          <a:prstGeom prst="rect">
            <a:avLst/>
          </a:prstGeom>
        </p:spPr>
      </p:pic>
      <p:pic>
        <p:nvPicPr>
          <p:cNvPr id="6" name="Content Placeholder 5"/>
          <p:cNvPicPr>
            <a:picLocks noChangeAspect="1"/>
          </p:cNvPicPr>
          <p:nvPr>
            <p:ph sz="half" idx="2"/>
          </p:nvPr>
        </p:nvPicPr>
        <p:blipFill>
          <a:blip r:embed="rId1"/>
          <a:stretch>
            <a:fillRect/>
          </a:stretch>
        </p:blipFill>
        <p:spPr>
          <a:xfrm>
            <a:off x="6172200" y="2543810"/>
            <a:ext cx="5181600" cy="2914650"/>
          </a:xfrm>
          <a:prstGeom prst="rect">
            <a:avLst/>
          </a:prstGeom>
        </p:spPr>
      </p:pic>
      <p:pic>
        <p:nvPicPr>
          <p:cNvPr id="7" name="Picture 6"/>
          <p:cNvPicPr>
            <a:picLocks noChangeAspect="1"/>
          </p:cNvPicPr>
          <p:nvPr/>
        </p:nvPicPr>
        <p:blipFill>
          <a:blip r:embed="rId1"/>
          <a:stretch>
            <a:fillRect/>
          </a:stretch>
        </p:blipFill>
        <p:spPr>
          <a:xfrm>
            <a:off x="0" y="0"/>
            <a:ext cx="12192000" cy="6858000"/>
          </a:xfrm>
          <a:prstGeom prst="rect">
            <a:avLst/>
          </a:prstGeom>
        </p:spPr>
      </p:pic>
      <p:sp>
        <p:nvSpPr>
          <p:cNvPr id="3" name="Text Box 2"/>
          <p:cNvSpPr txBox="1"/>
          <p:nvPr/>
        </p:nvSpPr>
        <p:spPr>
          <a:xfrm>
            <a:off x="299085" y="4080510"/>
            <a:ext cx="3181985" cy="1476375"/>
          </a:xfrm>
          <a:prstGeom prst="rect">
            <a:avLst/>
          </a:prstGeom>
          <a:noFill/>
        </p:spPr>
        <p:txBody>
          <a:bodyPr wrap="square" rtlCol="0">
            <a:spAutoFit/>
          </a:bodyPr>
          <a:p>
            <a:r>
              <a:rPr lang="en-IN" altLang="en-US"/>
              <a:t>Auto scaling is an option but</a:t>
            </a:r>
            <a:endParaRPr lang="en-IN" altLang="en-US"/>
          </a:p>
          <a:p>
            <a:r>
              <a:rPr lang="en-IN" altLang="en-US"/>
              <a:t>scaling out and scaling in takes time. So by the time scaling process is complete, it may already be late.</a:t>
            </a:r>
            <a:endParaRPr lang="en-IN" altLang="en-US"/>
          </a:p>
        </p:txBody>
      </p:sp>
      <p:sp>
        <p:nvSpPr>
          <p:cNvPr id="4" name="Text Box 3"/>
          <p:cNvSpPr txBox="1"/>
          <p:nvPr/>
        </p:nvSpPr>
        <p:spPr>
          <a:xfrm>
            <a:off x="4131945" y="4197350"/>
            <a:ext cx="3181985" cy="2030095"/>
          </a:xfrm>
          <a:prstGeom prst="rect">
            <a:avLst/>
          </a:prstGeom>
          <a:noFill/>
        </p:spPr>
        <p:txBody>
          <a:bodyPr wrap="square" rtlCol="0">
            <a:spAutoFit/>
          </a:bodyPr>
          <a:p>
            <a:r>
              <a:rPr lang="en-IN" altLang="en-US"/>
              <a:t>We can introduce load balancer to balance the load by rejecting the requests or queuing them for future processing. But a Load Balancer doesnot have the knowledge of the cost of a particular operation.</a:t>
            </a:r>
            <a:endParaRPr lang="en-I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5" name="Content Placeholder 4"/>
          <p:cNvPicPr>
            <a:picLocks noChangeAspect="1"/>
          </p:cNvPicPr>
          <p:nvPr>
            <p:ph sz="half" idx="1"/>
          </p:nvPr>
        </p:nvPicPr>
        <p:blipFill>
          <a:blip r:embed="rId1"/>
          <a:stretch>
            <a:fillRect/>
          </a:stretch>
        </p:blipFill>
        <p:spPr>
          <a:xfrm>
            <a:off x="838200" y="2543810"/>
            <a:ext cx="5181600" cy="2914650"/>
          </a:xfrm>
          <a:prstGeom prst="rect">
            <a:avLst/>
          </a:prstGeom>
        </p:spPr>
      </p:pic>
      <p:pic>
        <p:nvPicPr>
          <p:cNvPr id="6" name="Content Placeholder 5"/>
          <p:cNvPicPr>
            <a:picLocks noChangeAspect="1"/>
          </p:cNvPicPr>
          <p:nvPr>
            <p:ph sz="half" idx="2"/>
          </p:nvPr>
        </p:nvPicPr>
        <p:blipFill>
          <a:blip r:embed="rId1"/>
          <a:stretch>
            <a:fillRect/>
          </a:stretch>
        </p:blipFill>
        <p:spPr>
          <a:xfrm>
            <a:off x="6172200" y="2543810"/>
            <a:ext cx="5181600" cy="2914650"/>
          </a:xfrm>
          <a:prstGeom prst="rect">
            <a:avLst/>
          </a:prstGeom>
        </p:spPr>
      </p:pic>
      <p:pic>
        <p:nvPicPr>
          <p:cNvPr id="7" name="Picture 6"/>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5" name="Content Placeholder 4"/>
          <p:cNvPicPr>
            <a:picLocks noChangeAspect="1"/>
          </p:cNvPicPr>
          <p:nvPr>
            <p:ph sz="half" idx="1"/>
          </p:nvPr>
        </p:nvPicPr>
        <p:blipFill>
          <a:blip r:embed="rId1"/>
          <a:stretch>
            <a:fillRect/>
          </a:stretch>
        </p:blipFill>
        <p:spPr>
          <a:xfrm>
            <a:off x="838200" y="2543810"/>
            <a:ext cx="5181600" cy="2914650"/>
          </a:xfrm>
          <a:prstGeom prst="rect">
            <a:avLst/>
          </a:prstGeom>
        </p:spPr>
      </p:pic>
      <p:pic>
        <p:nvPicPr>
          <p:cNvPr id="6" name="Content Placeholder 5"/>
          <p:cNvPicPr>
            <a:picLocks noChangeAspect="1"/>
          </p:cNvPicPr>
          <p:nvPr>
            <p:ph sz="half" idx="2"/>
          </p:nvPr>
        </p:nvPicPr>
        <p:blipFill>
          <a:blip r:embed="rId1"/>
          <a:stretch>
            <a:fillRect/>
          </a:stretch>
        </p:blipFill>
        <p:spPr>
          <a:xfrm>
            <a:off x="6172200" y="2543810"/>
            <a:ext cx="5181600" cy="2914650"/>
          </a:xfrm>
          <a:prstGeom prst="rect">
            <a:avLst/>
          </a:prstGeom>
        </p:spPr>
      </p:pic>
      <p:pic>
        <p:nvPicPr>
          <p:cNvPr id="7" name="Picture 6"/>
          <p:cNvPicPr>
            <a:picLocks noChangeAspect="1"/>
          </p:cNvPicPr>
          <p:nvPr/>
        </p:nvPicPr>
        <p:blipFill>
          <a:blip r:embed="rId1"/>
          <a:stretch>
            <a:fillRect/>
          </a:stretch>
        </p:blipFill>
        <p:spPr>
          <a:xfrm>
            <a:off x="0" y="0"/>
            <a:ext cx="12192000" cy="6858000"/>
          </a:xfrm>
          <a:prstGeom prst="rect">
            <a:avLst/>
          </a:prstGeom>
        </p:spPr>
      </p:pic>
      <p:pic>
        <p:nvPicPr>
          <p:cNvPr id="8" name="Picture 7"/>
          <p:cNvPicPr>
            <a:picLocks noChangeAspect="1"/>
          </p:cNvPicPr>
          <p:nvPr/>
        </p:nvPicPr>
        <p:blipFill>
          <a:blip r:embed="rId2"/>
          <a:stretch>
            <a:fillRect/>
          </a:stretch>
        </p:blipFill>
        <p:spPr>
          <a:xfrm>
            <a:off x="0" y="0"/>
            <a:ext cx="12192000" cy="6858000"/>
          </a:xfrm>
          <a:prstGeom prst="rect">
            <a:avLst/>
          </a:prstGeom>
        </p:spPr>
      </p:pic>
      <p:pic>
        <p:nvPicPr>
          <p:cNvPr id="9" name="Picture 8"/>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5" name="Content Placeholder 4"/>
          <p:cNvPicPr>
            <a:picLocks noChangeAspect="1"/>
          </p:cNvPicPr>
          <p:nvPr>
            <p:ph sz="half" idx="1"/>
          </p:nvPr>
        </p:nvPicPr>
        <p:blipFill>
          <a:blip r:embed="rId1"/>
          <a:stretch>
            <a:fillRect/>
          </a:stretch>
        </p:blipFill>
        <p:spPr>
          <a:xfrm>
            <a:off x="838200" y="2543810"/>
            <a:ext cx="5181600" cy="2914650"/>
          </a:xfrm>
          <a:prstGeom prst="rect">
            <a:avLst/>
          </a:prstGeom>
        </p:spPr>
      </p:pic>
      <p:pic>
        <p:nvPicPr>
          <p:cNvPr id="6" name="Content Placeholder 5"/>
          <p:cNvPicPr>
            <a:picLocks noChangeAspect="1"/>
          </p:cNvPicPr>
          <p:nvPr>
            <p:ph sz="half" idx="2"/>
          </p:nvPr>
        </p:nvPicPr>
        <p:blipFill>
          <a:blip r:embed="rId1"/>
          <a:stretch>
            <a:fillRect/>
          </a:stretch>
        </p:blipFill>
        <p:spPr>
          <a:xfrm>
            <a:off x="6172200" y="2543810"/>
            <a:ext cx="5181600" cy="2914650"/>
          </a:xfrm>
          <a:prstGeom prst="rect">
            <a:avLst/>
          </a:prstGeom>
        </p:spPr>
      </p:pic>
      <p:pic>
        <p:nvPicPr>
          <p:cNvPr id="7" name="Picture 6"/>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5" name="Content Placeholder 4"/>
          <p:cNvPicPr>
            <a:picLocks noChangeAspect="1"/>
          </p:cNvPicPr>
          <p:nvPr>
            <p:ph sz="half" idx="1"/>
          </p:nvPr>
        </p:nvPicPr>
        <p:blipFill>
          <a:blip r:embed="rId1"/>
          <a:stretch>
            <a:fillRect/>
          </a:stretch>
        </p:blipFill>
        <p:spPr>
          <a:xfrm>
            <a:off x="838200" y="2543810"/>
            <a:ext cx="5181600" cy="2914650"/>
          </a:xfrm>
          <a:prstGeom prst="rect">
            <a:avLst/>
          </a:prstGeom>
        </p:spPr>
      </p:pic>
      <p:pic>
        <p:nvPicPr>
          <p:cNvPr id="6" name="Content Placeholder 5"/>
          <p:cNvPicPr>
            <a:picLocks noChangeAspect="1"/>
          </p:cNvPicPr>
          <p:nvPr>
            <p:ph sz="half" idx="2"/>
          </p:nvPr>
        </p:nvPicPr>
        <p:blipFill>
          <a:blip r:embed="rId1"/>
          <a:stretch>
            <a:fillRect/>
          </a:stretch>
        </p:blipFill>
        <p:spPr>
          <a:xfrm>
            <a:off x="6172200" y="2543810"/>
            <a:ext cx="5181600" cy="2914650"/>
          </a:xfrm>
          <a:prstGeom prst="rect">
            <a:avLst/>
          </a:prstGeom>
        </p:spPr>
      </p:pic>
      <p:pic>
        <p:nvPicPr>
          <p:cNvPr id="7" name="Picture 6"/>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sz="half" idx="1"/>
          </p:nvPr>
        </p:nvSpPr>
        <p:spPr>
          <a:xfrm>
            <a:off x="838200" y="648970"/>
            <a:ext cx="10516235" cy="5528310"/>
          </a:xfrm>
        </p:spPr>
        <p:txBody>
          <a:bodyPr>
            <a:normAutofit fontScale="70000"/>
          </a:bodyPr>
          <a:p>
            <a:r>
              <a:rPr lang="en-IN" altLang="en-US" b="1"/>
              <a:t>Throttle Rules Retriever</a:t>
            </a:r>
            <a:r>
              <a:rPr lang="en-IN" altLang="en-US"/>
              <a:t> - Each rule specifies a number of requests allowed for a particular client per second. These rules are defined by service owners and are stored in a database. It is a background process that polls rules database periodically for any change in rules.</a:t>
            </a:r>
            <a:endParaRPr lang="en-IN" altLang="en-US"/>
          </a:p>
          <a:p>
            <a:r>
              <a:rPr lang="en-IN" altLang="en-US" b="1"/>
              <a:t>Rules Database </a:t>
            </a:r>
            <a:r>
              <a:rPr lang="en-IN" altLang="en-US"/>
              <a:t>- Stores all the rules per client.</a:t>
            </a:r>
            <a:endParaRPr lang="en-IN" altLang="en-US"/>
          </a:p>
          <a:p>
            <a:r>
              <a:rPr lang="en-IN" altLang="en-US" b="1"/>
              <a:t>Rules Service</a:t>
            </a:r>
            <a:r>
              <a:rPr lang="en-IN" altLang="en-US"/>
              <a:t> - Web service that manages all the operations with rules. CRUD service.</a:t>
            </a:r>
            <a:endParaRPr lang="en-IN" altLang="en-US"/>
          </a:p>
          <a:p>
            <a:r>
              <a:rPr lang="en-IN" altLang="en-US" b="1">
                <a:sym typeface="+mn-ea"/>
              </a:rPr>
              <a:t>Throttle Rules Cache </a:t>
            </a:r>
            <a:r>
              <a:rPr lang="en-IN" altLang="en-US">
                <a:sym typeface="+mn-ea"/>
              </a:rPr>
              <a:t>- The rules retriever caches all the rules in a cache.</a:t>
            </a:r>
            <a:endParaRPr lang="en-IN" altLang="en-US">
              <a:sym typeface="+mn-ea"/>
            </a:endParaRPr>
          </a:p>
          <a:p>
            <a:r>
              <a:rPr lang="en-IN" altLang="en-US" b="1">
                <a:sym typeface="+mn-ea"/>
              </a:rPr>
              <a:t>Client Identifier Builder</a:t>
            </a:r>
            <a:r>
              <a:rPr lang="en-IN" altLang="en-US">
                <a:sym typeface="+mn-ea"/>
              </a:rPr>
              <a:t> - This service creates an unique identifier called key for each client using ip or login for a registered client.</a:t>
            </a:r>
            <a:endParaRPr lang="en-IN" altLang="en-US">
              <a:sym typeface="+mn-ea"/>
            </a:endParaRPr>
          </a:p>
          <a:p>
            <a:r>
              <a:rPr lang="en-IN" altLang="en-US" b="1">
                <a:sym typeface="+mn-ea"/>
              </a:rPr>
              <a:t>Rate Limiter -</a:t>
            </a:r>
            <a:r>
              <a:rPr lang="en-IN" altLang="en-US">
                <a:sym typeface="+mn-ea"/>
              </a:rPr>
              <a:t> The key created by </a:t>
            </a:r>
            <a:r>
              <a:rPr lang="en-IN" altLang="en-US">
                <a:sym typeface="+mn-ea"/>
              </a:rPr>
              <a:t>Client Identifier Builder is passed to rate limiter component. It checks the rules cache against this key to get the rules and decides if the number of requests made by the client in the last second is below the limit specified by the rule. </a:t>
            </a:r>
            <a:endParaRPr lang="en-IN" altLang="en-US">
              <a:sym typeface="+mn-ea"/>
            </a:endParaRPr>
          </a:p>
          <a:p>
            <a:r>
              <a:rPr lang="en-IN" altLang="en-US">
                <a:sym typeface="+mn-ea"/>
              </a:rPr>
              <a:t>If threshold is not exceeded, the request is passed further to request processor else it is rejected.</a:t>
            </a:r>
            <a:endParaRPr lang="en-IN" altLang="en-US">
              <a:sym typeface="+mn-ea"/>
            </a:endParaRPr>
          </a:p>
          <a:p>
            <a:r>
              <a:rPr lang="en-IN" altLang="en-US">
                <a:sym typeface="+mn-ea"/>
              </a:rPr>
              <a:t>If rejected, we can either drop the request, or return specific status code or enqueue it for later processing. </a:t>
            </a:r>
            <a:endParaRPr lang="en-IN" altLang="en-US">
              <a:sym typeface="+mn-ea"/>
            </a:endParaRPr>
          </a:p>
          <a:p>
            <a:endParaRPr lang="en-IN" altLang="en-US">
              <a:sym typeface="+mn-ea"/>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1470</Words>
  <Application>WPS Presentation</Application>
  <PresentationFormat>Widescreen</PresentationFormat>
  <Paragraphs>17</Paragraphs>
  <Slides>8</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8</vt:i4>
      </vt:variant>
    </vt:vector>
  </HeadingPairs>
  <TitlesOfParts>
    <vt:vector size="16" baseType="lpstr">
      <vt:lpstr>Arial</vt:lpstr>
      <vt:lpstr>SimSun</vt:lpstr>
      <vt:lpstr>Wingdings</vt:lpstr>
      <vt:lpstr>Calibri Light</vt:lpstr>
      <vt:lpstr>Calibri</vt:lpstr>
      <vt:lpstr>Microsoft YaHei</vt:lpstr>
      <vt:lpstr>Arial Unicode MS</vt:lpstr>
      <vt:lpstr>Office Theme</vt:lpstr>
      <vt:lpstr>Distributed Rate Limiter</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Distributed Rate Limiter</dc:title>
  <dc:creator/>
  <cp:lastModifiedBy>avish</cp:lastModifiedBy>
  <cp:revision>4</cp:revision>
  <dcterms:created xsi:type="dcterms:W3CDTF">2020-04-30T15:56:00Z</dcterms:created>
  <dcterms:modified xsi:type="dcterms:W3CDTF">2021-07-28T05:41:12Z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1033-11.2.0.9327</vt:lpwstr>
  </property>
</Properties>
</file>