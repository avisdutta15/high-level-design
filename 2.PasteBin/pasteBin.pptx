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1" r:id="rId6"/>
    <p:sldId id="262" r:id="rId7"/>
    <p:sldId id="263" r:id="rId8"/>
    <p:sldId id="256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PasteBin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The user can uses the service to save data(text, image) and get a url back. This url is used to share and access the data.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Requirements and Goals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IN" altLang="en-US" b="1"/>
              <a:t>Functional Requirements</a:t>
            </a:r>
            <a:endParaRPr lang="en-IN" altLang="en-US" b="1"/>
          </a:p>
          <a:p>
            <a:pPr lvl="1" algn="just"/>
            <a:r>
              <a:rPr lang="en-US">
                <a:latin typeface="Segoe UI" panose="020B0502040204020203" charset="0"/>
                <a:cs typeface="Segoe UI" panose="020B0502040204020203" charset="0"/>
              </a:rPr>
              <a:t>Saving data returns a short url</a:t>
            </a:r>
            <a:endParaRPr lang="en-US">
              <a:latin typeface="Segoe UI" panose="020B0502040204020203" charset="0"/>
              <a:cs typeface="Segoe UI" panose="020B0502040204020203" charset="0"/>
            </a:endParaRPr>
          </a:p>
          <a:p>
            <a:pPr lvl="1" algn="just"/>
            <a:r>
              <a:rPr lang="en-US">
                <a:latin typeface="Segoe UI" panose="020B0502040204020203" charset="0"/>
                <a:cs typeface="Segoe UI" panose="020B0502040204020203" charset="0"/>
                <a:sym typeface="+mn-ea"/>
              </a:rPr>
              <a:t>When users access a short url, our service should redirect them to the data saved.</a:t>
            </a:r>
            <a:endParaRPr lang="en-US"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lvl="1" algn="just"/>
            <a:r>
              <a:rPr lang="en-US" sz="2400">
                <a:latin typeface="Segoe UI" panose="020B0502040204020203" charset="0"/>
                <a:cs typeface="Segoe UI" panose="020B0502040204020203" charset="0"/>
                <a:sym typeface="+mn-ea"/>
              </a:rPr>
              <a:t>Users should optionally be able to pick a custom short link for their URL.</a:t>
            </a:r>
            <a:endParaRPr lang="en-US" sz="2400">
              <a:latin typeface="Segoe UI" panose="020B0502040204020203" charset="0"/>
              <a:cs typeface="Segoe UI" panose="020B0502040204020203" charset="0"/>
            </a:endParaRPr>
          </a:p>
          <a:p>
            <a:pPr lvl="1" algn="just"/>
            <a:r>
              <a:rPr lang="en-US" sz="2400">
                <a:latin typeface="Segoe UI" panose="020B0502040204020203" charset="0"/>
                <a:cs typeface="Segoe UI" panose="020B0502040204020203" charset="0"/>
                <a:sym typeface="+mn-ea"/>
              </a:rPr>
              <a:t>Links will expire after a standard default timespan. Users should be able to specify the expiration time.</a:t>
            </a:r>
            <a:endParaRPr lang="en-US" sz="2400"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lvl="1" algn="just"/>
            <a:endParaRPr lang="en-US" sz="2400"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lvl="0" algn="just"/>
            <a:r>
              <a:rPr lang="en-IN" altLang="en-US" b="1"/>
              <a:t>Non-Functional Requirements</a:t>
            </a:r>
            <a:endParaRPr lang="en-IN" altLang="en-US" b="1"/>
          </a:p>
          <a:p>
            <a:pPr lvl="1" algn="just"/>
            <a:r>
              <a:rPr lang="en-US">
                <a:latin typeface="Segoe UI" panose="020B0502040204020203" charset="0"/>
                <a:cs typeface="Segoe UI" panose="020B0502040204020203" charset="0"/>
                <a:sym typeface="+mn-ea"/>
              </a:rPr>
              <a:t>High availability - The system should be highly available. This is required because, if our service is down, all the URL redirections will start failing.</a:t>
            </a:r>
            <a:endParaRPr lang="en-US"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lvl="1" algn="just"/>
            <a:r>
              <a:rPr lang="en-US">
                <a:latin typeface="Segoe UI" panose="020B0502040204020203" charset="0"/>
                <a:cs typeface="Segoe UI" panose="020B0502040204020203" charset="0"/>
                <a:sym typeface="+mn-ea"/>
              </a:rPr>
              <a:t>High Reliability - The uploaded data cannot be lost</a:t>
            </a:r>
            <a:endParaRPr lang="en-US"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lvl="1" algn="just"/>
            <a:r>
              <a:rPr lang="en-US" sz="2400">
                <a:latin typeface="Segoe UI" panose="020B0502040204020203" charset="0"/>
                <a:cs typeface="Segoe UI" panose="020B0502040204020203" charset="0"/>
                <a:sym typeface="+mn-ea"/>
              </a:rPr>
              <a:t>URL redirection should happen in real-time with minimal latency.</a:t>
            </a:r>
            <a:endParaRPr lang="en-US" sz="2400">
              <a:latin typeface="Segoe UI" panose="020B0502040204020203" charset="0"/>
              <a:cs typeface="Segoe UI" panose="020B0502040204020203" charset="0"/>
            </a:endParaRPr>
          </a:p>
          <a:p>
            <a:pPr lvl="1" algn="just"/>
            <a:r>
              <a:rPr lang="en-US" sz="2400">
                <a:latin typeface="Segoe UI" panose="020B0502040204020203" charset="0"/>
                <a:cs typeface="Segoe UI" panose="020B0502040204020203" charset="0"/>
                <a:sym typeface="+mn-ea"/>
              </a:rPr>
              <a:t>Shortened links should not be guessable (not predictable).</a:t>
            </a:r>
            <a:endParaRPr lang="en-US" sz="2400"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lvl="1" algn="just"/>
            <a:endParaRPr lang="en-US" sz="2400"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algn="just"/>
            <a:r>
              <a:rPr lang="en-US" sz="2395" b="1">
                <a:latin typeface="Segoe UI" panose="020B0502040204020203" charset="0"/>
                <a:cs typeface="Segoe UI" panose="020B0502040204020203" charset="0"/>
                <a:sym typeface="+mn-ea"/>
              </a:rPr>
              <a:t>Extended Requirements:</a:t>
            </a:r>
            <a:endParaRPr lang="en-US" sz="2395">
              <a:latin typeface="Segoe UI" panose="020B0502040204020203" charset="0"/>
              <a:cs typeface="Segoe UI" panose="020B0502040204020203" charset="0"/>
            </a:endParaRPr>
          </a:p>
          <a:p>
            <a:pPr lvl="1" algn="just"/>
            <a:r>
              <a:rPr lang="en-US" sz="2400">
                <a:latin typeface="Segoe UI" panose="020B0502040204020203" charset="0"/>
                <a:cs typeface="Segoe UI" panose="020B0502040204020203" charset="0"/>
                <a:sym typeface="+mn-ea"/>
              </a:rPr>
              <a:t>Analytics; e.g., how many times a redirection happened?</a:t>
            </a:r>
            <a:endParaRPr lang="en-US">
              <a:latin typeface="Segoe UI" panose="020B0502040204020203" charset="0"/>
              <a:cs typeface="Segoe UI" panose="020B0502040204020203" charset="0"/>
            </a:endParaRPr>
          </a:p>
          <a:p>
            <a:pPr lvl="1" algn="just"/>
            <a:endParaRPr lang="en-IN" altLang="en-US" b="1">
              <a:latin typeface="Segoe UI" panose="020B0502040204020203" charset="0"/>
              <a:cs typeface="Segoe UI" panose="020B0502040204020203" charset="0"/>
            </a:endParaRPr>
          </a:p>
          <a:p>
            <a:pPr lvl="0" algn="just"/>
            <a:endParaRPr lang="en-IN" altLang="en-US" b="1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Design Considerations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Can we limit the amount of data saved? </a:t>
            </a:r>
            <a:endParaRPr lang="en-IN" altLang="en-US"/>
          </a:p>
          <a:p>
            <a:pPr lvl="1"/>
            <a:r>
              <a:rPr lang="en-IN" altLang="en-US"/>
              <a:t>Yes - the limit is 10mb</a:t>
            </a:r>
            <a:endParaRPr lang="en-IN" altLang="en-US"/>
          </a:p>
          <a:p>
            <a:pPr lvl="0"/>
            <a:r>
              <a:rPr lang="en-IN" altLang="en-US"/>
              <a:t>What will the size of the short url generated?</a:t>
            </a:r>
            <a:endParaRPr lang="en-IN" altLang="en-US"/>
          </a:p>
          <a:p>
            <a:pPr lvl="1"/>
            <a:r>
              <a:rPr lang="en-IN" altLang="en-US"/>
              <a:t>7 chars</a:t>
            </a:r>
            <a:endParaRPr lang="en-I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>
                <a:sym typeface="+mn-ea"/>
              </a:rPr>
              <a:t>Capacity Estimation and Constraints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81630" y="1691005"/>
            <a:ext cx="6429375" cy="4374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APIs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IN" altLang="en-US" sz="2000" b="1"/>
              <a:t>1. </a:t>
            </a:r>
            <a:r>
              <a:rPr lang="en-US" sz="2000" b="1"/>
              <a:t>addPaste (api_dev_key, paste_data, custom_url=none, user_name=none, expire_date=none)</a:t>
            </a:r>
            <a:endParaRPr lang="en-US" sz="2000" b="1"/>
          </a:p>
          <a:p>
            <a:pPr marL="0" indent="0">
              <a:buNone/>
            </a:pPr>
            <a:r>
              <a:rPr lang="en-US" sz="2000" b="1"/>
              <a:t>    </a:t>
            </a:r>
            <a:r>
              <a:rPr lang="en-IN" altLang="en-US" sz="2000" b="1"/>
              <a:t>returns string: paste_url/error_code</a:t>
            </a:r>
            <a:endParaRPr lang="en-US" sz="2000" b="1"/>
          </a:p>
          <a:p>
            <a:r>
              <a:rPr lang="en-IN" altLang="en-US" sz="2000"/>
              <a:t>api_dev_key - </a:t>
            </a:r>
            <a:r>
              <a:rPr lang="en-US" sz="2000">
                <a:sym typeface="+mn-ea"/>
              </a:rPr>
              <a:t>(string): The API developer key of a registered account. This will be used to, among other things, throttle users based on their allocated quota.</a:t>
            </a:r>
            <a:endParaRPr lang="en-US" sz="2000">
              <a:sym typeface="+mn-ea"/>
            </a:endParaRPr>
          </a:p>
          <a:p>
            <a:r>
              <a:rPr lang="en-IN" altLang="en-US" sz="2000">
                <a:sym typeface="+mn-ea"/>
              </a:rPr>
              <a:t>paste_data(string): the text that needs to be saved. </a:t>
            </a:r>
            <a:endParaRPr lang="en-US" sz="2000"/>
          </a:p>
          <a:p>
            <a:r>
              <a:rPr lang="en-US" sz="2000">
                <a:sym typeface="+mn-ea"/>
              </a:rPr>
              <a:t>custom_alias (string): Optional custom key for the URL.</a:t>
            </a:r>
            <a:endParaRPr lang="en-US" sz="2000"/>
          </a:p>
          <a:p>
            <a:r>
              <a:rPr lang="en-US" sz="2000">
                <a:sym typeface="+mn-ea"/>
              </a:rPr>
              <a:t>user_name (string): Optional user name to be used in the encoding.</a:t>
            </a:r>
            <a:endParaRPr lang="en-US" sz="2000"/>
          </a:p>
          <a:p>
            <a:r>
              <a:rPr lang="en-US" sz="2000">
                <a:sym typeface="+mn-ea"/>
              </a:rPr>
              <a:t>expire_date (string): Optional expiration date for the shortened URL.</a:t>
            </a:r>
            <a:endParaRPr lang="en-US" sz="2000">
              <a:sym typeface="+mn-ea"/>
            </a:endParaRPr>
          </a:p>
          <a:p>
            <a:pPr marL="0" indent="0">
              <a:buNone/>
            </a:pPr>
            <a:r>
              <a:rPr lang="en-IN" altLang="en-US" sz="2000" b="1"/>
              <a:t>2. getPaste (api_dev_key, paste_url)</a:t>
            </a:r>
            <a:endParaRPr lang="en-IN" altLang="en-US" sz="2000" b="1"/>
          </a:p>
          <a:p>
            <a:pPr marL="0" indent="0">
              <a:buNone/>
            </a:pPr>
            <a:r>
              <a:rPr lang="en-IN" altLang="en-US" sz="2000" b="1"/>
              <a:t>    returns string: paste_data/error_code</a:t>
            </a:r>
            <a:endParaRPr lang="en-IN" altLang="en-US" sz="2000" b="1"/>
          </a:p>
          <a:p>
            <a:pPr marL="0" indent="0">
              <a:buNone/>
            </a:pPr>
            <a:r>
              <a:rPr lang="en-IN" altLang="en-US" sz="2000" b="1"/>
              <a:t>3. deletePaste (api_dev_key, paste_url) </a:t>
            </a:r>
            <a:endParaRPr lang="en-IN" altLang="en-US" sz="2000" b="1"/>
          </a:p>
          <a:p>
            <a:pPr marL="0" indent="0">
              <a:buNone/>
            </a:pPr>
            <a:r>
              <a:rPr lang="en-IN" altLang="en-US" sz="2000" b="1"/>
              <a:t>    return (string) : success / error code</a:t>
            </a:r>
            <a:endParaRPr lang="en-IN" altLang="en-US" sz="2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High Level Design</a:t>
            </a:r>
            <a:endParaRPr lang="en-IN" altLang="en-US" b="1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3930" y="2146300"/>
            <a:ext cx="4833620" cy="27063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525260" y="1691005"/>
            <a:ext cx="539496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a. application layer</a:t>
            </a:r>
            <a:endParaRPr lang="en-US"/>
          </a:p>
          <a:p>
            <a:r>
              <a:rPr lang="en-IN" altLang="en-US"/>
              <a:t>	</a:t>
            </a:r>
            <a:r>
              <a:rPr lang="en-US"/>
              <a:t>i. Handling read / write requests </a:t>
            </a:r>
            <a:endParaRPr lang="en-US"/>
          </a:p>
          <a:p>
            <a:r>
              <a:rPr lang="en-IN" altLang="en-US"/>
              <a:t>	</a:t>
            </a:r>
            <a:r>
              <a:rPr lang="en-US"/>
              <a:t>ii. Communicate with backend storage </a:t>
            </a:r>
            <a:endParaRPr lang="en-US"/>
          </a:p>
          <a:p>
            <a:endParaRPr lang="en-US"/>
          </a:p>
          <a:p>
            <a:r>
              <a:rPr lang="en-US" b="1"/>
              <a:t>b. storage layer </a:t>
            </a:r>
            <a:endParaRPr lang="en-US"/>
          </a:p>
          <a:p>
            <a:r>
              <a:rPr lang="en-IN" altLang="en-US"/>
              <a:t>	</a:t>
            </a:r>
            <a:r>
              <a:rPr lang="en-US" u="sng"/>
              <a:t>i. metadata storage </a:t>
            </a:r>
            <a:endParaRPr lang="en-US"/>
          </a:p>
          <a:p>
            <a:r>
              <a:rPr lang="en-IN" altLang="en-US"/>
              <a:t>	This contains the user to paste_url mapping 	and other metadata. Less relationship and 	joins. NoSql like cassandra or hbase.</a:t>
            </a:r>
            <a:endParaRPr lang="en-IN" altLang="en-US"/>
          </a:p>
          <a:p>
            <a:endParaRPr lang="en-US"/>
          </a:p>
          <a:p>
            <a:r>
              <a:rPr lang="en-IN" altLang="en-US"/>
              <a:t>	</a:t>
            </a:r>
            <a:r>
              <a:rPr lang="en-US" u="sng"/>
              <a:t>ii. contents storage</a:t>
            </a:r>
            <a:endParaRPr lang="en-US"/>
          </a:p>
          <a:p>
            <a:r>
              <a:rPr lang="en-IN" altLang="en-US"/>
              <a:t>	Large Capacity. Object Storage like Amazon S3.</a:t>
            </a:r>
            <a:endParaRPr lang="en-I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475" y="1803400"/>
            <a:ext cx="10976610" cy="458978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b="1"/>
              <a:t>Detailed Design</a:t>
            </a:r>
            <a:endParaRPr lang="en-IN" altLang="en-US" b="1"/>
          </a:p>
        </p:txBody>
      </p:sp>
      <p:sp>
        <p:nvSpPr>
          <p:cNvPr id="6" name="Text Box 5"/>
          <p:cNvSpPr txBox="1"/>
          <p:nvPr/>
        </p:nvSpPr>
        <p:spPr>
          <a:xfrm>
            <a:off x="8976360" y="5419090"/>
            <a:ext cx="3015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IN" altLang="en-US"/>
              <a:t>Metadata Server is splitted intp SQL Master/Slave Write and Read replicas.</a:t>
            </a:r>
            <a:endParaRPr lang="en-I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Few more talking points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Purging or DB cleanup</a:t>
            </a:r>
            <a:endParaRPr lang="en-US">
              <a:sym typeface="+mn-ea"/>
            </a:endParaRPr>
          </a:p>
          <a:p>
            <a:r>
              <a:rPr lang="en-IN" altLang="en-US"/>
              <a:t>Caching</a:t>
            </a:r>
            <a:endParaRPr lang="en-IN" altLang="en-US"/>
          </a:p>
          <a:p>
            <a:pPr lvl="1"/>
            <a:r>
              <a:rPr lang="en-IN" altLang="en-US"/>
              <a:t>Write Through</a:t>
            </a:r>
            <a:endParaRPr lang="en-IN" altLang="en-US"/>
          </a:p>
          <a:p>
            <a:pPr lvl="1"/>
            <a:r>
              <a:rPr lang="en-IN" altLang="en-US"/>
              <a:t>Write Around</a:t>
            </a:r>
            <a:endParaRPr lang="en-IN" altLang="en-US"/>
          </a:p>
          <a:p>
            <a:pPr lvl="1"/>
            <a:r>
              <a:rPr lang="en-IN" altLang="en-US"/>
              <a:t>Write Back</a:t>
            </a:r>
            <a:endParaRPr lang="en-IN" altLang="en-US"/>
          </a:p>
          <a:p>
            <a:pPr lvl="0"/>
            <a:r>
              <a:rPr lang="en-IN" altLang="en-US"/>
              <a:t>Load Balancer</a:t>
            </a:r>
            <a:endParaRPr lang="en-IN" altLang="en-US"/>
          </a:p>
          <a:p>
            <a:pPr lvl="1"/>
            <a:r>
              <a:rPr lang="en-IN" altLang="en-US"/>
              <a:t>between client and server</a:t>
            </a:r>
            <a:endParaRPr lang="en-IN" altLang="en-US"/>
          </a:p>
          <a:p>
            <a:pPr lvl="1"/>
            <a:r>
              <a:rPr lang="en-IN" altLang="en-US"/>
              <a:t>between app server / cache</a:t>
            </a:r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2342</Words>
  <Application>WPS Presentation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High Level Design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avish</cp:lastModifiedBy>
  <cp:revision>6</cp:revision>
  <dcterms:created xsi:type="dcterms:W3CDTF">2020-04-19T11:41:00Z</dcterms:created>
  <dcterms:modified xsi:type="dcterms:W3CDTF">2020-04-25T10:49:22Z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1033-11.2.0.9281</vt:lpwstr>
  </property>
</Properties>
</file>