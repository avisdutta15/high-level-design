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System Design</a:t>
            </a:r>
            <a:br>
              <a:rPr lang="en-IN" altLang="en-US" b="1" dirty="0"/>
            </a:br>
            <a:r>
              <a:rPr lang="en-IN" altLang="en-US" b="1" dirty="0"/>
              <a:t>Chat App (WhatsApp)</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Contents</a:t>
            </a:r>
            <a:endParaRPr lang="en-IN" altLang="en-US" b="1"/>
          </a:p>
        </p:txBody>
      </p:sp>
      <p:sp>
        <p:nvSpPr>
          <p:cNvPr id="3" name="Content Placeholder 2"/>
          <p:cNvSpPr>
            <a:spLocks noGrp="1"/>
          </p:cNvSpPr>
          <p:nvPr>
            <p:ph idx="1"/>
          </p:nvPr>
        </p:nvSpPr>
        <p:spPr/>
        <p:txBody>
          <a:bodyPr>
            <a:normAutofit fontScale="60000"/>
          </a:bodyPr>
          <a:p>
            <a:pPr marL="0" indent="0">
              <a:buNone/>
            </a:pPr>
            <a:r>
              <a:rPr lang="en-US"/>
              <a:t>1. Requirement Gathering</a:t>
            </a:r>
            <a:endParaRPr lang="en-US"/>
          </a:p>
          <a:p>
            <a:pPr marL="0" indent="0">
              <a:buNone/>
            </a:pPr>
            <a:r>
              <a:rPr lang="en-US"/>
              <a:t>2. Capacity Estimation</a:t>
            </a:r>
            <a:endParaRPr lang="en-US"/>
          </a:p>
          <a:p>
            <a:pPr marL="0" indent="0">
              <a:buNone/>
            </a:pPr>
            <a:r>
              <a:rPr lang="en-US"/>
              <a:t>3. High-Level Design</a:t>
            </a:r>
            <a:endParaRPr lang="en-US"/>
          </a:p>
          <a:p>
            <a:pPr marL="0" indent="0">
              <a:buNone/>
            </a:pPr>
            <a:r>
              <a:rPr lang="en-US"/>
              <a:t>4. Database Design</a:t>
            </a:r>
            <a:endParaRPr lang="en-US"/>
          </a:p>
          <a:p>
            <a:pPr marL="0" indent="0">
              <a:buNone/>
            </a:pPr>
            <a:r>
              <a:rPr lang="en-US"/>
              <a:t>5. Deep Dive into Key Components</a:t>
            </a:r>
            <a:endParaRPr lang="en-US"/>
          </a:p>
          <a:p>
            <a:pPr marL="0" indent="0">
              <a:buNone/>
            </a:pPr>
            <a:r>
              <a:rPr lang="en-IN" altLang="en-US"/>
              <a:t>	1. Real time 1:1 message Delivery.</a:t>
            </a:r>
            <a:endParaRPr lang="en-IN" altLang="en-US"/>
          </a:p>
          <a:p>
            <a:pPr marL="0" indent="0">
              <a:buNone/>
            </a:pPr>
            <a:r>
              <a:rPr lang="en-IN" altLang="en-US"/>
              <a:t>	2. Message sync across multiple devices.</a:t>
            </a:r>
            <a:endParaRPr lang="en-IN" altLang="en-US"/>
          </a:p>
          <a:p>
            <a:pPr marL="0" indent="0">
              <a:buNone/>
            </a:pPr>
            <a:r>
              <a:rPr lang="en-IN" altLang="en-US"/>
              <a:t>	3. Message_Id generation.</a:t>
            </a:r>
            <a:endParaRPr lang="en-IN" altLang="en-US"/>
          </a:p>
          <a:p>
            <a:pPr marL="0" indent="0">
              <a:buNone/>
            </a:pPr>
            <a:r>
              <a:rPr lang="en-IN" altLang="en-US"/>
              <a:t>	4. Message Delivery Indicators.</a:t>
            </a:r>
            <a:endParaRPr lang="en-IN" altLang="en-US"/>
          </a:p>
          <a:p>
            <a:pPr marL="0" indent="0">
              <a:buNone/>
            </a:pPr>
            <a:r>
              <a:rPr lang="en-IN" altLang="en-US"/>
              <a:t>	5. Group Messages. </a:t>
            </a:r>
            <a:endParaRPr lang="en-US"/>
          </a:p>
          <a:p>
            <a:pPr marL="0" indent="0">
              <a:buNone/>
            </a:pPr>
            <a:r>
              <a:rPr lang="en-US"/>
              <a:t>6. Address Key Issues and Bottlenecks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1. Requirement Gathering</a:t>
            </a:r>
            <a:endParaRPr lang="en-IN" altLang="en-US" b="1"/>
          </a:p>
        </p:txBody>
      </p:sp>
      <p:sp>
        <p:nvSpPr>
          <p:cNvPr id="3" name="Content Placeholder 2"/>
          <p:cNvSpPr>
            <a:spLocks noGrp="1"/>
          </p:cNvSpPr>
          <p:nvPr>
            <p:ph idx="1"/>
          </p:nvPr>
        </p:nvSpPr>
        <p:spPr/>
        <p:txBody>
          <a:bodyPr>
            <a:normAutofit lnSpcReduction="10000"/>
          </a:bodyPr>
          <a:p>
            <a:pPr marL="0" indent="0">
              <a:buNone/>
            </a:pPr>
            <a:r>
              <a:rPr lang="en-IN" altLang="en-US"/>
              <a:t>Functional Requirements</a:t>
            </a:r>
            <a:endParaRPr lang="en-IN" altLang="en-US"/>
          </a:p>
          <a:p>
            <a:pPr marL="0" indent="0">
              <a:buNone/>
            </a:pPr>
            <a:endParaRPr lang="en-IN" altLang="en-US"/>
          </a:p>
          <a:p>
            <a:pPr lvl="1"/>
            <a:r>
              <a:rPr lang="en-IN" altLang="en-US"/>
              <a:t>1:1 real-time messaging</a:t>
            </a:r>
            <a:endParaRPr lang="en-IN" altLang="en-US"/>
          </a:p>
          <a:p>
            <a:pPr lvl="1"/>
            <a:r>
              <a:rPr lang="en-IN" altLang="en-US"/>
              <a:t>online/offline status</a:t>
            </a:r>
            <a:endParaRPr lang="en-IN" altLang="en-US"/>
          </a:p>
          <a:p>
            <a:pPr lvl="1"/>
            <a:r>
              <a:rPr lang="en-IN" altLang="en-US"/>
              <a:t>last seen time</a:t>
            </a:r>
            <a:endParaRPr lang="en-IN" altLang="en-US"/>
          </a:p>
          <a:p>
            <a:pPr lvl="1"/>
            <a:r>
              <a:rPr lang="en-IN" altLang="en-US"/>
              <a:t>message delivery status (sent, delivered, read)</a:t>
            </a:r>
            <a:endParaRPr lang="en-IN" altLang="en-US"/>
          </a:p>
          <a:p>
            <a:pPr lvl="1"/>
            <a:r>
              <a:rPr lang="en-IN" altLang="en-US"/>
              <a:t>share images, videos, and audio clips.</a:t>
            </a:r>
            <a:endParaRPr lang="en-IN" altLang="en-US"/>
          </a:p>
          <a:p>
            <a:pPr lvl="1"/>
            <a:r>
              <a:rPr lang="en-IN" altLang="en-US"/>
              <a:t>group conversations with up to 100 members.</a:t>
            </a:r>
            <a:endParaRPr lang="en-IN" altLang="en-US"/>
          </a:p>
          <a:p>
            <a:pPr lvl="1"/>
            <a:r>
              <a:rPr lang="en-IN" altLang="en-US"/>
              <a:t>Push notifications for new messages if the receiver is offline.</a:t>
            </a:r>
            <a:endParaRPr lang="en-IN" altLang="en-US"/>
          </a:p>
          <a:p>
            <a:pPr lvl="1"/>
            <a:r>
              <a:rPr lang="en-IN" altLang="en-US"/>
              <a:t>Store and retrieve chat history for each user.</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a:bodyPr>
          <a:p>
            <a:pPr marL="0" indent="0">
              <a:buNone/>
            </a:pPr>
            <a:r>
              <a:rPr lang="en-US"/>
              <a:t>Non-Functional Requirements</a:t>
            </a:r>
            <a:r>
              <a:rPr lang="en-IN" altLang="en-US"/>
              <a:t>:</a:t>
            </a:r>
            <a:endParaRPr lang="en-IN" altLang="en-US"/>
          </a:p>
          <a:p>
            <a:pPr lvl="1"/>
            <a:r>
              <a:rPr lang="en-IN" altLang="en-US" b="1"/>
              <a:t>Scalability</a:t>
            </a:r>
            <a:r>
              <a:rPr lang="en-IN" altLang="en-US"/>
              <a:t>: Handle millions of concurrent users.</a:t>
            </a:r>
            <a:endParaRPr lang="en-IN" altLang="en-US"/>
          </a:p>
          <a:p>
            <a:pPr lvl="1"/>
            <a:r>
              <a:rPr lang="en-IN" altLang="en-US" b="1"/>
              <a:t>High Availability</a:t>
            </a:r>
            <a:r>
              <a:rPr lang="en-IN" altLang="en-US"/>
              <a:t>: Ensure minimal downtime and resilience to server failures.</a:t>
            </a:r>
            <a:endParaRPr lang="en-IN" altLang="en-US"/>
          </a:p>
          <a:p>
            <a:pPr lvl="1"/>
            <a:r>
              <a:rPr lang="en-IN" altLang="en-US" b="1"/>
              <a:t>Low Latency</a:t>
            </a:r>
            <a:r>
              <a:rPr lang="en-IN" altLang="en-US"/>
              <a:t>: Deliver messages in real-time with minimal delay.</a:t>
            </a:r>
            <a:endParaRPr lang="en-IN" altLang="en-US"/>
          </a:p>
          <a:p>
            <a:pPr lvl="1"/>
            <a:r>
              <a:rPr lang="en-IN" altLang="en-US" b="1"/>
              <a:t>Reliability</a:t>
            </a:r>
            <a:r>
              <a:rPr lang="en-IN" altLang="en-US"/>
              <a:t>: Ensure messages are not lost.</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2. Capacity Estimation</a:t>
            </a:r>
            <a:endParaRPr lang="en-US" b="1"/>
          </a:p>
        </p:txBody>
      </p:sp>
      <p:sp>
        <p:nvSpPr>
          <p:cNvPr id="3" name="Content Placeholder 2"/>
          <p:cNvSpPr>
            <a:spLocks noGrp="1"/>
          </p:cNvSpPr>
          <p:nvPr>
            <p:ph idx="1"/>
          </p:nvPr>
        </p:nvSpPr>
        <p:spPr/>
        <p:txBody>
          <a:bodyPr/>
          <a:p>
            <a:r>
              <a:rPr lang="en-US" sz="2000"/>
              <a:t>Total Users: </a:t>
            </a:r>
            <a:r>
              <a:rPr lang="en-IN" altLang="en-US" sz="2000"/>
              <a:t>					     1 billion registered users.</a:t>
            </a:r>
            <a:endParaRPr lang="en-IN" altLang="en-US" sz="2000"/>
          </a:p>
          <a:p>
            <a:r>
              <a:rPr lang="en-US" sz="2000"/>
              <a:t>Daily Active Users (DAU):</a:t>
            </a:r>
            <a:r>
              <a:rPr lang="en-IN" altLang="en-US" sz="2000"/>
              <a:t>			500 million</a:t>
            </a:r>
            <a:endParaRPr lang="en-IN" altLang="en-US" sz="2000"/>
          </a:p>
          <a:p>
            <a:r>
              <a:rPr lang="en-US" sz="2000"/>
              <a:t>Peak Concurrent Connections:</a:t>
            </a:r>
            <a:r>
              <a:rPr lang="en-IN" altLang="en-US" sz="2000"/>
              <a:t>		  	  50 million</a:t>
            </a:r>
            <a:endParaRPr lang="en-IN" altLang="en-US" sz="2000"/>
          </a:p>
          <a:p>
            <a:endParaRPr lang="en-IN" altLang="en-US" sz="2000"/>
          </a:p>
          <a:p>
            <a:pPr marL="0" indent="0">
              <a:buNone/>
            </a:pPr>
            <a:r>
              <a:rPr lang="en-IN" altLang="en-US" sz="2000"/>
              <a:t>Avg number of messages sent by 1 user = 10.</a:t>
            </a:r>
            <a:endParaRPr lang="en-IN" altLang="en-US" sz="2000"/>
          </a:p>
          <a:p>
            <a:pPr marL="0" indent="0">
              <a:buNone/>
            </a:pPr>
            <a:r>
              <a:rPr lang="en-IN" altLang="en-US" sz="2000"/>
              <a:t>Total messages sent in a day = 500 million * 10 </a:t>
            </a:r>
            <a:endParaRPr lang="en-IN" altLang="en-US" sz="2000"/>
          </a:p>
          <a:p>
            <a:pPr marL="0" indent="0">
              <a:buNone/>
            </a:pPr>
            <a:r>
              <a:rPr lang="en-IN" altLang="en-US" sz="2000"/>
              <a:t>			    = 5*10^2*10^6 * 10 </a:t>
            </a:r>
            <a:endParaRPr lang="en-IN" altLang="en-US" sz="2000"/>
          </a:p>
          <a:p>
            <a:pPr marL="0" indent="0">
              <a:buNone/>
            </a:pPr>
            <a:r>
              <a:rPr lang="en-IN" altLang="en-US" sz="2000"/>
              <a:t>			    =  5 * 10^9</a:t>
            </a:r>
            <a:endParaRPr lang="en-IN" altLang="en-US" sz="2000"/>
          </a:p>
          <a:p>
            <a:pPr marL="0" indent="0">
              <a:buNone/>
            </a:pPr>
            <a:r>
              <a:rPr lang="en-IN" altLang="en-US" sz="2000"/>
              <a:t> 			    =  5 billion messages per day</a:t>
            </a:r>
            <a:endParaRPr lang="en-I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75005"/>
            <a:ext cx="10515600" cy="5502275"/>
          </a:xfrm>
        </p:spPr>
        <p:txBody>
          <a:bodyPr/>
          <a:p>
            <a:r>
              <a:rPr lang="en-IN" altLang="en-US" b="1"/>
              <a:t>Storage Capacity Estimation:</a:t>
            </a:r>
            <a:endParaRPr lang="en-IN" altLang="en-US"/>
          </a:p>
          <a:p>
            <a:pPr lvl="1"/>
            <a:r>
              <a:rPr lang="en-IN" altLang="en-US"/>
              <a:t>Assuming each message size to be 1kB</a:t>
            </a:r>
            <a:endParaRPr lang="en-IN" altLang="en-US"/>
          </a:p>
          <a:p>
            <a:pPr marL="457200" lvl="1" indent="0">
              <a:buNone/>
            </a:pPr>
            <a:r>
              <a:rPr lang="en-IN" altLang="en-US"/>
              <a:t>5 billion message size = 5*10^9 * 1kB</a:t>
            </a:r>
            <a:endParaRPr lang="en-IN" altLang="en-US"/>
          </a:p>
          <a:p>
            <a:pPr marL="457200" lvl="1" indent="0">
              <a:buNone/>
            </a:pPr>
            <a:r>
              <a:rPr lang="en-IN" altLang="en-US"/>
              <a:t>			      = 5 * 1000 * 1000 * 1000 * 1kB</a:t>
            </a:r>
            <a:endParaRPr lang="en-IN" altLang="en-US"/>
          </a:p>
          <a:p>
            <a:pPr marL="457200" lvl="1" indent="0">
              <a:buNone/>
            </a:pPr>
            <a:r>
              <a:rPr lang="en-IN" altLang="en-US"/>
              <a:t>			      = 5 * 1000 * 1000 mB</a:t>
            </a:r>
            <a:endParaRPr lang="en-IN" altLang="en-US"/>
          </a:p>
          <a:p>
            <a:pPr marL="457200" lvl="1" indent="0">
              <a:buNone/>
            </a:pPr>
            <a:r>
              <a:rPr lang="en-IN" altLang="en-US"/>
              <a:t>			      = 5 * 1000 gB</a:t>
            </a:r>
            <a:endParaRPr lang="en-IN" altLang="en-US"/>
          </a:p>
          <a:p>
            <a:pPr marL="457200" lvl="1" indent="0">
              <a:buNone/>
            </a:pPr>
            <a:r>
              <a:rPr lang="en-IN" altLang="en-US"/>
              <a:t>			      = 5 tB (approx)</a:t>
            </a:r>
            <a:endParaRPr lang="en-IN" altLang="en-US"/>
          </a:p>
          <a:p>
            <a:pPr marL="457200" lvl="1" indent="0">
              <a:buNone/>
            </a:pPr>
            <a:endParaRPr lang="en-IN" altLang="en-US"/>
          </a:p>
          <a:p>
            <a:pPr marL="457200" lvl="1" indent="0">
              <a:buNone/>
            </a:pPr>
            <a:r>
              <a:rPr lang="en-IN" altLang="en-US"/>
              <a:t>Daily storage size     = 5 tB</a:t>
            </a:r>
            <a:endParaRPr lang="en-IN" altLang="en-US"/>
          </a:p>
          <a:p>
            <a:pPr marL="457200" lvl="1" indent="0">
              <a:buNone/>
            </a:pPr>
            <a:r>
              <a:rPr lang="en-IN" altLang="en-US"/>
              <a:t>Annaul storage size  = 365 * 5 tB</a:t>
            </a:r>
            <a:endParaRPr lang="en-IN" altLang="en-US"/>
          </a:p>
          <a:p>
            <a:pPr marL="457200" lvl="1" indent="0">
              <a:buNone/>
            </a:pPr>
            <a:r>
              <a:rPr lang="en-IN" altLang="en-US"/>
              <a:t>			   =  1725 tB</a:t>
            </a:r>
            <a:endParaRPr lang="en-IN" altLang="en-US"/>
          </a:p>
          <a:p>
            <a:pPr marL="457200" lvl="1" indent="0">
              <a:buNone/>
            </a:pPr>
            <a:r>
              <a:rPr lang="en-IN" altLang="en-US"/>
              <a:t>			   =  1.7 * 1000 tB</a:t>
            </a:r>
            <a:endParaRPr lang="en-IN" altLang="en-US"/>
          </a:p>
          <a:p>
            <a:pPr marL="457200" lvl="1" indent="0">
              <a:buNone/>
            </a:pPr>
            <a:r>
              <a:rPr lang="en-IN" altLang="en-US"/>
              <a:t>			   =  1.7 pB (petaByte) approx.</a:t>
            </a:r>
            <a:endParaRPr lang="en-I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95020"/>
            <a:ext cx="10515600" cy="5382260"/>
          </a:xfrm>
        </p:spPr>
        <p:txBody>
          <a:bodyPr/>
          <a:p>
            <a:r>
              <a:rPr lang="en-US" b="1"/>
              <a:t>Bandwidth Estimation (for Real-Time Communication):</a:t>
            </a:r>
            <a:endParaRPr lang="en-US" b="1"/>
          </a:p>
          <a:p>
            <a:pPr marL="0" indent="0">
              <a:buNone/>
            </a:pPr>
            <a:endParaRPr lang="en-US" sz="2000"/>
          </a:p>
          <a:p>
            <a:pPr marL="0" indent="0">
              <a:buNone/>
            </a:pPr>
            <a:r>
              <a:rPr lang="en-US" sz="2000"/>
              <a:t>With 10 million users connected concurrently during peak times.</a:t>
            </a:r>
            <a:endParaRPr lang="en-US" sz="2000"/>
          </a:p>
          <a:p>
            <a:pPr marL="0" indent="0">
              <a:buNone/>
            </a:pPr>
            <a:r>
              <a:rPr lang="en-US" sz="2000"/>
              <a:t>Average Bandwidth per Connection: Assuming an average of 10 KB/s per connection, we would need a total of 100 GB/s of bandwidth to support real-time messaging at peak usage.</a:t>
            </a:r>
            <a:endParaRPr lang="en-IN"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3. High Level Design</a:t>
            </a:r>
            <a:endParaRPr lang="en-IN" altLang="en-US" b="1"/>
          </a:p>
        </p:txBody>
      </p:sp>
      <p:graphicFrame>
        <p:nvGraphicFramePr>
          <p:cNvPr id="5" name="Content Placeholder 4"/>
          <p:cNvGraphicFramePr>
            <a:graphicFrameLocks noChangeAspect="1"/>
          </p:cNvGraphicFramePr>
          <p:nvPr>
            <p:ph idx="1"/>
          </p:nvPr>
        </p:nvGraphicFramePr>
        <p:xfrm>
          <a:off x="2541905" y="1548765"/>
          <a:ext cx="7108825" cy="5236845"/>
        </p:xfrm>
        <a:graphic>
          <a:graphicData uri="http://schemas.openxmlformats.org/presentationml/2006/ole">
            <mc:AlternateContent xmlns:mc="http://schemas.openxmlformats.org/markup-compatibility/2006">
              <mc:Choice xmlns:v="urn:schemas-microsoft-com:vml" Requires="v">
                <p:oleObj spid="_x0000_s6" name="" r:id="rId1" imgW="9763125" imgH="7191375" progId="Paint.Picture">
                  <p:embed/>
                </p:oleObj>
              </mc:Choice>
              <mc:Fallback>
                <p:oleObj name="" r:id="rId1" imgW="9763125" imgH="7191375" progId="Paint.Picture">
                  <p:embed/>
                  <p:pic>
                    <p:nvPicPr>
                      <p:cNvPr id="0" name="Picture 5"/>
                      <p:cNvPicPr/>
                      <p:nvPr/>
                    </p:nvPicPr>
                    <p:blipFill>
                      <a:blip r:embed="rId2"/>
                      <a:stretch>
                        <a:fillRect/>
                      </a:stretch>
                    </p:blipFill>
                    <p:spPr>
                      <a:xfrm>
                        <a:off x="2541905" y="1548765"/>
                        <a:ext cx="7108825" cy="5236845"/>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44830"/>
            <a:ext cx="10515600" cy="5632450"/>
          </a:xfrm>
        </p:spPr>
        <p:txBody>
          <a:bodyPr>
            <a:normAutofit fontScale="80000"/>
          </a:bodyPr>
          <a:p>
            <a:pPr marL="0" indent="0">
              <a:buNone/>
            </a:pPr>
            <a:r>
              <a:rPr lang="en-IN" altLang="en-US" sz="1800" b="1"/>
              <a:t>1. </a:t>
            </a:r>
            <a:r>
              <a:rPr lang="en-US" sz="1800" b="1"/>
              <a:t>Chat Servers</a:t>
            </a:r>
            <a:endParaRPr lang="en-US" sz="1800"/>
          </a:p>
          <a:p>
            <a:pPr marL="0" indent="0">
              <a:buNone/>
            </a:pPr>
            <a:r>
              <a:rPr lang="en-US" sz="1800"/>
              <a:t>The Chat Servers manage a large number of concurrent connections, facilitate real-time communication, and ensure that messages are delivered efficiently between users with minimal latency.</a:t>
            </a:r>
            <a:endParaRPr lang="en-US" sz="1800"/>
          </a:p>
          <a:p>
            <a:pPr marL="0" indent="0">
              <a:buNone/>
            </a:pPr>
            <a:r>
              <a:rPr lang="en-US" sz="1800"/>
              <a:t>To support seamless two-way messaging, a protocol like WebSockets—designed for native bidirectional communication between clients and servers—is ideal. (We'll delve into this in more detail later.)</a:t>
            </a:r>
            <a:endParaRPr lang="en-US" sz="1800"/>
          </a:p>
          <a:p>
            <a:pPr marL="0" indent="0">
              <a:buNone/>
            </a:pPr>
            <a:r>
              <a:rPr lang="en-IN" altLang="en-US" sz="1800" b="1"/>
              <a:t>2. API Servers</a:t>
            </a:r>
            <a:endParaRPr lang="en-IN" altLang="en-US" sz="1800" b="1"/>
          </a:p>
          <a:p>
            <a:pPr marL="0" indent="0">
              <a:buNone/>
            </a:pPr>
            <a:r>
              <a:rPr lang="en-US" sz="1800"/>
              <a:t>API servers handle everything including user login, signup, change profile, etc. </a:t>
            </a:r>
            <a:r>
              <a:rPr lang="en-IN" altLang="en-US" sz="1800"/>
              <a:t>They use a SQL db named Profile Db.</a:t>
            </a:r>
            <a:endParaRPr lang="en-IN" altLang="en-US" sz="1800" b="1"/>
          </a:p>
          <a:p>
            <a:pPr marL="0" indent="0">
              <a:buNone/>
            </a:pPr>
            <a:endParaRPr lang="en-IN" altLang="en-US" sz="1800" b="1"/>
          </a:p>
          <a:p>
            <a:pPr marL="0" indent="0">
              <a:buNone/>
            </a:pPr>
            <a:r>
              <a:rPr lang="en-IN" altLang="en-US" sz="1800" b="1"/>
              <a:t>3. </a:t>
            </a:r>
            <a:r>
              <a:rPr lang="en-US" sz="1800" b="1"/>
              <a:t>Load Balancer</a:t>
            </a:r>
            <a:endParaRPr lang="en-US" sz="1800"/>
          </a:p>
          <a:p>
            <a:pPr marL="0" indent="0">
              <a:buNone/>
            </a:pPr>
            <a:r>
              <a:rPr lang="en-US" sz="1800"/>
              <a:t>The load balancer efficiently distributes incoming traffic from users across multiple instances of chat servers and user-facing services, such as the media service.</a:t>
            </a:r>
            <a:endParaRPr lang="en-US" sz="1800"/>
          </a:p>
          <a:p>
            <a:pPr marL="0" indent="0">
              <a:buNone/>
            </a:pPr>
            <a:r>
              <a:rPr lang="en-US" sz="1800"/>
              <a:t>Here’s how the connection is established between the user and chat servers via the load balancer:</a:t>
            </a:r>
            <a:endParaRPr lang="en-US" sz="1800"/>
          </a:p>
          <a:p>
            <a:pPr marL="457200" lvl="1" indent="0">
              <a:buNone/>
            </a:pPr>
            <a:r>
              <a:rPr lang="en-US" sz="1540" b="1"/>
              <a:t>Initial Connection: </a:t>
            </a:r>
            <a:r>
              <a:rPr lang="en-US" sz="1540"/>
              <a:t>The client initiates an HTTP(S) request to set up a WebSocket connection. This request passes through the load balancer, which routes it to an appropriate chat server based on factors like user’s location and the load-balancing algorithm in use (e.g., round-robin, least connections).</a:t>
            </a:r>
            <a:endParaRPr lang="en-US" sz="1540"/>
          </a:p>
          <a:p>
            <a:pPr marL="457200" lvl="1" indent="0">
              <a:buNone/>
            </a:pPr>
            <a:endParaRPr lang="en-US" sz="1540"/>
          </a:p>
          <a:p>
            <a:pPr marL="457200" lvl="1" indent="0">
              <a:buNone/>
            </a:pPr>
            <a:r>
              <a:rPr lang="en-US" sz="1540" b="1"/>
              <a:t>Connection Upgrade:</a:t>
            </a:r>
            <a:r>
              <a:rPr lang="en-US" sz="1540"/>
              <a:t> Once the request reaches the selected server, the connection is upgraded from HTTP to WebSocket, establishing a persistent, bidirectional WebSocket link between the client and the selected chat server via the load balancer.</a:t>
            </a:r>
            <a:endParaRPr lang="en-US" sz="1540"/>
          </a:p>
          <a:p>
            <a:pPr marL="457200" lvl="1" indent="0">
              <a:buNone/>
            </a:pPr>
            <a:endParaRPr lang="en-US" sz="1540"/>
          </a:p>
          <a:p>
            <a:pPr marL="457200" lvl="1" indent="0">
              <a:buNone/>
            </a:pPr>
            <a:r>
              <a:rPr lang="en-US" sz="1540" b="1"/>
              <a:t>Session Persistence:</a:t>
            </a:r>
            <a:r>
              <a:rPr lang="en-US" sz="1540"/>
              <a:t> To ensure that the client remains connected to the same chat server, load balancer uses sticky sessions. This can be achieved through IP hashing, where the load balancer consistently routes the user to the same server based on the hash of their IP address.</a:t>
            </a:r>
            <a:endParaRPr lang="en-US" sz="1540"/>
          </a:p>
          <a:p>
            <a:pPr marL="0" indent="0">
              <a:buNone/>
            </a:pPr>
            <a:r>
              <a:rPr lang="en-US" sz="1800"/>
              <a:t>WebSocket connections generally work even if a firewall is in place. This is because they use port 80 or 443 which are also used by HTTP/HTTPS connections.</a:t>
            </a:r>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44830"/>
            <a:ext cx="10515600" cy="5632450"/>
          </a:xfrm>
        </p:spPr>
        <p:txBody>
          <a:bodyPr>
            <a:normAutofit/>
          </a:bodyPr>
          <a:p>
            <a:pPr algn="just"/>
            <a:r>
              <a:rPr lang="en-US" sz="2000"/>
              <a:t>Just now we mentioned that WebSocket was chosen as the main communication protocol between the client and server for its bidirectional communication, it is important to note that everything else does not have to be WebSocket. In fact, most features (sign up, login, user profile, etc) of a chat application could use the traditional request/response method over HTTP. Let us drill in a bit and look at the high-level components of the system.</a:t>
            </a:r>
            <a:endParaRPr lang="en-US" sz="2000"/>
          </a:p>
          <a:p>
            <a:pPr algn="just"/>
            <a:endParaRPr lang="en-US" sz="2000"/>
          </a:p>
          <a:p>
            <a:pPr algn="just"/>
            <a:r>
              <a:rPr lang="en-US" sz="2000"/>
              <a:t>As shown in Figure 7, the chat system is broken down into three major categories: </a:t>
            </a:r>
            <a:endParaRPr lang="en-US" sz="2000"/>
          </a:p>
          <a:p>
            <a:pPr lvl="1" algn="just"/>
            <a:r>
              <a:rPr lang="en-US" sz="1710"/>
              <a:t>stateless services, </a:t>
            </a:r>
            <a:endParaRPr lang="en-US" sz="1710"/>
          </a:p>
          <a:p>
            <a:pPr lvl="1" algn="just"/>
            <a:r>
              <a:rPr lang="en-US" sz="1710"/>
              <a:t>stateful services, </a:t>
            </a:r>
            <a:endParaRPr lang="en-US" sz="1710"/>
          </a:p>
          <a:p>
            <a:pPr lvl="1" algn="just"/>
            <a:r>
              <a:rPr lang="en-US" sz="1710"/>
              <a:t>third-party integration.</a:t>
            </a:r>
            <a:endParaRPr lang="en-US" sz="2000"/>
          </a:p>
          <a:p>
            <a:pPr algn="just"/>
            <a:endParaRPr lang="en-US" sz="2000"/>
          </a:p>
          <a:p>
            <a:pPr algn="just"/>
            <a:r>
              <a:rPr lang="en-US" sz="2000" b="1"/>
              <a:t>Stateless services</a:t>
            </a:r>
            <a:r>
              <a:rPr lang="en-US" sz="2000"/>
              <a:t> are traditional public-facing request/response </a:t>
            </a:r>
            <a:endParaRPr lang="en-US" sz="2000"/>
          </a:p>
          <a:p>
            <a:pPr marL="0" indent="0" algn="just">
              <a:buNone/>
            </a:pPr>
            <a:r>
              <a:rPr lang="en-US" sz="2000"/>
              <a:t>services, used to manage the login, signup, user profile, etc. </a:t>
            </a:r>
            <a:endParaRPr lang="en-US" sz="2000"/>
          </a:p>
          <a:p>
            <a:pPr marL="0" indent="0" algn="just">
              <a:buNone/>
            </a:pPr>
            <a:r>
              <a:rPr lang="en-US" sz="2000"/>
              <a:t>These are common features among many websites and apps.</a:t>
            </a:r>
            <a:endParaRPr lang="en-US" sz="2000"/>
          </a:p>
          <a:p>
            <a:pPr algn="just"/>
            <a:r>
              <a:rPr lang="en-US" sz="2000" b="1"/>
              <a:t>Stateful Service</a:t>
            </a:r>
            <a:r>
              <a:rPr lang="en-US" sz="2000"/>
              <a:t> - The only stateful service is the chat service.</a:t>
            </a:r>
            <a:endParaRPr lang="en-US" sz="2000"/>
          </a:p>
        </p:txBody>
      </p:sp>
      <p:pic>
        <p:nvPicPr>
          <p:cNvPr id="4" name="Picture 3"/>
          <p:cNvPicPr>
            <a:picLocks noChangeAspect="1"/>
          </p:cNvPicPr>
          <p:nvPr/>
        </p:nvPicPr>
        <p:blipFill>
          <a:blip r:embed="rId1"/>
          <a:stretch>
            <a:fillRect/>
          </a:stretch>
        </p:blipFill>
        <p:spPr>
          <a:xfrm>
            <a:off x="8470265" y="2895600"/>
            <a:ext cx="2883535" cy="37312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9120"/>
            <a:ext cx="10515600" cy="5598160"/>
          </a:xfrm>
        </p:spPr>
        <p:txBody>
          <a:bodyPr>
            <a:normAutofit fontScale="90000" lnSpcReduction="20000"/>
          </a:bodyPr>
          <a:p>
            <a:pPr marL="0" indent="0">
              <a:buNone/>
            </a:pPr>
            <a:r>
              <a:rPr lang="en-IN" altLang="en-US" sz="1800" b="1"/>
              <a:t>3</a:t>
            </a:r>
            <a:r>
              <a:rPr lang="en-US" sz="1800" b="1"/>
              <a:t>. 1. Alternative with Service Discovery</a:t>
            </a:r>
            <a:endParaRPr lang="en-US" sz="1800"/>
          </a:p>
          <a:p>
            <a:r>
              <a:rPr lang="en-US" sz="1800"/>
              <a:t>An alternative approach is to use service discovery, which enables users to connect directly to chat servers.</a:t>
            </a:r>
            <a:endParaRPr lang="en-US" sz="1800"/>
          </a:p>
          <a:p>
            <a:r>
              <a:rPr lang="en-US" sz="1800"/>
              <a:t>In this case, users first connect to the service discovery layer to identify the chat server they should connect to and then establish a WebSocket connection directly with that server.</a:t>
            </a:r>
            <a:endParaRPr lang="en-US" sz="1800"/>
          </a:p>
          <a:p>
            <a:endParaRPr lang="en-US" sz="1800"/>
          </a:p>
          <a:p>
            <a:endParaRPr lang="en-US" sz="1800"/>
          </a:p>
          <a:p>
            <a:pPr marL="0" indent="0">
              <a:buNone/>
            </a:pPr>
            <a:r>
              <a:rPr lang="en-IN" altLang="en-US" sz="1800" b="1"/>
              <a:t>4</a:t>
            </a:r>
            <a:r>
              <a:rPr lang="en-US" sz="1800" b="1"/>
              <a:t>. </a:t>
            </a:r>
            <a:r>
              <a:rPr lang="en-US" sz="1800" b="1">
                <a:sym typeface="+mn-ea"/>
              </a:rPr>
              <a:t>Presence </a:t>
            </a:r>
            <a:r>
              <a:rPr lang="en-IN" altLang="en-US" sz="1800" b="1"/>
              <a:t>Servers &amp; </a:t>
            </a:r>
            <a:r>
              <a:rPr lang="en-US" sz="1800" b="1"/>
              <a:t>User Connection Cache</a:t>
            </a:r>
            <a:endParaRPr lang="en-US" sz="1800"/>
          </a:p>
          <a:p>
            <a:pPr marL="0" indent="0">
              <a:buNone/>
            </a:pPr>
            <a:r>
              <a:rPr lang="en-US" sz="1800"/>
              <a:t>Presence servers manage online/offline status. </a:t>
            </a:r>
            <a:r>
              <a:rPr lang="en-IN" altLang="en-US" sz="1800"/>
              <a:t>They use</a:t>
            </a:r>
            <a:r>
              <a:rPr lang="en-US" sz="1800"/>
              <a:t> User Connection Cache</a:t>
            </a:r>
            <a:r>
              <a:rPr lang="en-IN" altLang="en-US" sz="1800"/>
              <a:t>. It</a:t>
            </a:r>
            <a:r>
              <a:rPr lang="en-US" sz="1800"/>
              <a:t> is a fast, in-memory cache (e.g., Redis) that stores each user's active connection details, such as the chat server they’re connected to and their </a:t>
            </a:r>
            <a:r>
              <a:rPr lang="en-US" sz="1800" b="1" i="1"/>
              <a:t>last_active</a:t>
            </a:r>
            <a:r>
              <a:rPr lang="en-US" sz="1800"/>
              <a:t> timestamp.</a:t>
            </a:r>
            <a:endParaRPr lang="en-US" sz="1800"/>
          </a:p>
          <a:p>
            <a:pPr marL="0" indent="0">
              <a:buNone/>
            </a:pPr>
            <a:r>
              <a:rPr lang="en-US" sz="1800"/>
              <a:t>Clients periodically send heartbeat signals to their connected server, </a:t>
            </a:r>
            <a:endParaRPr lang="en-US" sz="1800"/>
          </a:p>
          <a:p>
            <a:pPr marL="0" indent="0">
              <a:buNone/>
            </a:pPr>
            <a:r>
              <a:rPr lang="en-US" sz="1800"/>
              <a:t>and each heartbeat updates the user’s last_active timestamp in the </a:t>
            </a:r>
            <a:endParaRPr lang="en-US" sz="1800"/>
          </a:p>
          <a:p>
            <a:pPr marL="0" indent="0">
              <a:buNone/>
            </a:pPr>
            <a:r>
              <a:rPr lang="en-US" sz="1800"/>
              <a:t>cache.</a:t>
            </a:r>
            <a:endParaRPr lang="en-US" sz="1800"/>
          </a:p>
          <a:p>
            <a:pPr marL="0" indent="0">
              <a:buNone/>
            </a:pPr>
            <a:endParaRPr lang="en-US" sz="1800"/>
          </a:p>
          <a:p>
            <a:pPr marL="0" indent="0">
              <a:buNone/>
            </a:pPr>
            <a:r>
              <a:rPr lang="en-US" sz="1800"/>
              <a:t>This setup enables efficient support for online/offline status and last </a:t>
            </a:r>
            <a:endParaRPr lang="en-US" sz="1800"/>
          </a:p>
          <a:p>
            <a:pPr marL="0" indent="0">
              <a:buNone/>
            </a:pPr>
            <a:r>
              <a:rPr lang="en-US" sz="1800"/>
              <a:t>seen functionality.</a:t>
            </a:r>
            <a:endParaRPr lang="en-US" sz="1800"/>
          </a:p>
          <a:p>
            <a:pPr marL="0" indent="0">
              <a:buNone/>
            </a:pPr>
            <a:endParaRPr lang="en-US" sz="1800"/>
          </a:p>
          <a:p>
            <a:pPr marL="0" indent="0">
              <a:buNone/>
            </a:pPr>
            <a:r>
              <a:rPr lang="en-US" sz="1800"/>
              <a:t>If the difference between the current time and the last_active timestamp is </a:t>
            </a:r>
            <a:endParaRPr lang="en-US" sz="1800"/>
          </a:p>
          <a:p>
            <a:pPr marL="0" indent="0">
              <a:buNone/>
            </a:pPr>
            <a:r>
              <a:rPr lang="en-US" sz="1800"/>
              <a:t>within a defined threshold (e.g., 3 seconds), the user is shown as online; </a:t>
            </a:r>
            <a:endParaRPr lang="en-US" sz="1800"/>
          </a:p>
          <a:p>
            <a:pPr marL="0" indent="0">
              <a:buNone/>
            </a:pPr>
            <a:r>
              <a:rPr lang="en-US" sz="1800"/>
              <a:t>otherwise, they are marked as offline.</a:t>
            </a:r>
            <a:endParaRPr lang="en-US" sz="1800"/>
          </a:p>
        </p:txBody>
      </p:sp>
      <p:pic>
        <p:nvPicPr>
          <p:cNvPr id="4" name="Picture 3"/>
          <p:cNvPicPr>
            <a:picLocks noChangeAspect="1"/>
          </p:cNvPicPr>
          <p:nvPr/>
        </p:nvPicPr>
        <p:blipFill>
          <a:blip r:embed="rId1"/>
          <a:stretch>
            <a:fillRect/>
          </a:stretch>
        </p:blipFill>
        <p:spPr>
          <a:xfrm>
            <a:off x="7667625" y="3654425"/>
            <a:ext cx="4077335" cy="1986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01015"/>
            <a:ext cx="10515600" cy="5676265"/>
          </a:xfrm>
        </p:spPr>
        <p:txBody>
          <a:bodyPr>
            <a:normAutofit/>
          </a:bodyPr>
          <a:p>
            <a:pPr marL="0" indent="0">
              <a:buNone/>
            </a:pPr>
            <a:r>
              <a:rPr lang="en-IN" altLang="en-US" sz="1800" b="1"/>
              <a:t>5. Notification Service</a:t>
            </a:r>
            <a:endParaRPr lang="en-IN" altLang="en-US" sz="1800" b="1"/>
          </a:p>
          <a:p>
            <a:r>
              <a:rPr lang="en-IN" altLang="en-US" sz="1800"/>
              <a:t>The Notification Service is responsible for delivering real-time notifications to users, especially when they are offline or not actively using the application.</a:t>
            </a:r>
            <a:endParaRPr lang="en-IN" altLang="en-US" sz="1800"/>
          </a:p>
          <a:p>
            <a:r>
              <a:rPr lang="en-IN" altLang="en-US" sz="1800"/>
              <a:t>When a user is offline, the chat server forwards the message to the Notification Service.</a:t>
            </a:r>
            <a:endParaRPr lang="en-IN" altLang="en-US" sz="1800"/>
          </a:p>
          <a:p>
            <a:r>
              <a:rPr lang="en-IN" altLang="en-US" sz="1800"/>
              <a:t>To enhance efficiency, the chat server can send this message to a message queue rather than directly interacting with the Notification Service and waiting for a response.</a:t>
            </a:r>
            <a:endParaRPr lang="en-IN" altLang="en-US" sz="1800"/>
          </a:p>
          <a:p>
            <a:r>
              <a:rPr lang="en-IN" altLang="en-US" sz="1800"/>
              <a:t>The Notification service integrates with external push notification providers like </a:t>
            </a:r>
            <a:r>
              <a:rPr lang="en-IN" altLang="en-US" sz="1800" b="1"/>
              <a:t>Firebase Cloud Messaging (FCM)</a:t>
            </a:r>
            <a:r>
              <a:rPr lang="en-IN" altLang="en-US" sz="1800"/>
              <a:t> and </a:t>
            </a:r>
            <a:r>
              <a:rPr lang="en-IN" altLang="en-US" sz="1800" b="1"/>
              <a:t>Apple Push Notification Service (APNS)</a:t>
            </a:r>
            <a:r>
              <a:rPr lang="en-IN" altLang="en-US" sz="1800"/>
              <a:t> to deliver messages as push notifications to offline users.</a:t>
            </a:r>
            <a:endParaRPr lang="en-IN" altLang="en-US" sz="1800"/>
          </a:p>
          <a:p>
            <a:endParaRPr lang="en-IN" altLang="en-US" sz="1800"/>
          </a:p>
          <a:p>
            <a:pPr marL="0" indent="0">
              <a:buNone/>
            </a:pPr>
            <a:r>
              <a:rPr lang="en-IN" altLang="en-US" sz="1800" b="1"/>
              <a:t>6. Message Queue</a:t>
            </a:r>
            <a:endParaRPr lang="en-IN" altLang="en-US" sz="1800"/>
          </a:p>
          <a:p>
            <a:r>
              <a:rPr lang="en-IN" altLang="en-US" sz="1800"/>
              <a:t>The Message Queue is a distributed, high-throughput queue (e.g., Kafka, RabbitMQ) that temporarily stores messages before they are consumed by the Message Storage Service.</a:t>
            </a:r>
            <a:endParaRPr lang="en-IN" altLang="en-US" sz="1800"/>
          </a:p>
          <a:p>
            <a:endParaRPr lang="en-IN" altLang="en-US" sz="1800"/>
          </a:p>
          <a:p>
            <a:r>
              <a:rPr lang="en-IN" altLang="en-US" sz="1800"/>
              <a:t>By acting as an intermediary, the Message Queue decouples message storage from real-time message handling on chat servers, reducing latency and enhancing the scalability of the application.</a:t>
            </a:r>
            <a:endParaRPr lang="en-IN"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9120"/>
            <a:ext cx="10515600" cy="5598160"/>
          </a:xfrm>
        </p:spPr>
        <p:txBody>
          <a:bodyPr>
            <a:normAutofit fontScale="70000"/>
          </a:bodyPr>
          <a:p>
            <a:pPr marL="0" indent="0">
              <a:buNone/>
            </a:pPr>
            <a:r>
              <a:rPr lang="en-IN" altLang="en-US" b="1"/>
              <a:t>7. </a:t>
            </a:r>
            <a:r>
              <a:rPr lang="en-US" b="1"/>
              <a:t>Message DB</a:t>
            </a:r>
            <a:endParaRPr lang="en-US"/>
          </a:p>
          <a:p>
            <a:r>
              <a:rPr lang="en-US"/>
              <a:t>The Message DB stores all chat messages in a reliable and efficient manner, ensuring users can access past messages.</a:t>
            </a:r>
            <a:endParaRPr lang="en-US"/>
          </a:p>
          <a:p>
            <a:r>
              <a:rPr lang="en-US"/>
              <a:t>This database is designed for </a:t>
            </a:r>
            <a:r>
              <a:rPr lang="en-US" b="1"/>
              <a:t>high-write throughput and efficient retrieval </a:t>
            </a:r>
            <a:r>
              <a:rPr lang="en-US"/>
              <a:t>(e.g., </a:t>
            </a:r>
            <a:r>
              <a:rPr lang="en-US" b="1"/>
              <a:t>Cassandra</a:t>
            </a:r>
            <a:r>
              <a:rPr lang="en-US"/>
              <a:t>) to handle the large volume of messages in real-time chat applications.</a:t>
            </a:r>
            <a:endParaRPr lang="en-US"/>
          </a:p>
          <a:p>
            <a:endParaRPr lang="en-US"/>
          </a:p>
          <a:p>
            <a:pPr marL="0" indent="0">
              <a:buNone/>
            </a:pPr>
            <a:r>
              <a:rPr lang="en-IN" altLang="en-US" b="1"/>
              <a:t>8. </a:t>
            </a:r>
            <a:r>
              <a:rPr lang="en-US" b="1"/>
              <a:t>Group Service</a:t>
            </a:r>
            <a:endParaRPr lang="en-US"/>
          </a:p>
          <a:p>
            <a:r>
              <a:rPr lang="en-US"/>
              <a:t>The Group Service is responsible for handling all group-related functionalities, including creating groups, updating group details and managing group memberships.</a:t>
            </a:r>
            <a:endParaRPr lang="en-US"/>
          </a:p>
          <a:p>
            <a:r>
              <a:rPr lang="en-US" b="1"/>
              <a:t>When a message needs to be delivered to a group conversation, the Chat Servers query the Group Service to retrieve the current list of group members.</a:t>
            </a:r>
            <a:endParaRPr lang="en-US"/>
          </a:p>
          <a:p>
            <a:endParaRPr lang="en-US"/>
          </a:p>
          <a:p>
            <a:pPr marL="0" indent="0">
              <a:buNone/>
            </a:pPr>
            <a:r>
              <a:rPr lang="en-IN" altLang="en-US" b="1"/>
              <a:t>9. </a:t>
            </a:r>
            <a:r>
              <a:rPr lang="en-US" b="1"/>
              <a:t>Group DB</a:t>
            </a:r>
            <a:endParaRPr lang="en-US"/>
          </a:p>
          <a:p>
            <a:r>
              <a:rPr lang="en-US"/>
              <a:t>The Group DB stores and retrieves all data associated with group chats, including group IDs, member lists, admin roles, and group setting.</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10540"/>
            <a:ext cx="10515600" cy="5666740"/>
          </a:xfrm>
        </p:spPr>
        <p:txBody>
          <a:bodyPr>
            <a:normAutofit lnSpcReduction="20000"/>
          </a:bodyPr>
          <a:p>
            <a:pPr marL="0" indent="0">
              <a:buNone/>
            </a:pPr>
            <a:r>
              <a:rPr lang="en-IN" altLang="en-US" sz="2000" b="1"/>
              <a:t>10. </a:t>
            </a:r>
            <a:r>
              <a:rPr lang="en-IN" altLang="en-US" sz="2000" b="1">
                <a:sym typeface="+mn-ea"/>
              </a:rPr>
              <a:t> Media Service</a:t>
            </a:r>
            <a:endParaRPr lang="en-IN" altLang="en-US" sz="2000"/>
          </a:p>
          <a:p>
            <a:r>
              <a:rPr lang="en-IN" altLang="en-US" sz="2000"/>
              <a:t>The Media Service handles the uploading and management of multimedia content, such as images, videos, and audio files.</a:t>
            </a:r>
            <a:endParaRPr lang="en-IN" altLang="en-US" sz="2000"/>
          </a:p>
          <a:p>
            <a:r>
              <a:rPr lang="en-IN" altLang="en-US" sz="2000"/>
              <a:t>It securely stores media files in a blob storage system, while maintaining metadata—such as file type, size, and upload timestamps—in a separate database for easy access and organization.</a:t>
            </a:r>
            <a:endParaRPr lang="en-IN" altLang="en-US" sz="2000"/>
          </a:p>
          <a:p>
            <a:r>
              <a:rPr lang="en-IN" altLang="en-US" sz="2000"/>
              <a:t>By offloading media storage from the main chat servers, the Media Service reduces bandwidth usage on the chat servers and enhances overall app performance.</a:t>
            </a:r>
            <a:endParaRPr lang="en-IN" altLang="en-US" sz="2000"/>
          </a:p>
          <a:p>
            <a:pPr>
              <a:buNone/>
            </a:pPr>
            <a:endParaRPr lang="en-IN" altLang="en-US" sz="2000"/>
          </a:p>
          <a:p>
            <a:pPr marL="0" indent="0">
              <a:buNone/>
            </a:pPr>
            <a:r>
              <a:rPr lang="en-IN" altLang="en-US" sz="2000" b="1"/>
              <a:t>11. Blob Store</a:t>
            </a:r>
            <a:endParaRPr lang="en-IN" altLang="en-US" sz="2000"/>
          </a:p>
          <a:p>
            <a:r>
              <a:rPr lang="en-IN" altLang="en-US" sz="2000"/>
              <a:t>The Blob Store is the storage backend for a chat application’s multimedia content, including images, videos, audio files, and documents.</a:t>
            </a:r>
            <a:endParaRPr lang="en-IN" altLang="en-US" sz="2000"/>
          </a:p>
          <a:p>
            <a:r>
              <a:rPr lang="en-IN" altLang="en-US" sz="2000"/>
              <a:t>It’s designed to handle large volumes of media content while ensuring fast, secure, and reliable access.</a:t>
            </a:r>
            <a:endParaRPr lang="en-IN" altLang="en-US" sz="2000"/>
          </a:p>
          <a:p>
            <a:r>
              <a:rPr lang="en-IN" altLang="en-US" sz="2000"/>
              <a:t>The Media Store typically leverages cloud-based object storage solutions (such as Amazon S3, Google Cloud Storage, or Azure Blob Storage) that provide high durability, scalability, and cost-effectiveness.</a:t>
            </a:r>
            <a:endParaRPr lang="en-IN" altLang="en-US" sz="2000"/>
          </a:p>
          <a:p>
            <a:pPr marL="0" indent="0">
              <a:buNone/>
            </a:pPr>
            <a:endParaRPr lang="en-IN" altLang="en-US" sz="2000"/>
          </a:p>
          <a:p>
            <a:pPr marL="0" indent="0">
              <a:buNone/>
            </a:pPr>
            <a:endParaRPr lang="en-I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27050"/>
            <a:ext cx="10515600" cy="5650230"/>
          </a:xfrm>
        </p:spPr>
        <p:txBody>
          <a:bodyPr>
            <a:normAutofit fontScale="60000"/>
          </a:bodyPr>
          <a:p>
            <a:pPr marL="0" indent="0">
              <a:buNone/>
            </a:pPr>
            <a:r>
              <a:rPr lang="en-IN" altLang="en-US" b="1"/>
              <a:t>12. </a:t>
            </a:r>
            <a:r>
              <a:rPr lang="en-US" b="1"/>
              <a:t>CDN</a:t>
            </a:r>
            <a:endParaRPr lang="en-US"/>
          </a:p>
          <a:p>
            <a:r>
              <a:rPr lang="en-US"/>
              <a:t>To reduce latency when uploading or downloading multimedia content, files are distributed to locations geographically closer to users via a Content Delivery Network (CDN).</a:t>
            </a:r>
            <a:endParaRPr lang="en-US"/>
          </a:p>
          <a:p>
            <a:pPr marL="0" indent="0">
              <a:buNone/>
            </a:pPr>
            <a:endParaRPr lang="en-US"/>
          </a:p>
          <a:p>
            <a:r>
              <a:rPr lang="en-US"/>
              <a:t>When a user shares a multimedia file, the client application uploads it directly to the CDN, storing it in a location close to the recipient.</a:t>
            </a:r>
            <a:endParaRPr lang="en-US"/>
          </a:p>
          <a:p>
            <a:endParaRPr lang="en-US"/>
          </a:p>
          <a:p>
            <a:r>
              <a:rPr lang="en-US"/>
              <a:t>Instead of sending the file itself, the client sends the file’s URL to the chat server as part of the message, allowing other users to download and access the content quickly and efficiently from the nearest CDN location.</a:t>
            </a:r>
            <a:endParaRPr lang="en-US"/>
          </a:p>
          <a:p>
            <a:endParaRPr lang="en-US"/>
          </a:p>
          <a:p>
            <a:r>
              <a:rPr lang="en-US"/>
              <a:t>Once files are uploaded to the CDN, the Media Service retrieves them and stores them in a blob store for long-term storage.</a:t>
            </a:r>
            <a:endParaRPr lang="en-US"/>
          </a:p>
          <a:p>
            <a:endParaRPr lang="en-US"/>
          </a:p>
          <a:p>
            <a:r>
              <a:rPr lang="en-US"/>
              <a:t>This approach reduces the load on chat servers, minimizes latency, and significantly improves media delivery speed for users.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4. Database Design</a:t>
            </a:r>
            <a:endParaRPr lang="en-IN" altLang="en-US" b="1"/>
          </a:p>
        </p:txBody>
      </p:sp>
      <p:pic>
        <p:nvPicPr>
          <p:cNvPr id="4" name="Content Placeholder 3"/>
          <p:cNvPicPr>
            <a:picLocks noChangeAspect="1"/>
          </p:cNvPicPr>
          <p:nvPr>
            <p:ph idx="1"/>
          </p:nvPr>
        </p:nvPicPr>
        <p:blipFill>
          <a:blip r:embed="rId1"/>
          <a:stretch>
            <a:fillRect/>
          </a:stretch>
        </p:blipFill>
        <p:spPr>
          <a:xfrm>
            <a:off x="3132455" y="1825625"/>
            <a:ext cx="5926455" cy="43516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sz="2000"/>
              <a:t>To store the user, group and conversations data, we can use a SQL database like PostgreSQL.</a:t>
            </a:r>
            <a:endParaRPr lang="en-US" sz="2000"/>
          </a:p>
          <a:p>
            <a:endParaRPr lang="en-US" sz="2000"/>
          </a:p>
          <a:p>
            <a:r>
              <a:rPr lang="en-US" sz="2000"/>
              <a:t>For message data, it’s preferred to use a NoSQL database like Cassandra due to high-write throughput.</a:t>
            </a:r>
            <a:endParaRPr lang="en-US" sz="2000"/>
          </a:p>
          <a:p>
            <a:endParaRPr lang="en-US" sz="2000"/>
          </a:p>
          <a:p>
            <a:r>
              <a:rPr lang="en-US" sz="2000"/>
              <a:t>For media files, an object store like AWS S3 provides scalable and secure storage.</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5. Design Deep Dive</a:t>
            </a:r>
            <a:endParaRPr lang="en-IN" altLang="en-US" b="1"/>
          </a:p>
        </p:txBody>
      </p:sp>
      <p:graphicFrame>
        <p:nvGraphicFramePr>
          <p:cNvPr id="4" name="Content Placeholder 3"/>
          <p:cNvGraphicFramePr>
            <a:graphicFrameLocks noChangeAspect="1"/>
          </p:cNvGraphicFramePr>
          <p:nvPr>
            <p:ph idx="1"/>
          </p:nvPr>
        </p:nvGraphicFramePr>
        <p:xfrm>
          <a:off x="6972300" y="1833880"/>
          <a:ext cx="4653915" cy="4351655"/>
        </p:xfrm>
        <a:graphic>
          <a:graphicData uri="http://schemas.openxmlformats.org/presentationml/2006/ole">
            <mc:AlternateContent xmlns:mc="http://schemas.openxmlformats.org/markup-compatibility/2006">
              <mc:Choice xmlns:v="urn:schemas-microsoft-com:vml" Requires="v">
                <p:oleObj spid="_x0000_s5" name="" r:id="rId1" imgW="6886575" imgH="6438900" progId="Paint.Picture">
                  <p:embed/>
                </p:oleObj>
              </mc:Choice>
              <mc:Fallback>
                <p:oleObj name="" r:id="rId1" imgW="6886575" imgH="6438900" progId="Paint.Picture">
                  <p:embed/>
                  <p:pic>
                    <p:nvPicPr>
                      <p:cNvPr id="0" name="Picture 4"/>
                      <p:cNvPicPr/>
                      <p:nvPr/>
                    </p:nvPicPr>
                    <p:blipFill>
                      <a:blip r:embed="rId2"/>
                      <a:stretch>
                        <a:fillRect/>
                      </a:stretch>
                    </p:blipFill>
                    <p:spPr>
                      <a:xfrm>
                        <a:off x="6972300" y="1833880"/>
                        <a:ext cx="4653915" cy="4351655"/>
                      </a:xfrm>
                      <a:prstGeom prst="rect">
                        <a:avLst/>
                      </a:prstGeom>
                    </p:spPr>
                  </p:pic>
                </p:oleObj>
              </mc:Fallback>
            </mc:AlternateContent>
          </a:graphicData>
        </a:graphic>
      </p:graphicFrame>
      <p:sp>
        <p:nvSpPr>
          <p:cNvPr id="6" name="Text Box 5"/>
          <p:cNvSpPr txBox="1"/>
          <p:nvPr/>
        </p:nvSpPr>
        <p:spPr>
          <a:xfrm>
            <a:off x="838200" y="1833880"/>
            <a:ext cx="5830570" cy="4246245"/>
          </a:xfrm>
          <a:prstGeom prst="rect">
            <a:avLst/>
          </a:prstGeom>
          <a:noFill/>
        </p:spPr>
        <p:txBody>
          <a:bodyPr wrap="square" rtlCol="0" anchor="t">
            <a:spAutoFit/>
          </a:bodyPr>
          <a:p>
            <a:r>
              <a:rPr lang="en-US" b="1"/>
              <a:t>Real-time Message Delivery</a:t>
            </a:r>
            <a:endParaRPr lang="en-US" b="1"/>
          </a:p>
          <a:p>
            <a:r>
              <a:rPr lang="en-IN" altLang="en-US"/>
              <a:t>1. Establishing the Connection</a:t>
            </a:r>
            <a:endParaRPr lang="en-IN" altLang="en-US"/>
          </a:p>
          <a:p>
            <a:r>
              <a:rPr lang="en-IN" altLang="en-US"/>
              <a:t>2. Connection data is stored in user connection cache.</a:t>
            </a:r>
            <a:endParaRPr lang="en-IN" altLang="en-US"/>
          </a:p>
          <a:p>
            <a:r>
              <a:rPr lang="en-IN" altLang="en-US"/>
              <a:t>3. User A sends a chat message to Chat server 1.</a:t>
            </a:r>
            <a:endParaRPr lang="en-IN" altLang="en-US"/>
          </a:p>
          <a:p>
            <a:r>
              <a:rPr lang="en-IN" altLang="en-US"/>
              <a:t>4. Chat server 1 obtains a message ID from the ID generator.</a:t>
            </a:r>
            <a:endParaRPr lang="en-IN" altLang="en-US"/>
          </a:p>
          <a:p>
            <a:r>
              <a:rPr lang="en-IN" altLang="en-US"/>
              <a:t>5. Chat server 1 sends the message to the message sync queue.</a:t>
            </a:r>
            <a:endParaRPr lang="en-IN" altLang="en-US"/>
          </a:p>
          <a:p>
            <a:r>
              <a:rPr lang="en-IN" altLang="en-US"/>
              <a:t>6. The message is stored in a key-value store.</a:t>
            </a:r>
            <a:endParaRPr lang="en-IN" altLang="en-US"/>
          </a:p>
          <a:p>
            <a:r>
              <a:rPr lang="en-IN" altLang="en-US"/>
              <a:t>7.a. If User B is online, the message is forwarded to Chat server 2 where User B is connected.</a:t>
            </a:r>
            <a:endParaRPr lang="en-IN" altLang="en-US"/>
          </a:p>
          <a:p>
            <a:r>
              <a:rPr lang="en-IN" altLang="en-US"/>
              <a:t>7.b. If User B is offline, a push notification is sent from push notification (PN) servers.</a:t>
            </a:r>
            <a:endParaRPr lang="en-IN" altLang="en-US"/>
          </a:p>
          <a:p>
            <a:r>
              <a:rPr lang="en-IN" altLang="en-US"/>
              <a:t>8. Chat server 2 forwards the message to User B. There is a persistent WebSocket connection between User B and Chat server 2.</a:t>
            </a:r>
            <a:endParaRPr lang="en-I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7850"/>
            <a:ext cx="6407150" cy="5599430"/>
          </a:xfrm>
        </p:spPr>
        <p:txBody>
          <a:bodyPr>
            <a:normAutofit fontScale="90000"/>
          </a:bodyPr>
          <a:p>
            <a:pPr marL="0" indent="0">
              <a:buNone/>
            </a:pPr>
            <a:r>
              <a:rPr lang="en-IN" altLang="en-US" sz="1800" b="1"/>
              <a:t>Message synchronization across multiple devices</a:t>
            </a:r>
            <a:endParaRPr lang="en-IN" altLang="en-US" sz="1800"/>
          </a:p>
          <a:p>
            <a:pPr marL="0" indent="0">
              <a:buNone/>
            </a:pPr>
            <a:endParaRPr lang="en-IN" altLang="en-US" sz="1800"/>
          </a:p>
          <a:p>
            <a:pPr marL="0" indent="0">
              <a:buNone/>
            </a:pPr>
            <a:r>
              <a:rPr lang="en-IN" altLang="en-US" sz="1800"/>
              <a:t>Many users have multiple devices. </a:t>
            </a:r>
            <a:endParaRPr lang="en-IN" altLang="en-US" sz="1800"/>
          </a:p>
          <a:p>
            <a:r>
              <a:rPr lang="en-IN" altLang="en-US" sz="1800"/>
              <a:t>User A has two devices: a phone and a laptop. </a:t>
            </a:r>
            <a:endParaRPr lang="en-IN" altLang="en-US" sz="1800"/>
          </a:p>
          <a:p>
            <a:r>
              <a:rPr lang="en-IN" altLang="en-US" sz="1800"/>
              <a:t>When User A logs in to the chat app with her phone, it establishes a WebSocket connection with Chat server 1. Similarly, there is a connection between the laptop and Chat server 1.</a:t>
            </a:r>
            <a:endParaRPr lang="en-IN" altLang="en-US" sz="1800"/>
          </a:p>
          <a:p>
            <a:pPr>
              <a:buNone/>
            </a:pPr>
            <a:endParaRPr lang="en-IN" altLang="en-US" sz="1800"/>
          </a:p>
          <a:p>
            <a:r>
              <a:rPr lang="en-IN" altLang="en-US" sz="1800"/>
              <a:t>Each device maintains a variable called </a:t>
            </a:r>
            <a:r>
              <a:rPr lang="en-IN" altLang="en-US" sz="1800" b="1"/>
              <a:t>cur_max_message_id</a:t>
            </a:r>
            <a:r>
              <a:rPr lang="en-IN" altLang="en-US" sz="1800"/>
              <a:t>, which keeps track of the latest message ID on the device. Messages that satisfy the following two conditions are considered as news messages:</a:t>
            </a:r>
            <a:endParaRPr lang="en-IN" altLang="en-US" sz="1800"/>
          </a:p>
          <a:p>
            <a:pPr lvl="1"/>
            <a:r>
              <a:rPr lang="en-IN" altLang="en-US" sz="1800"/>
              <a:t>The recipient ID is equal to the currently logged-in user ID.</a:t>
            </a:r>
            <a:endParaRPr lang="en-IN" altLang="en-US" sz="1540"/>
          </a:p>
          <a:p>
            <a:pPr lvl="1"/>
            <a:r>
              <a:rPr lang="en-IN" altLang="en-US" sz="1800"/>
              <a:t>Message ID in the key-value store is larger than </a:t>
            </a:r>
            <a:r>
              <a:rPr lang="en-IN" altLang="en-US" sz="1800" b="1"/>
              <a:t>cur_max_message_id</a:t>
            </a:r>
            <a:r>
              <a:rPr lang="en-IN" altLang="en-US" sz="1800"/>
              <a:t>.</a:t>
            </a:r>
            <a:endParaRPr lang="en-IN" altLang="en-US" sz="1800"/>
          </a:p>
          <a:p>
            <a:pPr marL="0" indent="0">
              <a:buNone/>
            </a:pPr>
            <a:endParaRPr lang="en-IN" altLang="en-US" sz="1800"/>
          </a:p>
          <a:p>
            <a:pPr marL="0" indent="0">
              <a:buNone/>
            </a:pPr>
            <a:r>
              <a:rPr lang="en-IN" altLang="en-US" sz="1800"/>
              <a:t>With </a:t>
            </a:r>
            <a:r>
              <a:rPr lang="en-IN" altLang="en-US" sz="1800" b="1"/>
              <a:t>distinct cur_max_message_id on each device</a:t>
            </a:r>
            <a:r>
              <a:rPr lang="en-IN" altLang="en-US" sz="1800"/>
              <a:t>, message synchronization is easy as each device can get new messages from the KV store.</a:t>
            </a:r>
            <a:endParaRPr lang="en-IN" altLang="en-US" sz="1800"/>
          </a:p>
        </p:txBody>
      </p:sp>
      <p:pic>
        <p:nvPicPr>
          <p:cNvPr id="4" name="Picture 3"/>
          <p:cNvPicPr>
            <a:picLocks noChangeAspect="1"/>
          </p:cNvPicPr>
          <p:nvPr/>
        </p:nvPicPr>
        <p:blipFill>
          <a:blip r:embed="rId1"/>
          <a:stretch>
            <a:fillRect/>
          </a:stretch>
        </p:blipFill>
        <p:spPr>
          <a:xfrm>
            <a:off x="7245350" y="1426210"/>
            <a:ext cx="4959985" cy="3519170"/>
          </a:xfrm>
          <a:prstGeom prst="rect">
            <a:avLst/>
          </a:prstGeom>
        </p:spPr>
      </p:pic>
      <p:pic>
        <p:nvPicPr>
          <p:cNvPr id="6" name="Picture 5"/>
          <p:cNvPicPr>
            <a:picLocks noChangeAspect="1"/>
          </p:cNvPicPr>
          <p:nvPr/>
        </p:nvPicPr>
        <p:blipFill>
          <a:blip r:embed="rId2"/>
          <a:stretch>
            <a:fillRect/>
          </a:stretch>
        </p:blipFill>
        <p:spPr>
          <a:xfrm>
            <a:off x="9201785" y="2195195"/>
            <a:ext cx="1047750" cy="3575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14655"/>
            <a:ext cx="10515600" cy="5762625"/>
          </a:xfrm>
        </p:spPr>
        <p:txBody>
          <a:bodyPr>
            <a:normAutofit fontScale="60000"/>
          </a:bodyPr>
          <a:p>
            <a:pPr marL="0" indent="0">
              <a:buNone/>
            </a:pPr>
            <a:r>
              <a:rPr lang="en-US" b="1"/>
              <a:t>How to generate Message ID?</a:t>
            </a:r>
            <a:endParaRPr lang="en-US"/>
          </a:p>
          <a:p>
            <a:endParaRPr lang="en-US"/>
          </a:p>
          <a:p>
            <a:r>
              <a:rPr lang="en-US"/>
              <a:t>To retrieve recent messages efficiently, we can use a time-based message ID.</a:t>
            </a:r>
            <a:endParaRPr lang="en-US"/>
          </a:p>
          <a:p>
            <a:r>
              <a:rPr lang="en-US"/>
              <a:t>A time-based message ID typically combines a timestamp with a unique identifier for each message.</a:t>
            </a:r>
            <a:endParaRPr lang="en-US"/>
          </a:p>
          <a:p>
            <a:r>
              <a:rPr lang="en-US"/>
              <a:t>This allows us to order messages by timestamp, retrieve messages within a specific time range and support pagination (“load more“) where you retrieve messages before or after a specific timestamp without re-sorting the dataset.</a:t>
            </a:r>
            <a:endParaRPr lang="en-US"/>
          </a:p>
          <a:p>
            <a:r>
              <a:rPr lang="en-US"/>
              <a:t>A common format might include:</a:t>
            </a:r>
            <a:endParaRPr lang="en-US"/>
          </a:p>
          <a:p>
            <a:pPr marL="0" indent="0">
              <a:buNone/>
            </a:pPr>
            <a:r>
              <a:rPr lang="en-IN" altLang="en-US"/>
              <a:t>			</a:t>
            </a:r>
            <a:r>
              <a:rPr lang="en-US"/>
              <a:t>[Timestamp in milliseconds][Unique Sequence/Random Component]</a:t>
            </a:r>
            <a:endParaRPr lang="en-US"/>
          </a:p>
          <a:p>
            <a:endParaRPr lang="en-US"/>
          </a:p>
          <a:p>
            <a:r>
              <a:rPr lang="en-US"/>
              <a:t>Timestamp (in milliseconds): The first part of the ID is the timestamp at which the message is created. This allows messages to be sorted chronologically by their creation time.</a:t>
            </a:r>
            <a:endParaRPr lang="en-US"/>
          </a:p>
          <a:p>
            <a:r>
              <a:rPr lang="en-US"/>
              <a:t>Unique Sequence or Randomized Component: Appending a unique component (like a random or incremental sequence) ensures each message ID is unique, even if multiple messages are sent at the same millisecond.</a:t>
            </a:r>
            <a:endParaRPr lang="en-US"/>
          </a:p>
          <a:p>
            <a:pPr marL="0" indent="0">
              <a:buNone/>
            </a:pPr>
            <a:endParaRPr lang="en-US"/>
          </a:p>
          <a:p>
            <a:pPr marL="0" indent="0">
              <a:buNone/>
            </a:pPr>
            <a:r>
              <a:rPr lang="en-US"/>
              <a:t>For instance, a message sent at 2024-11-05 12:34:56.789 with a sequence 001 could have an ID: 20241105123456789001.</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56590"/>
            <a:ext cx="10515600" cy="5520690"/>
          </a:xfrm>
        </p:spPr>
        <p:txBody>
          <a:bodyPr>
            <a:normAutofit fontScale="60000"/>
          </a:bodyPr>
          <a:p>
            <a:pPr marL="0" indent="0">
              <a:buNone/>
            </a:pPr>
            <a:r>
              <a:rPr lang="en-IN" altLang="en-US" b="1"/>
              <a:t>Online Presense (online/offline status) and lastSeen</a:t>
            </a:r>
            <a:endParaRPr lang="en-IN" altLang="en-US" b="1"/>
          </a:p>
          <a:p>
            <a:pPr marL="0" indent="0">
              <a:buNone/>
            </a:pPr>
            <a:r>
              <a:rPr lang="en-IN" altLang="en-US"/>
              <a:t>Presence servers are responsible for managing online status and communicating with clients through WebSocket. There are a few flows that will trigger online status change. Let us examine each of them.</a:t>
            </a:r>
            <a:endParaRPr lang="en-IN" altLang="en-US"/>
          </a:p>
          <a:p>
            <a:pPr marL="0" indent="0">
              <a:buNone/>
            </a:pPr>
            <a:r>
              <a:rPr lang="en-IN" altLang="en-US" b="1"/>
              <a:t>User login</a:t>
            </a:r>
            <a:endParaRPr lang="en-IN" altLang="en-US"/>
          </a:p>
          <a:p>
            <a:pPr marL="0" indent="0">
              <a:buNone/>
            </a:pPr>
            <a:r>
              <a:rPr lang="en-IN" altLang="en-US"/>
              <a:t>The user login flow is explained in the “Service Discovery” section. After a WebSocket connection is built between the client and the real-time service, user A’s </a:t>
            </a:r>
            <a:r>
              <a:rPr lang="en-IN" altLang="en-US" b="1"/>
              <a:t>online status</a:t>
            </a:r>
            <a:r>
              <a:rPr lang="en-IN" altLang="en-US"/>
              <a:t> and </a:t>
            </a:r>
            <a:r>
              <a:rPr lang="en-IN" altLang="en-US" b="1"/>
              <a:t>last_active_at</a:t>
            </a:r>
            <a:r>
              <a:rPr lang="en-IN" altLang="en-US"/>
              <a:t> timestamp are saved in the KV store. Presence indicator shows the user is online after she logs in.</a:t>
            </a:r>
            <a:endParaRPr lang="en-IN" altLang="en-US"/>
          </a:p>
          <a:p>
            <a:pPr marL="0" indent="0">
              <a:buNone/>
            </a:pPr>
            <a:endParaRPr lang="en-IN" altLang="en-US"/>
          </a:p>
          <a:p>
            <a:pPr marL="0" indent="0">
              <a:buNone/>
            </a:pPr>
            <a:endParaRPr lang="en-IN" altLang="en-US"/>
          </a:p>
          <a:p>
            <a:pPr marL="0" indent="0">
              <a:buNone/>
            </a:pPr>
            <a:endParaRPr lang="en-IN" altLang="en-US"/>
          </a:p>
          <a:p>
            <a:pPr marL="0" indent="0">
              <a:buNone/>
            </a:pPr>
            <a:endParaRPr lang="en-IN" altLang="en-US"/>
          </a:p>
          <a:p>
            <a:pPr marL="0" indent="0">
              <a:buNone/>
            </a:pPr>
            <a:endParaRPr lang="en-IN" altLang="en-US"/>
          </a:p>
          <a:p>
            <a:pPr marL="0" indent="0">
              <a:buNone/>
            </a:pPr>
            <a:r>
              <a:rPr lang="en-IN" altLang="en-US" b="1"/>
              <a:t>User logout</a:t>
            </a:r>
            <a:endParaRPr lang="en-IN" altLang="en-US"/>
          </a:p>
          <a:p>
            <a:pPr marL="0" indent="0">
              <a:buNone/>
            </a:pPr>
            <a:r>
              <a:rPr lang="en-IN" altLang="en-US"/>
              <a:t>When a user logs out, it goes through the user logout flow. The online status is changed to offline in the KV store. The presence indicator shows a user is offline.</a:t>
            </a:r>
            <a:endParaRPr lang="en-IN" altLang="en-US"/>
          </a:p>
          <a:p>
            <a:pPr marL="0" indent="0">
              <a:buNone/>
            </a:pPr>
            <a:endParaRPr lang="en-IN" altLang="en-US"/>
          </a:p>
        </p:txBody>
      </p:sp>
      <p:pic>
        <p:nvPicPr>
          <p:cNvPr id="5" name="Picture 4"/>
          <p:cNvPicPr>
            <a:picLocks noChangeAspect="1"/>
          </p:cNvPicPr>
          <p:nvPr/>
        </p:nvPicPr>
        <p:blipFill>
          <a:blip r:embed="rId1"/>
          <a:stretch>
            <a:fillRect/>
          </a:stretch>
        </p:blipFill>
        <p:spPr>
          <a:xfrm>
            <a:off x="3680460" y="2884805"/>
            <a:ext cx="5117465" cy="1319530"/>
          </a:xfrm>
          <a:prstGeom prst="rect">
            <a:avLst/>
          </a:prstGeom>
        </p:spPr>
      </p:pic>
      <p:pic>
        <p:nvPicPr>
          <p:cNvPr id="7" name="Picture 6"/>
          <p:cNvPicPr>
            <a:picLocks noChangeAspect="1"/>
          </p:cNvPicPr>
          <p:nvPr/>
        </p:nvPicPr>
        <p:blipFill>
          <a:blip r:embed="rId2"/>
          <a:stretch>
            <a:fillRect/>
          </a:stretch>
        </p:blipFill>
        <p:spPr>
          <a:xfrm>
            <a:off x="3048000" y="5641340"/>
            <a:ext cx="6096000" cy="12382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283845"/>
            <a:ext cx="5813425" cy="5893435"/>
          </a:xfrm>
        </p:spPr>
        <p:txBody>
          <a:bodyPr>
            <a:normAutofit fontScale="50000"/>
          </a:bodyPr>
          <a:p>
            <a:pPr marL="0" indent="0" algn="just">
              <a:buNone/>
            </a:pPr>
            <a:r>
              <a:rPr lang="en-US" b="1"/>
              <a:t>User disconnection</a:t>
            </a:r>
            <a:endParaRPr lang="en-US" b="1"/>
          </a:p>
          <a:p>
            <a:pPr marL="0" indent="0" algn="just">
              <a:buNone/>
            </a:pPr>
            <a:endParaRPr lang="en-US" b="1"/>
          </a:p>
          <a:p>
            <a:pPr marL="0" indent="0" algn="just">
              <a:buNone/>
            </a:pPr>
            <a:endParaRPr lang="en-US"/>
          </a:p>
          <a:p>
            <a:pPr algn="just"/>
            <a:r>
              <a:rPr lang="en-US"/>
              <a:t>We all wish our internet connection is consistent and reliable. However, that is not always the case; thus, we must address this issue in our design. When a user disconnects from the internet, the persistent connection between the client and server is lost. A naive way to handle user disconnection is to mark the user as offline and change the status to online when the connection re-establishes. However, this approach has a major flaw. It is common for users to disconnect and reconnect to the internet frequently in a short time. For example, network connections can be on and off while a user goes through a tunnel. Updating online status on every disconnect/reconnect would make the presence indicator change too often, resulting in poor user experience.</a:t>
            </a:r>
            <a:endParaRPr lang="en-US"/>
          </a:p>
          <a:p>
            <a:pPr algn="just"/>
            <a:endParaRPr lang="en-US"/>
          </a:p>
          <a:p>
            <a:pPr algn="just"/>
            <a:r>
              <a:rPr lang="en-US"/>
              <a:t>We introduce a </a:t>
            </a:r>
            <a:r>
              <a:rPr lang="en-US" b="1"/>
              <a:t>heartbeat mechanism</a:t>
            </a:r>
            <a:r>
              <a:rPr lang="en-US"/>
              <a:t> to solve this problem. </a:t>
            </a:r>
            <a:r>
              <a:rPr lang="en-US" b="1"/>
              <a:t>Periodically, an online client sends a heartbeat event to presence servers.</a:t>
            </a:r>
            <a:r>
              <a:rPr lang="en-US"/>
              <a:t> If presence servers receive a heartbeat event within a certain time, say x seconds from the client, a user is considered as online. Otherwise, it is offline.</a:t>
            </a:r>
            <a:endParaRPr lang="en-US"/>
          </a:p>
          <a:p>
            <a:pPr algn="just"/>
            <a:endParaRPr lang="en-US"/>
          </a:p>
          <a:p>
            <a:pPr algn="just"/>
            <a:r>
              <a:rPr lang="en-IN" altLang="en-US"/>
              <a:t>T</a:t>
            </a:r>
            <a:r>
              <a:rPr lang="en-US"/>
              <a:t>he client sends a heartbeat event to the server every 5 seconds. After sending 3 heartbeat events, the client is disconnected and does not reconnect within x = 30 seconds (This number is arbitrarily chosen to demonstrate the logic). The online status is changed to offline.</a:t>
            </a:r>
            <a:endParaRPr lang="en-US"/>
          </a:p>
          <a:p>
            <a:pPr marL="0" indent="0" algn="just">
              <a:buNone/>
            </a:pPr>
            <a:endParaRPr lang="en-US"/>
          </a:p>
          <a:p>
            <a:pPr marL="0" indent="0" algn="just">
              <a:buNone/>
            </a:pPr>
            <a:endParaRPr lang="en-US"/>
          </a:p>
          <a:p>
            <a:pPr marL="0" indent="0" algn="just">
              <a:buNone/>
            </a:pPr>
            <a:endParaRPr lang="en-US"/>
          </a:p>
        </p:txBody>
      </p:sp>
      <p:pic>
        <p:nvPicPr>
          <p:cNvPr id="5" name="Content Placeholder 3"/>
          <p:cNvPicPr>
            <a:picLocks noChangeAspect="1"/>
          </p:cNvPicPr>
          <p:nvPr>
            <p:ph sz="half" idx="2"/>
          </p:nvPr>
        </p:nvPicPr>
        <p:blipFill>
          <a:blip r:embed="rId1"/>
          <a:stretch>
            <a:fillRect/>
          </a:stretch>
        </p:blipFill>
        <p:spPr>
          <a:xfrm>
            <a:off x="6726555" y="1755140"/>
            <a:ext cx="5181600" cy="4127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364865" y="1825625"/>
            <a:ext cx="5461635" cy="435165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9755"/>
            <a:ext cx="10515600" cy="5597525"/>
          </a:xfrm>
        </p:spPr>
        <p:txBody>
          <a:bodyPr>
            <a:normAutofit lnSpcReduction="10000"/>
          </a:bodyPr>
          <a:p>
            <a:pPr marL="0" indent="0">
              <a:buNone/>
            </a:pPr>
            <a:r>
              <a:rPr lang="en-US" sz="2000" b="1"/>
              <a:t>Message Delivery Indicators</a:t>
            </a:r>
            <a:endParaRPr lang="en-US" sz="2000" b="1"/>
          </a:p>
          <a:p>
            <a:pPr marL="0" indent="0">
              <a:buNone/>
            </a:pPr>
            <a:r>
              <a:rPr lang="en-US" sz="2000"/>
              <a:t>WebSockets enable real-time status updates for messages (e.g., “message sent,” “message delivered,” “message read”), providing users with instant feedback on message states.</a:t>
            </a:r>
            <a:endParaRPr lang="en-US" sz="2000"/>
          </a:p>
          <a:p>
            <a:pPr marL="0" indent="0">
              <a:buNone/>
            </a:pPr>
            <a:endParaRPr lang="en-US" sz="2000"/>
          </a:p>
          <a:p>
            <a:pPr marL="0" indent="0">
              <a:buNone/>
            </a:pPr>
            <a:r>
              <a:rPr lang="en-US" sz="2000" b="1"/>
              <a:t>Message Sent</a:t>
            </a:r>
            <a:endParaRPr lang="en-US" sz="2000"/>
          </a:p>
          <a:p>
            <a:r>
              <a:rPr lang="en-US" sz="2000"/>
              <a:t>When User A sends a message, it is transmitted over their WebSocket connection to the server handling their connection (Server A).</a:t>
            </a:r>
            <a:endParaRPr lang="en-US" sz="2000"/>
          </a:p>
          <a:p>
            <a:endParaRPr lang="en-US" sz="2000"/>
          </a:p>
          <a:p>
            <a:r>
              <a:rPr lang="en-US" sz="2000"/>
              <a:t>Server A receives the message, pushes it to the message queue for storage, and sends an acknowledgment back to User A.</a:t>
            </a:r>
            <a:endParaRPr lang="en-US" sz="2000"/>
          </a:p>
          <a:p>
            <a:endParaRPr lang="en-US" sz="2000"/>
          </a:p>
          <a:p>
            <a:r>
              <a:rPr lang="en-US" sz="2000"/>
              <a:t>Upon receiving this acknowledgment, User A’s app updates the message status to “sent.”</a:t>
            </a:r>
            <a:endParaRPr lang="en-US" sz="2000"/>
          </a:p>
          <a:p>
            <a:endParaRPr lang="en-US" sz="2000"/>
          </a:p>
          <a:p>
            <a:r>
              <a:rPr lang="en-US" sz="2000"/>
              <a:t>If User A is offline when attempting to send a message, the message won’t be sent until they are back online. The message remains in a pending state on User A's device until it reconnects and successfully sends the message to Server A.</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9755"/>
            <a:ext cx="10515600" cy="5597525"/>
          </a:xfrm>
        </p:spPr>
        <p:txBody>
          <a:bodyPr>
            <a:normAutofit lnSpcReduction="10000"/>
          </a:bodyPr>
          <a:p>
            <a:pPr marL="0" indent="0">
              <a:buNone/>
            </a:pPr>
            <a:r>
              <a:rPr lang="en-US" sz="2000" b="1"/>
              <a:t>Message Delivered</a:t>
            </a:r>
            <a:endParaRPr lang="en-US" sz="2000" b="1"/>
          </a:p>
          <a:p>
            <a:r>
              <a:rPr lang="en-US" sz="2000"/>
              <a:t>Once the User B receives the message, it sends an acknowledgment to Server B.</a:t>
            </a:r>
            <a:endParaRPr lang="en-US" sz="2000"/>
          </a:p>
          <a:p>
            <a:endParaRPr lang="en-US" sz="2000"/>
          </a:p>
          <a:p>
            <a:r>
              <a:rPr lang="en-US" sz="2000"/>
              <a:t>Server B sends a delivery acknowledgment to Server A.</a:t>
            </a:r>
            <a:endParaRPr lang="en-US" sz="2000"/>
          </a:p>
          <a:p>
            <a:endParaRPr lang="en-US" sz="2000"/>
          </a:p>
          <a:p>
            <a:r>
              <a:rPr lang="en-US" sz="2000"/>
              <a:t>Server A sends the message status “delivered” to the message queue for permanent storage and then relays this update to User A’s app, which reflects the message as “delivered.”</a:t>
            </a:r>
            <a:endParaRPr lang="en-US" sz="2000"/>
          </a:p>
          <a:p>
            <a:endParaRPr lang="en-US" sz="2000"/>
          </a:p>
          <a:p>
            <a:r>
              <a:rPr lang="en-US" sz="2000"/>
              <a:t>If User B is offline, Server A will not receive an acknowledgment of delivery from Server B, so the message remains in the “sent” state for User A until User B reconnects.</a:t>
            </a:r>
            <a:endParaRPr lang="en-US" sz="2000"/>
          </a:p>
          <a:p>
            <a:endParaRPr lang="en-US" sz="2000"/>
          </a:p>
          <a:p>
            <a:r>
              <a:rPr lang="en-US" sz="2000"/>
              <a:t>When User B comes online, the client app sends the updates to Server B, at which point it sends a “delivered” acknowledgment to Server A. User A’s app is then updated to reflect the “delivered” status.</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79755"/>
            <a:ext cx="10515600" cy="5597525"/>
          </a:xfrm>
        </p:spPr>
        <p:txBody>
          <a:bodyPr>
            <a:normAutofit lnSpcReduction="10000"/>
          </a:bodyPr>
          <a:p>
            <a:pPr marL="0" indent="0">
              <a:buNone/>
            </a:pPr>
            <a:r>
              <a:rPr lang="en-US" sz="2000" b="1"/>
              <a:t>Message Read</a:t>
            </a:r>
            <a:endParaRPr lang="en-US" sz="2000" b="1"/>
          </a:p>
          <a:p>
            <a:r>
              <a:rPr lang="en-US" sz="2000"/>
              <a:t>When User B opens the chat window and views the message, their app sends a “read” acknowledgment to Server B.</a:t>
            </a:r>
            <a:endParaRPr lang="en-US" sz="2000"/>
          </a:p>
          <a:p>
            <a:endParaRPr lang="en-US" sz="2000"/>
          </a:p>
          <a:p>
            <a:r>
              <a:rPr lang="en-US" sz="2000"/>
              <a:t>Server B logs this event in the message queue and forwards the “read” status to Server A.</a:t>
            </a:r>
            <a:endParaRPr lang="en-US" sz="2000"/>
          </a:p>
          <a:p>
            <a:endParaRPr lang="en-US" sz="2000"/>
          </a:p>
          <a:p>
            <a:r>
              <a:rPr lang="en-US" sz="2000"/>
              <a:t>Server A pushes this update to User A’s device, allowing User A’s app to display the message as “read.”</a:t>
            </a:r>
            <a:endParaRPr lang="en-US" sz="2000"/>
          </a:p>
          <a:p>
            <a:endParaRPr lang="en-US" sz="2000"/>
          </a:p>
          <a:p>
            <a:r>
              <a:rPr lang="en-US" sz="2000"/>
              <a:t>If User B is offline, they cannot view the message, so it will not trigger a “read” status. When User B reconnects and opens the chat, their app will send a “read” acknowledgment to Server B.</a:t>
            </a:r>
            <a:endParaRPr lang="en-US" sz="2000"/>
          </a:p>
          <a:p>
            <a:endParaRPr lang="en-US" sz="2000"/>
          </a:p>
          <a:p>
            <a:r>
              <a:rPr lang="en-US" sz="2000"/>
              <a:t>The Server B logs the “read” status in the message queue and forwards it to Server A. User A’s app then receives this update, marking the message as “read.”</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05790"/>
            <a:ext cx="10515600" cy="5571490"/>
          </a:xfrm>
        </p:spPr>
        <p:txBody>
          <a:bodyPr>
            <a:normAutofit fontScale="65000"/>
          </a:bodyPr>
          <a:p>
            <a:pPr marL="0" indent="0">
              <a:buNone/>
            </a:pPr>
            <a:r>
              <a:rPr lang="en-US" b="1"/>
              <a:t>Group Messages</a:t>
            </a:r>
            <a:endParaRPr lang="en-US"/>
          </a:p>
          <a:p>
            <a:r>
              <a:rPr lang="en-US"/>
              <a:t>When User A sends a message in a group chat, the message travels through User A’s WebSocket connection to the server managing that connection (Server A).</a:t>
            </a:r>
            <a:endParaRPr lang="en-US"/>
          </a:p>
          <a:p>
            <a:r>
              <a:rPr lang="en-US"/>
              <a:t>Server A queries the Group Service to retrieve a list of all active members in the group.</a:t>
            </a:r>
            <a:endParaRPr lang="en-US"/>
          </a:p>
          <a:p>
            <a:r>
              <a:rPr lang="en-US"/>
              <a:t>Server A checks the user connection cache to determine which group members are currently online and the specific servers they are connected to.</a:t>
            </a:r>
            <a:endParaRPr lang="en-US"/>
          </a:p>
          <a:p>
            <a:r>
              <a:rPr lang="en-US"/>
              <a:t>For Each Online Member:</a:t>
            </a:r>
            <a:endParaRPr lang="en-US"/>
          </a:p>
          <a:p>
            <a:pPr lvl="1"/>
            <a:r>
              <a:rPr lang="en-US"/>
              <a:t>If a member is connected to Server A, it delivers the message directly over the existing WebSocket connection.</a:t>
            </a:r>
            <a:endParaRPr lang="en-US"/>
          </a:p>
          <a:p>
            <a:pPr lvl="1"/>
            <a:r>
              <a:rPr lang="en-US"/>
              <a:t>If a member is connected to a different server (e.g., Server B), Server A forwards the message to Server B, which then delivers the message to the user over their WebSocket connection.</a:t>
            </a:r>
            <a:endParaRPr lang="en-US"/>
          </a:p>
          <a:p>
            <a:r>
              <a:rPr lang="en-US"/>
              <a:t>For offline group members, Server A sends the message to the Notification Service. The Notification Service triggers push notifications for each offline group member, alerting them of the new message.</a:t>
            </a:r>
            <a:endParaRPr lang="en-US"/>
          </a:p>
          <a:p>
            <a:pPr marL="0" indent="0">
              <a:buNone/>
            </a:pPr>
            <a:r>
              <a:rPr lang="en-US"/>
              <a:t>In a group chat, every message sent must be distributed (or "fanned out") to each group member.</a:t>
            </a:r>
            <a:endParaRPr lang="en-US"/>
          </a:p>
          <a:p>
            <a:r>
              <a:rPr lang="en-US"/>
              <a:t>As group size increases, so does the fan-out workload. For instance, in a group of 500 members, each message requires 500 individual message deliveries, which can quickly overwhelm the server.</a:t>
            </a:r>
            <a:endParaRPr lang="en-US"/>
          </a:p>
          <a:p>
            <a:r>
              <a:rPr lang="en-US"/>
              <a:t>That’s why, most chat applications put limits on the number of members a group can have (WhatsApp currently has 1024).</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370580" y="1825625"/>
            <a:ext cx="5450840" cy="435165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US" b="1">
                <a:sym typeface="+mn-ea"/>
              </a:rPr>
              <a:t>6. </a:t>
            </a:r>
            <a:r>
              <a:rPr lang="en-US" b="1">
                <a:sym typeface="+mn-ea"/>
              </a:rPr>
              <a:t>Address Key Issues and Bottlenecks</a:t>
            </a:r>
            <a:endParaRPr lang="en-US" b="1"/>
          </a:p>
        </p:txBody>
      </p:sp>
      <p:sp>
        <p:nvSpPr>
          <p:cNvPr id="3" name="Content Placeholder 2"/>
          <p:cNvSpPr>
            <a:spLocks noGrp="1"/>
          </p:cNvSpPr>
          <p:nvPr>
            <p:ph idx="1"/>
          </p:nvPr>
        </p:nvSpPr>
        <p:spPr/>
        <p:txBody>
          <a:bodyPr>
            <a:normAutofit/>
          </a:bodyPr>
          <a:p>
            <a:pPr marL="0" lvl="0" indent="0">
              <a:buNone/>
            </a:pPr>
            <a:r>
              <a:rPr lang="en-US" sz="2000" b="1"/>
              <a:t>Chat Server Failure</a:t>
            </a:r>
            <a:endParaRPr lang="en-US" sz="2000"/>
          </a:p>
          <a:p>
            <a:pPr lvl="1"/>
            <a:r>
              <a:rPr lang="en-US" sz="2000"/>
              <a:t>In the event of a chat server failure, all clients connected to that server will lose their connection.</a:t>
            </a:r>
            <a:endParaRPr lang="en-US" sz="2000"/>
          </a:p>
          <a:p>
            <a:pPr lvl="1"/>
            <a:endParaRPr lang="en-US" sz="2000"/>
          </a:p>
          <a:p>
            <a:pPr lvl="1"/>
            <a:r>
              <a:rPr lang="en-US" sz="2000"/>
              <a:t>To recover, clients automatically attempt to reconnect, this time establishing a new connection with a different available server.</a:t>
            </a:r>
            <a:endParaRPr lang="en-US" sz="2000"/>
          </a:p>
          <a:p>
            <a:pPr lvl="1"/>
            <a:endParaRPr lang="en-US" sz="2000"/>
          </a:p>
          <a:p>
            <a:pPr lvl="1"/>
            <a:r>
              <a:rPr lang="en-US" sz="2000"/>
              <a:t>The load balancer continuously monitors the health of each chat server through regular health checks.</a:t>
            </a:r>
            <a:endParaRPr lang="en-US" sz="2000"/>
          </a:p>
          <a:p>
            <a:pPr lvl="1"/>
            <a:endParaRPr lang="en-US" sz="2000"/>
          </a:p>
          <a:p>
            <a:pPr lvl="1"/>
            <a:r>
              <a:rPr lang="en-US" sz="2000"/>
              <a:t>If a server goes down, the load balancer immediately stops directing traffic to it, ensuring new connections are routed to healthy servers only.</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04520"/>
            <a:ext cx="10515600" cy="5572760"/>
          </a:xfrm>
        </p:spPr>
        <p:txBody>
          <a:bodyPr>
            <a:normAutofit/>
          </a:bodyPr>
          <a:p>
            <a:pPr marL="0" lvl="0" indent="0">
              <a:buNone/>
            </a:pPr>
            <a:r>
              <a:rPr lang="en-US" sz="2000" b="1"/>
              <a:t>Sharding</a:t>
            </a:r>
            <a:endParaRPr lang="en-US" sz="2000"/>
          </a:p>
          <a:p>
            <a:pPr marL="0" lvl="0" indent="0">
              <a:buNone/>
            </a:pPr>
            <a:r>
              <a:rPr lang="en-US" sz="2000"/>
              <a:t>To support horizontal scaling and efficient data access, we can implement sharding across different data types:</a:t>
            </a:r>
            <a:endParaRPr lang="en-US" sz="2000"/>
          </a:p>
          <a:p>
            <a:pPr marL="457200" lvl="1" indent="0">
              <a:buNone/>
            </a:pPr>
            <a:endParaRPr lang="en-US" sz="2000"/>
          </a:p>
          <a:p>
            <a:pPr marL="457200" lvl="1" indent="0">
              <a:buNone/>
            </a:pPr>
            <a:r>
              <a:rPr lang="en-US" sz="2000" b="1"/>
              <a:t>User Data Sharding</a:t>
            </a:r>
            <a:r>
              <a:rPr lang="en-US" sz="2000"/>
              <a:t>: Shard user data based on user_id. This will allow us to distribute user records across multiple servers and enable us to scale as the user base grows.</a:t>
            </a:r>
            <a:endParaRPr lang="en-US" sz="2000"/>
          </a:p>
          <a:p>
            <a:pPr marL="457200" lvl="1" indent="0">
              <a:buNone/>
            </a:pPr>
            <a:endParaRPr lang="en-US" sz="2000"/>
          </a:p>
          <a:p>
            <a:pPr marL="457200" lvl="1" indent="0">
              <a:buNone/>
            </a:pPr>
            <a:r>
              <a:rPr lang="en-US" sz="2000" b="1"/>
              <a:t>Message Data Partitioning</a:t>
            </a:r>
            <a:r>
              <a:rPr lang="en-US" sz="2000"/>
              <a:t>: Partition messages based on message_id, using a timestamp-based message_id to enable efficient time-based searches. This structure allows recent messages to be accessed quickly and older messages to be located based on timestamp.</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88010"/>
            <a:ext cx="10515600" cy="5589270"/>
          </a:xfrm>
        </p:spPr>
        <p:txBody>
          <a:bodyPr>
            <a:normAutofit fontScale="60000"/>
          </a:bodyPr>
          <a:p>
            <a:pPr marL="0" indent="0">
              <a:buNone/>
            </a:pPr>
            <a:r>
              <a:rPr lang="en-US" b="1"/>
              <a:t>Optimizing Storage Cost</a:t>
            </a:r>
            <a:endParaRPr lang="en-US"/>
          </a:p>
          <a:p>
            <a:pPr marL="0" indent="0">
              <a:buNone/>
            </a:pPr>
            <a:r>
              <a:rPr lang="en-US"/>
              <a:t>With large volumes of messages and multimedia content, optimizing storage costs is essential.</a:t>
            </a:r>
            <a:endParaRPr lang="en-US"/>
          </a:p>
          <a:p>
            <a:pPr marL="0" indent="0">
              <a:buNone/>
            </a:pPr>
            <a:endParaRPr lang="en-US"/>
          </a:p>
          <a:p>
            <a:pPr marL="0" indent="0">
              <a:buNone/>
            </a:pPr>
            <a:r>
              <a:rPr lang="en-US"/>
              <a:t>Here are some effective strategies:</a:t>
            </a:r>
            <a:endParaRPr lang="en-US"/>
          </a:p>
          <a:p>
            <a:pPr marL="0" indent="0">
              <a:buNone/>
            </a:pPr>
            <a:endParaRPr lang="en-US"/>
          </a:p>
          <a:p>
            <a:r>
              <a:rPr lang="en-US" b="1"/>
              <a:t>Compress Multimedia Files</a:t>
            </a:r>
            <a:r>
              <a:rPr lang="en-US"/>
              <a:t>: Compressing large files (e.g., images, videos) can reduce storage requirements and cuts costs significantly.</a:t>
            </a:r>
            <a:endParaRPr lang="en-US"/>
          </a:p>
          <a:p>
            <a:endParaRPr lang="en-US"/>
          </a:p>
          <a:p>
            <a:r>
              <a:rPr lang="en-US" b="1"/>
              <a:t>Archive Older Messages</a:t>
            </a:r>
            <a:r>
              <a:rPr lang="en-US"/>
              <a:t>: Most users only access recent messages, which can be cached locally on their devices. Older messages can be moved to lower-cost, cold storage (e.g., Amazon Glacier), reducing expenses while still allowing access if needed.</a:t>
            </a:r>
            <a:endParaRPr lang="en-US"/>
          </a:p>
          <a:p>
            <a:endParaRPr lang="en-US"/>
          </a:p>
          <a:p>
            <a:r>
              <a:rPr lang="en-US" b="1"/>
              <a:t>Deduplicate Files</a:t>
            </a:r>
            <a:r>
              <a:rPr lang="en-US"/>
              <a:t>: Avoid storing multiple copies of identical files by implementing deduplication, which can save significant space when the same media is shared across multiple users or groups.</a:t>
            </a:r>
            <a:endParaRPr lang="en-US"/>
          </a:p>
          <a:p>
            <a:endParaRPr lang="en-US"/>
          </a:p>
          <a:p>
            <a:r>
              <a:rPr lang="en-US" b="1"/>
              <a:t>Efficient Metadata Storage</a:t>
            </a:r>
            <a:r>
              <a:rPr lang="en-US"/>
              <a:t>: Store metadata (e.g., file type, size, timestamps) separately from the media itself to reduce the load on primary storage and make searches faster and more efficient.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19397</Words>
  <Application>WPS Presentation</Application>
  <PresentationFormat>Widescreen</PresentationFormat>
  <Paragraphs>307</Paragraphs>
  <Slides>31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31</vt:i4>
      </vt:variant>
    </vt:vector>
  </HeadingPairs>
  <TitlesOfParts>
    <vt:vector size="41" baseType="lpstr">
      <vt:lpstr>Arial</vt:lpstr>
      <vt:lpstr>SimSun</vt:lpstr>
      <vt:lpstr>Wingdings</vt:lpstr>
      <vt:lpstr>Calibri Light</vt:lpstr>
      <vt:lpstr>Calibri</vt:lpstr>
      <vt:lpstr>Microsoft YaHei</vt:lpstr>
      <vt:lpstr>Arial Unicode MS</vt:lpstr>
      <vt:lpstr>Office Theme</vt:lpstr>
      <vt:lpstr>Paint.Picture</vt:lpstr>
      <vt:lpstr>Paint.Picture</vt:lpstr>
      <vt:lpstr>System Design Chat App (WhatsApp)</vt:lpstr>
      <vt:lpstr>Contents</vt:lpstr>
      <vt:lpstr>1. Requirement Gathering</vt:lpstr>
      <vt:lpstr>PowerPoint 演示文稿</vt:lpstr>
      <vt:lpstr>2. Capacity Estimation</vt:lpstr>
      <vt:lpstr>PowerPoint 演示文稿</vt:lpstr>
      <vt:lpstr>PowerPoint 演示文稿</vt:lpstr>
      <vt:lpstr>3. High Level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Database Design</vt:lpstr>
      <vt:lpstr>PowerPoint 演示文稿</vt:lpstr>
      <vt:lpstr>5. Design Deep Dive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Chat App (WhatsApp)</dc:title>
  <dc:creator/>
  <cp:lastModifiedBy>avish</cp:lastModifiedBy>
  <cp:revision>51</cp:revision>
  <dcterms:created xsi:type="dcterms:W3CDTF">2025-01-14T07:47:00Z</dcterms:created>
  <dcterms:modified xsi:type="dcterms:W3CDTF">2025-01-17T05:24:45Z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1033-11.2.0.9327</vt:lpwstr>
  </property>
</Properties>
</file>